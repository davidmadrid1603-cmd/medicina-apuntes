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3" Type="http://schemas.openxmlformats.org/officeDocument/2006/relationships/tableStyles" Target="tableStyles.xml"/><Relationship Id="rId52" Type="http://schemas.openxmlformats.org/officeDocument/2006/relationships/viewProps" Target="viewProps.xml"/><Relationship Id="rId51" Type="http://schemas.openxmlformats.org/officeDocument/2006/relationships/presProps" Target="presProps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24851" y="852932"/>
            <a:ext cx="849947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DBEFF9"/>
                </a:solidFill>
                <a:latin typeface="Verdana" panose="020B0604030504040204"/>
                <a:cs typeface="Verdan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Tahoma" panose="020B0604030504040204"/>
                <a:cs typeface="Tahoma" panose="020B060403050404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DBEFF9"/>
                </a:solidFill>
                <a:latin typeface="Verdana" panose="020B0604030504040204"/>
                <a:cs typeface="Verdan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Tahoma" panose="020B0604030504040204"/>
                <a:cs typeface="Tahoma" panose="020B060403050404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DBEFF9"/>
                </a:solidFill>
                <a:latin typeface="Verdana" panose="020B0604030504040204"/>
                <a:cs typeface="Verdan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DBEFF9"/>
                </a:solidFill>
                <a:latin typeface="Verdana" panose="020B0604030504040204"/>
                <a:cs typeface="Verdan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image" Target="../media/image3.png"/><Relationship Id="rId7" Type="http://schemas.openxmlformats.org/officeDocument/2006/relationships/image" Target="../media/image2.png"/><Relationship Id="rId6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7.png"/><Relationship Id="rId11" Type="http://schemas.openxmlformats.org/officeDocument/2006/relationships/image" Target="../media/image6.png"/><Relationship Id="rId10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2667000"/>
            <a:ext cx="4038600" cy="41910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2889504"/>
            <a:ext cx="1524000" cy="236829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607552" y="1676400"/>
            <a:ext cx="2822448" cy="281940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997952" y="0"/>
            <a:ext cx="1606296" cy="1143000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607552" y="6096000"/>
            <a:ext cx="996696" cy="76200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0396728" y="0"/>
            <a:ext cx="765048" cy="1207008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10437812" y="0"/>
            <a:ext cx="685800" cy="1143000"/>
          </a:xfrm>
          <a:custGeom>
            <a:avLst/>
            <a:gdLst/>
            <a:ahLst/>
            <a:cxnLst/>
            <a:rect l="l" t="t" r="r" b="b"/>
            <a:pathLst>
              <a:path w="685800" h="1143000">
                <a:moveTo>
                  <a:pt x="685800" y="0"/>
                </a:moveTo>
                <a:lnTo>
                  <a:pt x="0" y="0"/>
                </a:lnTo>
                <a:lnTo>
                  <a:pt x="0" y="1143000"/>
                </a:lnTo>
                <a:lnTo>
                  <a:pt x="685800" y="1143000"/>
                </a:lnTo>
                <a:lnTo>
                  <a:pt x="685800" y="0"/>
                </a:lnTo>
                <a:close/>
              </a:path>
            </a:pathLst>
          </a:custGeom>
          <a:solidFill>
            <a:srgbClr val="0F6F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4851" y="807211"/>
            <a:ext cx="9117965" cy="665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DBEFF9"/>
                </a:solidFill>
                <a:latin typeface="Verdana" panose="020B0604030504040204"/>
                <a:cs typeface="Verdan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1796" y="1958037"/>
            <a:ext cx="11388407" cy="42414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Tahoma" panose="020B0604030504040204"/>
                <a:cs typeface="Tahoma" panose="020B060403050404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6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7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8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9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0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1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2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9.jpe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" y="2771775"/>
            <a:ext cx="12192635" cy="1435735"/>
          </a:xfrm>
          <a:prstGeom prst="rect">
            <a:avLst/>
          </a:prstGeom>
          <a:ln w="12700">
            <a:solidFill>
              <a:srgbClr val="0F6FC6"/>
            </a:solidFill>
          </a:ln>
        </p:spPr>
        <p:txBody>
          <a:bodyPr vert="horz" wrap="square" lIns="0" tIns="14224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120"/>
              </a:spcBef>
            </a:pPr>
            <a:r>
              <a:rPr sz="7200" b="0" spc="-10" dirty="0">
                <a:latin typeface="Tahoma" panose="020B0604030504040204"/>
                <a:cs typeface="Tahoma" panose="020B0604030504040204"/>
              </a:rPr>
              <a:t>DIURÉTICOS</a:t>
            </a:r>
            <a:endParaRPr sz="72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47374" y="5535676"/>
            <a:ext cx="3498215" cy="885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40715">
              <a:lnSpc>
                <a:spcPct val="128000"/>
              </a:lnSpc>
              <a:spcBef>
                <a:spcPts val="100"/>
              </a:spcBef>
            </a:pPr>
            <a:r>
              <a:rPr sz="2200" spc="-13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PROF.</a:t>
            </a:r>
            <a:r>
              <a:rPr sz="2200" spc="-5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JOSÉ</a:t>
            </a:r>
            <a:r>
              <a:rPr sz="2200" spc="-114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BUTTÓ </a:t>
            </a:r>
            <a:r>
              <a:rPr sz="2200" spc="-10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CÁTEDRA</a:t>
            </a:r>
            <a:r>
              <a:rPr sz="2200" spc="-3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spc="-13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DE</a:t>
            </a:r>
            <a:r>
              <a:rPr sz="2200" spc="-3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FARMACOLOGÍA</a:t>
            </a:r>
            <a:endParaRPr sz="22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24851" y="3232404"/>
            <a:ext cx="56311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0" spc="14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Mecanismos</a:t>
            </a:r>
            <a:r>
              <a:rPr sz="2000" b="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b="0" spc="12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generales</a:t>
            </a:r>
            <a:r>
              <a:rPr sz="2000" b="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b="0" spc="2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de</a:t>
            </a:r>
            <a:r>
              <a:rPr sz="2000" b="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b="0" spc="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transporte</a:t>
            </a:r>
            <a:r>
              <a:rPr sz="2000" b="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b="0" spc="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epitelial</a:t>
            </a:r>
            <a:endParaRPr sz="200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153656" y="0"/>
            <a:ext cx="503529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566672" y="0"/>
            <a:ext cx="905865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297935" y="0"/>
            <a:ext cx="6065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813560" y="310895"/>
            <a:ext cx="8564880" cy="62362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889760" y="252984"/>
            <a:ext cx="8412480" cy="63520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407920" y="0"/>
            <a:ext cx="737615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407920" y="0"/>
            <a:ext cx="737615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097023" y="0"/>
            <a:ext cx="7997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0" spc="355" dirty="0">
                <a:latin typeface="Tahoma" panose="020B0604030504040204"/>
                <a:cs typeface="Tahoma" panose="020B0604030504040204"/>
              </a:rPr>
              <a:t>FARMACOS</a:t>
            </a:r>
            <a:r>
              <a:rPr sz="4200" b="0" spc="-150" dirty="0">
                <a:latin typeface="Tahoma" panose="020B0604030504040204"/>
                <a:cs typeface="Tahoma" panose="020B0604030504040204"/>
              </a:rPr>
              <a:t> </a:t>
            </a:r>
            <a:r>
              <a:rPr sz="4200" b="0" spc="-40" dirty="0">
                <a:latin typeface="Tahoma" panose="020B0604030504040204"/>
                <a:cs typeface="Tahoma" panose="020B0604030504040204"/>
              </a:rPr>
              <a:t>DIURÉTICOS</a:t>
            </a:r>
            <a:endParaRPr sz="42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82052" y="1958340"/>
            <a:ext cx="5824220" cy="89154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000" spc="10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Incrementan</a:t>
            </a:r>
            <a:r>
              <a:rPr sz="2000" spc="-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14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la</a:t>
            </a:r>
            <a:r>
              <a:rPr sz="2000" spc="-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2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tasa</a:t>
            </a:r>
            <a:r>
              <a:rPr sz="2000" spc="-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2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de</a:t>
            </a:r>
            <a:r>
              <a:rPr sz="2000" spc="-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flujo</a:t>
            </a:r>
            <a:r>
              <a:rPr sz="2000" spc="-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2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de</a:t>
            </a:r>
            <a:r>
              <a:rPr sz="2000" spc="-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orina.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000" spc="18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Reducen</a:t>
            </a:r>
            <a:r>
              <a:rPr sz="2000" spc="-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8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el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2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volumen</a:t>
            </a:r>
            <a:r>
              <a:rPr sz="2000" spc="-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2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de</a:t>
            </a:r>
            <a:r>
              <a:rPr sz="20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8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líquido</a:t>
            </a:r>
            <a:r>
              <a:rPr sz="20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extracelular.</a:t>
            </a:r>
            <a:endParaRPr sz="2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82052" y="2987547"/>
            <a:ext cx="20447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endParaRPr sz="16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37652" y="2976879"/>
            <a:ext cx="7809230" cy="304800"/>
          </a:xfrm>
          <a:prstGeom prst="rect">
            <a:avLst/>
          </a:prstGeom>
          <a:solidFill>
            <a:srgbClr val="D93025">
              <a:alpha val="39999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85"/>
              </a:lnSpc>
            </a:pPr>
            <a:r>
              <a:rPr sz="2000" spc="1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Pueden</a:t>
            </a:r>
            <a:r>
              <a:rPr sz="2000" spc="-4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14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modificar</a:t>
            </a:r>
            <a:r>
              <a:rPr sz="2000" spc="-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14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la</a:t>
            </a:r>
            <a:r>
              <a:rPr sz="2000" spc="-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8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conduccio</a:t>
            </a:r>
            <a:r>
              <a:rPr sz="2000" spc="18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́</a:t>
            </a:r>
            <a:r>
              <a:rPr sz="2000" spc="18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n</a:t>
            </a:r>
            <a:r>
              <a:rPr sz="2000" spc="-4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9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renal</a:t>
            </a:r>
            <a:r>
              <a:rPr sz="2000" spc="-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2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de</a:t>
            </a:r>
            <a:r>
              <a:rPr sz="2000" spc="-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otros</a:t>
            </a:r>
            <a:r>
              <a:rPr sz="2000" spc="-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3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cationes</a:t>
            </a:r>
            <a:r>
              <a:rPr sz="2000" spc="-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(K</a:t>
            </a:r>
            <a:r>
              <a:rPr sz="1950" spc="-82" baseline="26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+</a:t>
            </a:r>
            <a:r>
              <a:rPr sz="2000" spc="-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, </a:t>
            </a:r>
            <a:r>
              <a:rPr sz="2000" spc="-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H</a:t>
            </a:r>
            <a:r>
              <a:rPr sz="1950" spc="-37" baseline="26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+</a:t>
            </a:r>
            <a:endParaRPr sz="1950" baseline="26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37040" y="2936748"/>
            <a:ext cx="958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,</a:t>
            </a:r>
            <a:endParaRPr sz="2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37652" y="3281679"/>
            <a:ext cx="7030084" cy="281305"/>
          </a:xfrm>
          <a:prstGeom prst="rect">
            <a:avLst/>
          </a:prstGeom>
          <a:solidFill>
            <a:srgbClr val="D93025">
              <a:alpha val="39999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85"/>
              </a:lnSpc>
            </a:pPr>
            <a:r>
              <a:rPr sz="2000" spc="13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Ca</a:t>
            </a:r>
            <a:r>
              <a:rPr sz="1950" spc="202" baseline="26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2+</a:t>
            </a:r>
            <a:r>
              <a:rPr sz="1950" spc="247" baseline="26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y</a:t>
            </a:r>
            <a:r>
              <a:rPr sz="2000" spc="-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Mg</a:t>
            </a:r>
            <a:r>
              <a:rPr sz="1950" spc="75" baseline="26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2+</a:t>
            </a:r>
            <a:r>
              <a:rPr sz="2000" spc="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),</a:t>
            </a:r>
            <a:r>
              <a:rPr sz="2000" spc="-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14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aniones</a:t>
            </a:r>
            <a:r>
              <a:rPr sz="2000" spc="-8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(Cl</a:t>
            </a:r>
            <a:r>
              <a:rPr sz="1950" spc="89" baseline="26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–</a:t>
            </a:r>
            <a:r>
              <a:rPr sz="2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,</a:t>
            </a:r>
            <a:r>
              <a:rPr sz="2000" spc="-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3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HCO</a:t>
            </a:r>
            <a:r>
              <a:rPr sz="1950" spc="202" baseline="-17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3</a:t>
            </a:r>
            <a:r>
              <a:rPr sz="1950" spc="202" baseline="26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–</a:t>
            </a:r>
            <a:r>
              <a:rPr sz="1950" spc="232" baseline="26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y</a:t>
            </a:r>
            <a:r>
              <a:rPr sz="2000" spc="-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H</a:t>
            </a:r>
            <a:r>
              <a:rPr sz="1950" spc="97" baseline="-17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2</a:t>
            </a:r>
            <a:r>
              <a:rPr sz="2000" spc="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PO</a:t>
            </a:r>
            <a:r>
              <a:rPr sz="1950" spc="97" baseline="-17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4</a:t>
            </a:r>
            <a:r>
              <a:rPr sz="1950" spc="97" baseline="26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–</a:t>
            </a:r>
            <a:r>
              <a:rPr sz="2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)</a:t>
            </a:r>
            <a:r>
              <a:rPr sz="2000" spc="-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y</a:t>
            </a:r>
            <a:r>
              <a:rPr sz="2000" spc="-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a</a:t>
            </a:r>
            <a:r>
              <a:rPr sz="2000" spc="175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́</a:t>
            </a:r>
            <a:r>
              <a:rPr sz="2000" spc="1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cido</a:t>
            </a:r>
            <a:r>
              <a:rPr sz="20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u</a:t>
            </a:r>
            <a:r>
              <a:rPr sz="2000" spc="5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́</a:t>
            </a:r>
            <a:r>
              <a:rPr sz="2000" spc="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rico.</a:t>
            </a:r>
            <a:endParaRPr sz="2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82052" y="3686555"/>
            <a:ext cx="77400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000" spc="1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Pueden</a:t>
            </a:r>
            <a:r>
              <a:rPr sz="20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0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producir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3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efectos</a:t>
            </a:r>
            <a:r>
              <a:rPr sz="20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9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directos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en</a:t>
            </a:r>
            <a:r>
              <a:rPr sz="2000" spc="-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14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la</a:t>
            </a:r>
            <a:r>
              <a:rPr sz="20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hemodinamia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renal.</a:t>
            </a:r>
            <a:endParaRPr sz="200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285744" y="374904"/>
            <a:ext cx="5361432" cy="597103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148565" y="182879"/>
            <a:ext cx="5888990" cy="6492240"/>
            <a:chOff x="3148565" y="182879"/>
            <a:chExt cx="5888990" cy="649224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154680" y="182879"/>
              <a:ext cx="5882640" cy="649224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148558" y="257365"/>
              <a:ext cx="3663315" cy="473075"/>
            </a:xfrm>
            <a:custGeom>
              <a:avLst/>
              <a:gdLst/>
              <a:ahLst/>
              <a:cxnLst/>
              <a:rect l="l" t="t" r="r" b="b"/>
              <a:pathLst>
                <a:path w="3663315" h="473075">
                  <a:moveTo>
                    <a:pt x="3662819" y="26657"/>
                  </a:moveTo>
                  <a:lnTo>
                    <a:pt x="3615613" y="11417"/>
                  </a:lnTo>
                  <a:lnTo>
                    <a:pt x="3599421" y="10617"/>
                  </a:lnTo>
                  <a:lnTo>
                    <a:pt x="3597300" y="5308"/>
                  </a:lnTo>
                  <a:lnTo>
                    <a:pt x="3590252" y="0"/>
                  </a:lnTo>
                  <a:lnTo>
                    <a:pt x="3374682" y="0"/>
                  </a:lnTo>
                  <a:lnTo>
                    <a:pt x="3374682" y="312534"/>
                  </a:lnTo>
                  <a:lnTo>
                    <a:pt x="1415859" y="311962"/>
                  </a:lnTo>
                  <a:lnTo>
                    <a:pt x="3209125" y="311962"/>
                  </a:lnTo>
                  <a:lnTo>
                    <a:pt x="3374682" y="312534"/>
                  </a:lnTo>
                  <a:lnTo>
                    <a:pt x="3374682" y="0"/>
                  </a:lnTo>
                  <a:lnTo>
                    <a:pt x="3319030" y="0"/>
                  </a:lnTo>
                  <a:lnTo>
                    <a:pt x="3310572" y="1612"/>
                  </a:lnTo>
                  <a:lnTo>
                    <a:pt x="3304235" y="10160"/>
                  </a:lnTo>
                  <a:lnTo>
                    <a:pt x="3261957" y="10617"/>
                  </a:lnTo>
                  <a:lnTo>
                    <a:pt x="3252800" y="10845"/>
                  </a:lnTo>
                  <a:lnTo>
                    <a:pt x="3190811" y="20421"/>
                  </a:lnTo>
                  <a:lnTo>
                    <a:pt x="3153473" y="21348"/>
                  </a:lnTo>
                  <a:lnTo>
                    <a:pt x="3145015" y="20650"/>
                  </a:lnTo>
                  <a:lnTo>
                    <a:pt x="3131629" y="14655"/>
                  </a:lnTo>
                  <a:lnTo>
                    <a:pt x="3111906" y="11074"/>
                  </a:lnTo>
                  <a:lnTo>
                    <a:pt x="2208034" y="10617"/>
                  </a:lnTo>
                  <a:lnTo>
                    <a:pt x="2140407" y="20421"/>
                  </a:lnTo>
                  <a:lnTo>
                    <a:pt x="2122792" y="20472"/>
                  </a:lnTo>
                  <a:lnTo>
                    <a:pt x="2122792" y="235673"/>
                  </a:lnTo>
                  <a:lnTo>
                    <a:pt x="2058682" y="244906"/>
                  </a:lnTo>
                  <a:lnTo>
                    <a:pt x="2040369" y="245478"/>
                  </a:lnTo>
                  <a:lnTo>
                    <a:pt x="1955863" y="246176"/>
                  </a:lnTo>
                  <a:lnTo>
                    <a:pt x="1986826" y="241096"/>
                  </a:lnTo>
                  <a:lnTo>
                    <a:pt x="2007209" y="237972"/>
                  </a:lnTo>
                  <a:lnTo>
                    <a:pt x="2106765" y="237972"/>
                  </a:lnTo>
                  <a:lnTo>
                    <a:pt x="2122792" y="235673"/>
                  </a:lnTo>
                  <a:lnTo>
                    <a:pt x="2122792" y="20472"/>
                  </a:lnTo>
                  <a:lnTo>
                    <a:pt x="1941042" y="20904"/>
                  </a:lnTo>
                  <a:lnTo>
                    <a:pt x="1941042" y="246291"/>
                  </a:lnTo>
                  <a:lnTo>
                    <a:pt x="1871992" y="255752"/>
                  </a:lnTo>
                  <a:lnTo>
                    <a:pt x="1833245" y="258749"/>
                  </a:lnTo>
                  <a:lnTo>
                    <a:pt x="1738845" y="276644"/>
                  </a:lnTo>
                  <a:lnTo>
                    <a:pt x="1717713" y="277571"/>
                  </a:lnTo>
                  <a:lnTo>
                    <a:pt x="1682178" y="277571"/>
                  </a:lnTo>
                  <a:lnTo>
                    <a:pt x="1742376" y="261874"/>
                  </a:lnTo>
                  <a:lnTo>
                    <a:pt x="1798027" y="252526"/>
                  </a:lnTo>
                  <a:lnTo>
                    <a:pt x="1826907" y="248475"/>
                  </a:lnTo>
                  <a:lnTo>
                    <a:pt x="1925040" y="248475"/>
                  </a:lnTo>
                  <a:lnTo>
                    <a:pt x="1941042" y="246291"/>
                  </a:lnTo>
                  <a:lnTo>
                    <a:pt x="1941042" y="20904"/>
                  </a:lnTo>
                  <a:lnTo>
                    <a:pt x="1752942" y="21348"/>
                  </a:lnTo>
                  <a:lnTo>
                    <a:pt x="1737436" y="24930"/>
                  </a:lnTo>
                  <a:lnTo>
                    <a:pt x="1712074" y="31737"/>
                  </a:lnTo>
                  <a:lnTo>
                    <a:pt x="1351445" y="31864"/>
                  </a:lnTo>
                  <a:lnTo>
                    <a:pt x="1351445" y="311962"/>
                  </a:lnTo>
                  <a:lnTo>
                    <a:pt x="1290091" y="320268"/>
                  </a:lnTo>
                  <a:lnTo>
                    <a:pt x="1202029" y="319455"/>
                  </a:lnTo>
                  <a:lnTo>
                    <a:pt x="1188427" y="311962"/>
                  </a:lnTo>
                  <a:lnTo>
                    <a:pt x="1351445" y="311962"/>
                  </a:lnTo>
                  <a:lnTo>
                    <a:pt x="1351445" y="31864"/>
                  </a:lnTo>
                  <a:lnTo>
                    <a:pt x="1047737" y="31965"/>
                  </a:lnTo>
                  <a:lnTo>
                    <a:pt x="1039291" y="32423"/>
                  </a:lnTo>
                  <a:lnTo>
                    <a:pt x="994905" y="41783"/>
                  </a:lnTo>
                  <a:lnTo>
                    <a:pt x="948410" y="42697"/>
                  </a:lnTo>
                  <a:lnTo>
                    <a:pt x="937133" y="43967"/>
                  </a:lnTo>
                  <a:lnTo>
                    <a:pt x="924458" y="48006"/>
                  </a:lnTo>
                  <a:lnTo>
                    <a:pt x="896277" y="61976"/>
                  </a:lnTo>
                  <a:lnTo>
                    <a:pt x="837095" y="86321"/>
                  </a:lnTo>
                  <a:lnTo>
                    <a:pt x="801700" y="106730"/>
                  </a:lnTo>
                  <a:lnTo>
                    <a:pt x="262864" y="106730"/>
                  </a:lnTo>
                  <a:lnTo>
                    <a:pt x="239737" y="106883"/>
                  </a:lnTo>
                  <a:lnTo>
                    <a:pt x="109613" y="117221"/>
                  </a:lnTo>
                  <a:lnTo>
                    <a:pt x="0" y="117411"/>
                  </a:lnTo>
                  <a:lnTo>
                    <a:pt x="0" y="269811"/>
                  </a:lnTo>
                  <a:lnTo>
                    <a:pt x="84874" y="269811"/>
                  </a:lnTo>
                  <a:lnTo>
                    <a:pt x="84874" y="301828"/>
                  </a:lnTo>
                  <a:lnTo>
                    <a:pt x="316763" y="301828"/>
                  </a:lnTo>
                  <a:lnTo>
                    <a:pt x="576211" y="301828"/>
                  </a:lnTo>
                  <a:lnTo>
                    <a:pt x="727443" y="301828"/>
                  </a:lnTo>
                  <a:lnTo>
                    <a:pt x="736904" y="301828"/>
                  </a:lnTo>
                  <a:lnTo>
                    <a:pt x="736904" y="259143"/>
                  </a:lnTo>
                  <a:lnTo>
                    <a:pt x="777925" y="259143"/>
                  </a:lnTo>
                  <a:lnTo>
                    <a:pt x="777925" y="280454"/>
                  </a:lnTo>
                  <a:lnTo>
                    <a:pt x="818121" y="281482"/>
                  </a:lnTo>
                  <a:lnTo>
                    <a:pt x="824420" y="285991"/>
                  </a:lnTo>
                  <a:lnTo>
                    <a:pt x="829170" y="291185"/>
                  </a:lnTo>
                  <a:lnTo>
                    <a:pt x="830770" y="293027"/>
                  </a:lnTo>
                  <a:lnTo>
                    <a:pt x="832167" y="307924"/>
                  </a:lnTo>
                  <a:lnTo>
                    <a:pt x="841324" y="322580"/>
                  </a:lnTo>
                  <a:lnTo>
                    <a:pt x="849782" y="336423"/>
                  </a:lnTo>
                  <a:lnTo>
                    <a:pt x="859637" y="354545"/>
                  </a:lnTo>
                  <a:lnTo>
                    <a:pt x="876554" y="369087"/>
                  </a:lnTo>
                  <a:lnTo>
                    <a:pt x="886409" y="384327"/>
                  </a:lnTo>
                  <a:lnTo>
                    <a:pt x="892048" y="387781"/>
                  </a:lnTo>
                  <a:lnTo>
                    <a:pt x="970241" y="439610"/>
                  </a:lnTo>
                  <a:lnTo>
                    <a:pt x="982218" y="440639"/>
                  </a:lnTo>
                  <a:lnTo>
                    <a:pt x="987158" y="441223"/>
                  </a:lnTo>
                  <a:lnTo>
                    <a:pt x="992784" y="447217"/>
                  </a:lnTo>
                  <a:lnTo>
                    <a:pt x="1028712" y="460260"/>
                  </a:lnTo>
                  <a:lnTo>
                    <a:pt x="1049147" y="471805"/>
                  </a:lnTo>
                  <a:lnTo>
                    <a:pt x="1442961" y="472617"/>
                  </a:lnTo>
                  <a:lnTo>
                    <a:pt x="1583855" y="453453"/>
                  </a:lnTo>
                  <a:lnTo>
                    <a:pt x="1646555" y="450342"/>
                  </a:lnTo>
                  <a:lnTo>
                    <a:pt x="1697990" y="441452"/>
                  </a:lnTo>
                  <a:lnTo>
                    <a:pt x="1720532" y="440639"/>
                  </a:lnTo>
                  <a:lnTo>
                    <a:pt x="1727581" y="440639"/>
                  </a:lnTo>
                  <a:lnTo>
                    <a:pt x="1745183" y="437070"/>
                  </a:lnTo>
                  <a:lnTo>
                    <a:pt x="1783930" y="430022"/>
                  </a:lnTo>
                  <a:lnTo>
                    <a:pt x="1866861" y="430022"/>
                  </a:lnTo>
                  <a:lnTo>
                    <a:pt x="1891017" y="429107"/>
                  </a:lnTo>
                  <a:lnTo>
                    <a:pt x="1985416" y="411099"/>
                  </a:lnTo>
                  <a:lnTo>
                    <a:pt x="2024164" y="408216"/>
                  </a:lnTo>
                  <a:lnTo>
                    <a:pt x="2093912" y="398627"/>
                  </a:lnTo>
                  <a:lnTo>
                    <a:pt x="2192540" y="397941"/>
                  </a:lnTo>
                  <a:lnTo>
                    <a:pt x="2210854" y="397357"/>
                  </a:lnTo>
                  <a:lnTo>
                    <a:pt x="2274963" y="388124"/>
                  </a:lnTo>
                  <a:lnTo>
                    <a:pt x="2319350" y="386981"/>
                  </a:lnTo>
                  <a:lnTo>
                    <a:pt x="2381351" y="376707"/>
                  </a:lnTo>
                  <a:lnTo>
                    <a:pt x="2807563" y="376707"/>
                  </a:lnTo>
                  <a:lnTo>
                    <a:pt x="2868155" y="366776"/>
                  </a:lnTo>
                  <a:lnTo>
                    <a:pt x="2956915" y="365861"/>
                  </a:lnTo>
                  <a:lnTo>
                    <a:pt x="2964738" y="365861"/>
                  </a:lnTo>
                  <a:lnTo>
                    <a:pt x="3017507" y="356158"/>
                  </a:lnTo>
                  <a:lnTo>
                    <a:pt x="3269005" y="355231"/>
                  </a:lnTo>
                  <a:lnTo>
                    <a:pt x="3283102" y="354203"/>
                  </a:lnTo>
                  <a:lnTo>
                    <a:pt x="3315500" y="345541"/>
                  </a:lnTo>
                  <a:lnTo>
                    <a:pt x="3392297" y="344500"/>
                  </a:lnTo>
                  <a:lnTo>
                    <a:pt x="3400564" y="344500"/>
                  </a:lnTo>
                  <a:lnTo>
                    <a:pt x="3433153" y="340233"/>
                  </a:lnTo>
                  <a:lnTo>
                    <a:pt x="3468382" y="331114"/>
                  </a:lnTo>
                  <a:lnTo>
                    <a:pt x="3507130" y="323850"/>
                  </a:lnTo>
                  <a:lnTo>
                    <a:pt x="3447948" y="323151"/>
                  </a:lnTo>
                  <a:lnTo>
                    <a:pt x="3609276" y="323151"/>
                  </a:lnTo>
                  <a:lnTo>
                    <a:pt x="3609276" y="237972"/>
                  </a:lnTo>
                  <a:lnTo>
                    <a:pt x="3609276" y="184429"/>
                  </a:lnTo>
                  <a:lnTo>
                    <a:pt x="3662819" y="184429"/>
                  </a:lnTo>
                  <a:lnTo>
                    <a:pt x="3662819" y="170827"/>
                  </a:lnTo>
                  <a:lnTo>
                    <a:pt x="3662819" y="85521"/>
                  </a:lnTo>
                  <a:lnTo>
                    <a:pt x="3662819" y="26657"/>
                  </a:lnTo>
                  <a:close/>
                </a:path>
              </a:pathLst>
            </a:custGeom>
            <a:solidFill>
              <a:srgbClr val="D93025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429511" y="2051304"/>
            <a:ext cx="8296656" cy="404164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276088" y="451104"/>
            <a:ext cx="4776470" cy="6136005"/>
            <a:chOff x="5276088" y="451104"/>
            <a:chExt cx="4776470" cy="6136005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276088" y="451104"/>
              <a:ext cx="4776216" cy="613562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547751" y="3149180"/>
              <a:ext cx="1224915" cy="574040"/>
            </a:xfrm>
            <a:custGeom>
              <a:avLst/>
              <a:gdLst/>
              <a:ahLst/>
              <a:cxnLst/>
              <a:rect l="l" t="t" r="r" b="b"/>
              <a:pathLst>
                <a:path w="1224915" h="574039">
                  <a:moveTo>
                    <a:pt x="1224648" y="0"/>
                  </a:moveTo>
                  <a:lnTo>
                    <a:pt x="0" y="0"/>
                  </a:lnTo>
                  <a:lnTo>
                    <a:pt x="0" y="573735"/>
                  </a:lnTo>
                  <a:lnTo>
                    <a:pt x="1224648" y="573735"/>
                  </a:lnTo>
                  <a:lnTo>
                    <a:pt x="1224648" y="0"/>
                  </a:lnTo>
                  <a:close/>
                </a:path>
              </a:pathLst>
            </a:custGeom>
            <a:solidFill>
              <a:srgbClr val="FFFF00">
                <a:alpha val="1881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0" spc="355" dirty="0">
                <a:latin typeface="Tahoma" panose="020B0604030504040204"/>
                <a:cs typeface="Tahoma" panose="020B0604030504040204"/>
              </a:rPr>
              <a:t>FARMACOS</a:t>
            </a:r>
            <a:r>
              <a:rPr sz="4200" b="0" spc="-150" dirty="0">
                <a:latin typeface="Tahoma" panose="020B0604030504040204"/>
                <a:cs typeface="Tahoma" panose="020B0604030504040204"/>
              </a:rPr>
              <a:t> </a:t>
            </a:r>
            <a:r>
              <a:rPr sz="4200" b="0" spc="-40" dirty="0">
                <a:latin typeface="Tahoma" panose="020B0604030504040204"/>
                <a:cs typeface="Tahoma" panose="020B0604030504040204"/>
              </a:rPr>
              <a:t>DIURÉTICOS</a:t>
            </a:r>
            <a:endParaRPr sz="420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93787" y="2073198"/>
            <a:ext cx="8966200" cy="835025"/>
            <a:chOff x="1093787" y="2073198"/>
            <a:chExt cx="8966200" cy="835025"/>
          </a:xfrm>
        </p:grpSpPr>
        <p:sp>
          <p:nvSpPr>
            <p:cNvPr id="4" name="object 4"/>
            <p:cNvSpPr/>
            <p:nvPr/>
          </p:nvSpPr>
          <p:spPr>
            <a:xfrm>
              <a:off x="1103312" y="2082723"/>
              <a:ext cx="8947150" cy="815975"/>
            </a:xfrm>
            <a:custGeom>
              <a:avLst/>
              <a:gdLst/>
              <a:ahLst/>
              <a:cxnLst/>
              <a:rect l="l" t="t" r="r" b="b"/>
              <a:pathLst>
                <a:path w="8947150" h="815975">
                  <a:moveTo>
                    <a:pt x="8811234" y="0"/>
                  </a:moveTo>
                  <a:lnTo>
                    <a:pt x="135920" y="0"/>
                  </a:lnTo>
                  <a:lnTo>
                    <a:pt x="92958" y="6929"/>
                  </a:lnTo>
                  <a:lnTo>
                    <a:pt x="55647" y="26225"/>
                  </a:lnTo>
                  <a:lnTo>
                    <a:pt x="26224" y="55648"/>
                  </a:lnTo>
                  <a:lnTo>
                    <a:pt x="6929" y="92958"/>
                  </a:lnTo>
                  <a:lnTo>
                    <a:pt x="0" y="135915"/>
                  </a:lnTo>
                  <a:lnTo>
                    <a:pt x="0" y="679564"/>
                  </a:lnTo>
                  <a:lnTo>
                    <a:pt x="6929" y="722527"/>
                  </a:lnTo>
                  <a:lnTo>
                    <a:pt x="26224" y="759841"/>
                  </a:lnTo>
                  <a:lnTo>
                    <a:pt x="55647" y="789265"/>
                  </a:lnTo>
                  <a:lnTo>
                    <a:pt x="92958" y="808562"/>
                  </a:lnTo>
                  <a:lnTo>
                    <a:pt x="135920" y="815492"/>
                  </a:lnTo>
                  <a:lnTo>
                    <a:pt x="8811234" y="815492"/>
                  </a:lnTo>
                  <a:lnTo>
                    <a:pt x="8854196" y="808562"/>
                  </a:lnTo>
                  <a:lnTo>
                    <a:pt x="8891506" y="789265"/>
                  </a:lnTo>
                  <a:lnTo>
                    <a:pt x="8920927" y="759841"/>
                  </a:lnTo>
                  <a:lnTo>
                    <a:pt x="8940221" y="722527"/>
                  </a:lnTo>
                  <a:lnTo>
                    <a:pt x="8947150" y="679564"/>
                  </a:lnTo>
                  <a:lnTo>
                    <a:pt x="8947150" y="135915"/>
                  </a:lnTo>
                  <a:lnTo>
                    <a:pt x="8940221" y="92958"/>
                  </a:lnTo>
                  <a:lnTo>
                    <a:pt x="8920927" y="55648"/>
                  </a:lnTo>
                  <a:lnTo>
                    <a:pt x="8891506" y="26225"/>
                  </a:lnTo>
                  <a:lnTo>
                    <a:pt x="8854196" y="6929"/>
                  </a:lnTo>
                  <a:lnTo>
                    <a:pt x="8811234" y="0"/>
                  </a:lnTo>
                  <a:close/>
                </a:path>
              </a:pathLst>
            </a:custGeom>
            <a:solidFill>
              <a:srgbClr val="0F6F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103312" y="2082723"/>
              <a:ext cx="8947150" cy="815975"/>
            </a:xfrm>
            <a:custGeom>
              <a:avLst/>
              <a:gdLst/>
              <a:ahLst/>
              <a:cxnLst/>
              <a:rect l="l" t="t" r="r" b="b"/>
              <a:pathLst>
                <a:path w="8947150" h="815975">
                  <a:moveTo>
                    <a:pt x="0" y="135920"/>
                  </a:moveTo>
                  <a:lnTo>
                    <a:pt x="6929" y="92958"/>
                  </a:lnTo>
                  <a:lnTo>
                    <a:pt x="26224" y="55647"/>
                  </a:lnTo>
                  <a:lnTo>
                    <a:pt x="55647" y="26224"/>
                  </a:lnTo>
                  <a:lnTo>
                    <a:pt x="92958" y="6929"/>
                  </a:lnTo>
                  <a:lnTo>
                    <a:pt x="135920" y="0"/>
                  </a:lnTo>
                  <a:lnTo>
                    <a:pt x="8811235" y="0"/>
                  </a:lnTo>
                  <a:lnTo>
                    <a:pt x="8854197" y="6929"/>
                  </a:lnTo>
                  <a:lnTo>
                    <a:pt x="8891509" y="26224"/>
                  </a:lnTo>
                  <a:lnTo>
                    <a:pt x="8920931" y="55647"/>
                  </a:lnTo>
                  <a:lnTo>
                    <a:pt x="8940226" y="92958"/>
                  </a:lnTo>
                  <a:lnTo>
                    <a:pt x="8947155" y="135920"/>
                  </a:lnTo>
                  <a:lnTo>
                    <a:pt x="8947155" y="679570"/>
                  </a:lnTo>
                  <a:lnTo>
                    <a:pt x="8940226" y="722531"/>
                  </a:lnTo>
                  <a:lnTo>
                    <a:pt x="8920931" y="759843"/>
                  </a:lnTo>
                  <a:lnTo>
                    <a:pt x="8891509" y="789265"/>
                  </a:lnTo>
                  <a:lnTo>
                    <a:pt x="8854197" y="808561"/>
                  </a:lnTo>
                  <a:lnTo>
                    <a:pt x="8811235" y="815490"/>
                  </a:lnTo>
                  <a:lnTo>
                    <a:pt x="135920" y="815490"/>
                  </a:lnTo>
                  <a:lnTo>
                    <a:pt x="92958" y="808561"/>
                  </a:lnTo>
                  <a:lnTo>
                    <a:pt x="55647" y="789265"/>
                  </a:lnTo>
                  <a:lnTo>
                    <a:pt x="26224" y="759843"/>
                  </a:lnTo>
                  <a:lnTo>
                    <a:pt x="6929" y="722531"/>
                  </a:lnTo>
                  <a:lnTo>
                    <a:pt x="0" y="679570"/>
                  </a:lnTo>
                  <a:lnTo>
                    <a:pt x="0" y="13592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1093787" y="3451733"/>
            <a:ext cx="8966200" cy="835025"/>
            <a:chOff x="1093787" y="3451733"/>
            <a:chExt cx="8966200" cy="835025"/>
          </a:xfrm>
        </p:grpSpPr>
        <p:sp>
          <p:nvSpPr>
            <p:cNvPr id="7" name="object 7"/>
            <p:cNvSpPr/>
            <p:nvPr/>
          </p:nvSpPr>
          <p:spPr>
            <a:xfrm>
              <a:off x="1103312" y="3461258"/>
              <a:ext cx="8947150" cy="815975"/>
            </a:xfrm>
            <a:custGeom>
              <a:avLst/>
              <a:gdLst/>
              <a:ahLst/>
              <a:cxnLst/>
              <a:rect l="l" t="t" r="r" b="b"/>
              <a:pathLst>
                <a:path w="8947150" h="815975">
                  <a:moveTo>
                    <a:pt x="8811234" y="0"/>
                  </a:moveTo>
                  <a:lnTo>
                    <a:pt x="135920" y="0"/>
                  </a:lnTo>
                  <a:lnTo>
                    <a:pt x="92958" y="6928"/>
                  </a:lnTo>
                  <a:lnTo>
                    <a:pt x="55647" y="26222"/>
                  </a:lnTo>
                  <a:lnTo>
                    <a:pt x="26224" y="55643"/>
                  </a:lnTo>
                  <a:lnTo>
                    <a:pt x="6929" y="92953"/>
                  </a:lnTo>
                  <a:lnTo>
                    <a:pt x="0" y="135915"/>
                  </a:lnTo>
                  <a:lnTo>
                    <a:pt x="0" y="679564"/>
                  </a:lnTo>
                  <a:lnTo>
                    <a:pt x="6929" y="722527"/>
                  </a:lnTo>
                  <a:lnTo>
                    <a:pt x="26224" y="759841"/>
                  </a:lnTo>
                  <a:lnTo>
                    <a:pt x="55647" y="789265"/>
                  </a:lnTo>
                  <a:lnTo>
                    <a:pt x="92958" y="808562"/>
                  </a:lnTo>
                  <a:lnTo>
                    <a:pt x="135920" y="815492"/>
                  </a:lnTo>
                  <a:lnTo>
                    <a:pt x="8811234" y="815492"/>
                  </a:lnTo>
                  <a:lnTo>
                    <a:pt x="8854196" y="808562"/>
                  </a:lnTo>
                  <a:lnTo>
                    <a:pt x="8891506" y="789265"/>
                  </a:lnTo>
                  <a:lnTo>
                    <a:pt x="8920927" y="759841"/>
                  </a:lnTo>
                  <a:lnTo>
                    <a:pt x="8940221" y="722527"/>
                  </a:lnTo>
                  <a:lnTo>
                    <a:pt x="8947150" y="679564"/>
                  </a:lnTo>
                  <a:lnTo>
                    <a:pt x="8947150" y="135915"/>
                  </a:lnTo>
                  <a:lnTo>
                    <a:pt x="8940221" y="92953"/>
                  </a:lnTo>
                  <a:lnTo>
                    <a:pt x="8920927" y="55643"/>
                  </a:lnTo>
                  <a:lnTo>
                    <a:pt x="8891506" y="26222"/>
                  </a:lnTo>
                  <a:lnTo>
                    <a:pt x="8854196" y="6928"/>
                  </a:lnTo>
                  <a:lnTo>
                    <a:pt x="8811234" y="0"/>
                  </a:lnTo>
                  <a:close/>
                </a:path>
              </a:pathLst>
            </a:custGeom>
            <a:solidFill>
              <a:srgbClr val="0F6F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103312" y="3461258"/>
              <a:ext cx="8947150" cy="815975"/>
            </a:xfrm>
            <a:custGeom>
              <a:avLst/>
              <a:gdLst/>
              <a:ahLst/>
              <a:cxnLst/>
              <a:rect l="l" t="t" r="r" b="b"/>
              <a:pathLst>
                <a:path w="8947150" h="815975">
                  <a:moveTo>
                    <a:pt x="0" y="135920"/>
                  </a:moveTo>
                  <a:lnTo>
                    <a:pt x="6929" y="92958"/>
                  </a:lnTo>
                  <a:lnTo>
                    <a:pt x="26224" y="55647"/>
                  </a:lnTo>
                  <a:lnTo>
                    <a:pt x="55647" y="26224"/>
                  </a:lnTo>
                  <a:lnTo>
                    <a:pt x="92958" y="6929"/>
                  </a:lnTo>
                  <a:lnTo>
                    <a:pt x="135920" y="0"/>
                  </a:lnTo>
                  <a:lnTo>
                    <a:pt x="8811235" y="0"/>
                  </a:lnTo>
                  <a:lnTo>
                    <a:pt x="8854197" y="6929"/>
                  </a:lnTo>
                  <a:lnTo>
                    <a:pt x="8891509" y="26224"/>
                  </a:lnTo>
                  <a:lnTo>
                    <a:pt x="8920931" y="55647"/>
                  </a:lnTo>
                  <a:lnTo>
                    <a:pt x="8940226" y="92958"/>
                  </a:lnTo>
                  <a:lnTo>
                    <a:pt x="8947155" y="135920"/>
                  </a:lnTo>
                  <a:lnTo>
                    <a:pt x="8947155" y="679570"/>
                  </a:lnTo>
                  <a:lnTo>
                    <a:pt x="8940226" y="722531"/>
                  </a:lnTo>
                  <a:lnTo>
                    <a:pt x="8920931" y="759843"/>
                  </a:lnTo>
                  <a:lnTo>
                    <a:pt x="8891509" y="789265"/>
                  </a:lnTo>
                  <a:lnTo>
                    <a:pt x="8854197" y="808561"/>
                  </a:lnTo>
                  <a:lnTo>
                    <a:pt x="8811235" y="815490"/>
                  </a:lnTo>
                  <a:lnTo>
                    <a:pt x="135920" y="815490"/>
                  </a:lnTo>
                  <a:lnTo>
                    <a:pt x="92958" y="808561"/>
                  </a:lnTo>
                  <a:lnTo>
                    <a:pt x="55647" y="789265"/>
                  </a:lnTo>
                  <a:lnTo>
                    <a:pt x="26224" y="759843"/>
                  </a:lnTo>
                  <a:lnTo>
                    <a:pt x="6929" y="722531"/>
                  </a:lnTo>
                  <a:lnTo>
                    <a:pt x="0" y="679570"/>
                  </a:lnTo>
                  <a:lnTo>
                    <a:pt x="0" y="13592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1093787" y="4830254"/>
            <a:ext cx="8966200" cy="835025"/>
            <a:chOff x="1093787" y="4830254"/>
            <a:chExt cx="8966200" cy="835025"/>
          </a:xfrm>
        </p:grpSpPr>
        <p:sp>
          <p:nvSpPr>
            <p:cNvPr id="10" name="object 10"/>
            <p:cNvSpPr/>
            <p:nvPr/>
          </p:nvSpPr>
          <p:spPr>
            <a:xfrm>
              <a:off x="1103312" y="4839779"/>
              <a:ext cx="8947150" cy="815975"/>
            </a:xfrm>
            <a:custGeom>
              <a:avLst/>
              <a:gdLst/>
              <a:ahLst/>
              <a:cxnLst/>
              <a:rect l="l" t="t" r="r" b="b"/>
              <a:pathLst>
                <a:path w="8947150" h="815975">
                  <a:moveTo>
                    <a:pt x="8811234" y="0"/>
                  </a:moveTo>
                  <a:lnTo>
                    <a:pt x="135920" y="0"/>
                  </a:lnTo>
                  <a:lnTo>
                    <a:pt x="92958" y="6929"/>
                  </a:lnTo>
                  <a:lnTo>
                    <a:pt x="55647" y="26226"/>
                  </a:lnTo>
                  <a:lnTo>
                    <a:pt x="26224" y="55651"/>
                  </a:lnTo>
                  <a:lnTo>
                    <a:pt x="6929" y="92964"/>
                  </a:lnTo>
                  <a:lnTo>
                    <a:pt x="0" y="135928"/>
                  </a:lnTo>
                  <a:lnTo>
                    <a:pt x="0" y="679576"/>
                  </a:lnTo>
                  <a:lnTo>
                    <a:pt x="6929" y="722536"/>
                  </a:lnTo>
                  <a:lnTo>
                    <a:pt x="26224" y="759847"/>
                  </a:lnTo>
                  <a:lnTo>
                    <a:pt x="55647" y="789269"/>
                  </a:lnTo>
                  <a:lnTo>
                    <a:pt x="92958" y="808564"/>
                  </a:lnTo>
                  <a:lnTo>
                    <a:pt x="135920" y="815493"/>
                  </a:lnTo>
                  <a:lnTo>
                    <a:pt x="8811234" y="815493"/>
                  </a:lnTo>
                  <a:lnTo>
                    <a:pt x="8854196" y="808564"/>
                  </a:lnTo>
                  <a:lnTo>
                    <a:pt x="8891506" y="789269"/>
                  </a:lnTo>
                  <a:lnTo>
                    <a:pt x="8920927" y="759847"/>
                  </a:lnTo>
                  <a:lnTo>
                    <a:pt x="8940221" y="722536"/>
                  </a:lnTo>
                  <a:lnTo>
                    <a:pt x="8947150" y="679576"/>
                  </a:lnTo>
                  <a:lnTo>
                    <a:pt x="8947150" y="135928"/>
                  </a:lnTo>
                  <a:lnTo>
                    <a:pt x="8940221" y="92964"/>
                  </a:lnTo>
                  <a:lnTo>
                    <a:pt x="8920927" y="55651"/>
                  </a:lnTo>
                  <a:lnTo>
                    <a:pt x="8891506" y="26226"/>
                  </a:lnTo>
                  <a:lnTo>
                    <a:pt x="8854196" y="6929"/>
                  </a:lnTo>
                  <a:lnTo>
                    <a:pt x="8811234" y="0"/>
                  </a:lnTo>
                  <a:close/>
                </a:path>
              </a:pathLst>
            </a:custGeom>
            <a:solidFill>
              <a:srgbClr val="0F6F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103312" y="4839779"/>
              <a:ext cx="8947150" cy="815975"/>
            </a:xfrm>
            <a:custGeom>
              <a:avLst/>
              <a:gdLst/>
              <a:ahLst/>
              <a:cxnLst/>
              <a:rect l="l" t="t" r="r" b="b"/>
              <a:pathLst>
                <a:path w="8947150" h="815975">
                  <a:moveTo>
                    <a:pt x="0" y="135920"/>
                  </a:moveTo>
                  <a:lnTo>
                    <a:pt x="6929" y="92958"/>
                  </a:lnTo>
                  <a:lnTo>
                    <a:pt x="26224" y="55647"/>
                  </a:lnTo>
                  <a:lnTo>
                    <a:pt x="55647" y="26224"/>
                  </a:lnTo>
                  <a:lnTo>
                    <a:pt x="92958" y="6929"/>
                  </a:lnTo>
                  <a:lnTo>
                    <a:pt x="135920" y="0"/>
                  </a:lnTo>
                  <a:lnTo>
                    <a:pt x="8811235" y="0"/>
                  </a:lnTo>
                  <a:lnTo>
                    <a:pt x="8854197" y="6929"/>
                  </a:lnTo>
                  <a:lnTo>
                    <a:pt x="8891509" y="26224"/>
                  </a:lnTo>
                  <a:lnTo>
                    <a:pt x="8920931" y="55647"/>
                  </a:lnTo>
                  <a:lnTo>
                    <a:pt x="8940226" y="92958"/>
                  </a:lnTo>
                  <a:lnTo>
                    <a:pt x="8947155" y="135920"/>
                  </a:lnTo>
                  <a:lnTo>
                    <a:pt x="8947155" y="679570"/>
                  </a:lnTo>
                  <a:lnTo>
                    <a:pt x="8940226" y="722531"/>
                  </a:lnTo>
                  <a:lnTo>
                    <a:pt x="8920931" y="759843"/>
                  </a:lnTo>
                  <a:lnTo>
                    <a:pt x="8891509" y="789265"/>
                  </a:lnTo>
                  <a:lnTo>
                    <a:pt x="8854197" y="808561"/>
                  </a:lnTo>
                  <a:lnTo>
                    <a:pt x="8811235" y="815490"/>
                  </a:lnTo>
                  <a:lnTo>
                    <a:pt x="135920" y="815490"/>
                  </a:lnTo>
                  <a:lnTo>
                    <a:pt x="92958" y="808561"/>
                  </a:lnTo>
                  <a:lnTo>
                    <a:pt x="55647" y="789265"/>
                  </a:lnTo>
                  <a:lnTo>
                    <a:pt x="26224" y="759843"/>
                  </a:lnTo>
                  <a:lnTo>
                    <a:pt x="6929" y="722531"/>
                  </a:lnTo>
                  <a:lnTo>
                    <a:pt x="0" y="679570"/>
                  </a:lnTo>
                  <a:lnTo>
                    <a:pt x="0" y="13592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1259966" y="1958037"/>
            <a:ext cx="6431280" cy="4128135"/>
          </a:xfrm>
          <a:prstGeom prst="rect">
            <a:avLst/>
          </a:prstGeom>
        </p:spPr>
        <p:txBody>
          <a:bodyPr vert="horz" wrap="square" lIns="0" tIns="2432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15"/>
              </a:spcBef>
            </a:pPr>
            <a:r>
              <a:rPr sz="3400" spc="23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Eficacia</a:t>
            </a:r>
            <a:r>
              <a:rPr sz="3400" spc="-9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3400" spc="2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baja</a:t>
            </a:r>
            <a:endParaRPr sz="3400">
              <a:latin typeface="Tahoma" panose="020B0604030504040204"/>
              <a:cs typeface="Tahoma" panose="020B0604030504040204"/>
            </a:endParaRPr>
          </a:p>
          <a:p>
            <a:pPr marL="354965" indent="-227965">
              <a:lnSpc>
                <a:spcPct val="100000"/>
              </a:lnSpc>
              <a:spcBef>
                <a:spcPts val="1445"/>
              </a:spcBef>
              <a:buChar char="•"/>
              <a:tabLst>
                <a:tab pos="354965" algn="l"/>
              </a:tabLst>
            </a:pPr>
            <a:r>
              <a:rPr sz="2700" spc="-33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&lt;</a:t>
            </a:r>
            <a:r>
              <a:rPr sz="2700" spc="-9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700" spc="-2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5%</a:t>
            </a:r>
            <a:r>
              <a:rPr sz="2700" spc="-9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700" spc="33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de</a:t>
            </a:r>
            <a:r>
              <a:rPr sz="2700" spc="-9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700" spc="1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la</a:t>
            </a:r>
            <a:r>
              <a:rPr sz="2700" spc="-9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700" spc="29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carga</a:t>
            </a:r>
            <a:r>
              <a:rPr sz="2700" spc="-9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700" spc="10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filtrada</a:t>
            </a:r>
            <a:r>
              <a:rPr sz="2700" spc="-9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700" spc="33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de</a:t>
            </a:r>
            <a:r>
              <a:rPr sz="2700" spc="-9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700" spc="1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sodio</a:t>
            </a:r>
            <a:endParaRPr sz="27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2085"/>
              </a:spcBef>
            </a:pPr>
            <a:r>
              <a:rPr sz="3400" spc="23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Eficacia</a:t>
            </a:r>
            <a:r>
              <a:rPr sz="3400" spc="-9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3400" spc="3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media</a:t>
            </a:r>
            <a:endParaRPr sz="3400">
              <a:latin typeface="Tahoma" panose="020B0604030504040204"/>
              <a:cs typeface="Tahoma" panose="020B0604030504040204"/>
            </a:endParaRPr>
          </a:p>
          <a:p>
            <a:pPr marL="354965" indent="-227965">
              <a:lnSpc>
                <a:spcPct val="100000"/>
              </a:lnSpc>
              <a:spcBef>
                <a:spcPts val="1445"/>
              </a:spcBef>
              <a:buChar char="•"/>
              <a:tabLst>
                <a:tab pos="354965" algn="l"/>
              </a:tabLst>
            </a:pPr>
            <a:r>
              <a:rPr sz="27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5</a:t>
            </a:r>
            <a:r>
              <a:rPr sz="2700" spc="-9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700" spc="-14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–</a:t>
            </a:r>
            <a:r>
              <a:rPr sz="2700" spc="-9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700" spc="-18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10%</a:t>
            </a:r>
            <a:r>
              <a:rPr sz="2700" spc="-8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700" spc="33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de</a:t>
            </a:r>
            <a:r>
              <a:rPr sz="2700" spc="-9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700" spc="1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la</a:t>
            </a:r>
            <a:r>
              <a:rPr sz="2700" spc="-9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700" spc="29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carga</a:t>
            </a:r>
            <a:r>
              <a:rPr sz="2700" spc="-8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700" spc="10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filtrada</a:t>
            </a:r>
            <a:r>
              <a:rPr sz="2700" spc="-9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700" spc="33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de</a:t>
            </a:r>
            <a:r>
              <a:rPr sz="2700" spc="-8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700" spc="1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sodio</a:t>
            </a:r>
            <a:endParaRPr sz="27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2085"/>
              </a:spcBef>
            </a:pPr>
            <a:r>
              <a:rPr sz="3400" spc="23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Eficacia</a:t>
            </a:r>
            <a:r>
              <a:rPr sz="3400" spc="-9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3400" spc="2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alta</a:t>
            </a:r>
            <a:endParaRPr sz="3400">
              <a:latin typeface="Tahoma" panose="020B0604030504040204"/>
              <a:cs typeface="Tahoma" panose="020B0604030504040204"/>
            </a:endParaRPr>
          </a:p>
          <a:p>
            <a:pPr marL="354965" indent="-227965">
              <a:lnSpc>
                <a:spcPct val="100000"/>
              </a:lnSpc>
              <a:spcBef>
                <a:spcPts val="1465"/>
              </a:spcBef>
              <a:buChar char="•"/>
              <a:tabLst>
                <a:tab pos="354965" algn="l"/>
              </a:tabLst>
            </a:pPr>
            <a:r>
              <a:rPr sz="2700" spc="-2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&gt;10%</a:t>
            </a:r>
            <a:r>
              <a:rPr sz="2700" spc="-9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700" spc="33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de</a:t>
            </a:r>
            <a:r>
              <a:rPr sz="2700" spc="-8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700" spc="1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la</a:t>
            </a:r>
            <a:r>
              <a:rPr sz="2700" spc="-9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700" spc="29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carga</a:t>
            </a:r>
            <a:r>
              <a:rPr sz="2700" spc="-8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700" spc="10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filtrada</a:t>
            </a:r>
            <a:r>
              <a:rPr sz="2700" spc="-8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700" spc="33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de</a:t>
            </a:r>
            <a:r>
              <a:rPr sz="2700" spc="-9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700" spc="1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sodio</a:t>
            </a:r>
            <a:endParaRPr sz="270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95" dirty="0"/>
              <a:t>Inhibidores</a:t>
            </a:r>
            <a:r>
              <a:rPr sz="3600" spc="-195" dirty="0"/>
              <a:t> </a:t>
            </a:r>
            <a:r>
              <a:rPr sz="3600" spc="-135" dirty="0"/>
              <a:t>de</a:t>
            </a:r>
            <a:r>
              <a:rPr sz="3600" spc="-204" dirty="0"/>
              <a:t> la </a:t>
            </a:r>
            <a:r>
              <a:rPr sz="3600" spc="-295" dirty="0"/>
              <a:t>anhidrasa</a:t>
            </a:r>
            <a:r>
              <a:rPr sz="3600" spc="-204" dirty="0"/>
              <a:t> </a:t>
            </a:r>
            <a:r>
              <a:rPr sz="3600" spc="-130" dirty="0"/>
              <a:t>carbonica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182052" y="2086356"/>
            <a:ext cx="28225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Mecanismo</a:t>
            </a:r>
            <a:r>
              <a:rPr sz="20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2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de</a:t>
            </a:r>
            <a:r>
              <a:rPr sz="2000" spc="-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2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acción</a:t>
            </a:r>
            <a:endParaRPr sz="200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574791" y="2627376"/>
            <a:ext cx="4194048" cy="382219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3127" y="2624327"/>
            <a:ext cx="4194048" cy="38252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4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95" dirty="0"/>
              <a:t>Inhibidores</a:t>
            </a:r>
            <a:r>
              <a:rPr sz="3600" spc="-195" dirty="0"/>
              <a:t> </a:t>
            </a:r>
            <a:r>
              <a:rPr sz="3600" spc="-135" dirty="0"/>
              <a:t>de</a:t>
            </a:r>
            <a:r>
              <a:rPr sz="3600" spc="-204" dirty="0"/>
              <a:t> la </a:t>
            </a:r>
            <a:r>
              <a:rPr sz="3600" spc="-295" dirty="0"/>
              <a:t>anhidrasa</a:t>
            </a:r>
            <a:r>
              <a:rPr sz="3600" spc="-204" dirty="0"/>
              <a:t> </a:t>
            </a:r>
            <a:r>
              <a:rPr sz="3600" spc="-130" dirty="0"/>
              <a:t>carbonica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118552" y="1958340"/>
            <a:ext cx="6168390" cy="344932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105"/>
              </a:spcBef>
            </a:pPr>
            <a:r>
              <a:rPr sz="2000" i="1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Acetazolamida,</a:t>
            </a:r>
            <a:r>
              <a:rPr sz="2000" i="1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i="1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diclorfenamida</a:t>
            </a:r>
            <a:r>
              <a:rPr sz="2000" i="1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i="1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y</a:t>
            </a:r>
            <a:r>
              <a:rPr sz="2000" i="1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i="1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metazolamida</a:t>
            </a:r>
            <a:endParaRPr sz="2000">
              <a:latin typeface="Verdana" panose="020B0604030504040204"/>
              <a:cs typeface="Verdana" panose="020B0604030504040204"/>
            </a:endParaRPr>
          </a:p>
          <a:p>
            <a:pPr marL="76200">
              <a:lnSpc>
                <a:spcPct val="100000"/>
              </a:lnSpc>
              <a:spcBef>
                <a:spcPts val="1010"/>
              </a:spcBef>
              <a:tabLst>
                <a:tab pos="418465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000" spc="8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Efectos</a:t>
            </a:r>
            <a:r>
              <a:rPr sz="20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en</a:t>
            </a:r>
            <a:r>
              <a:rPr sz="2000" spc="-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14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la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4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excreción</a:t>
            </a:r>
            <a:r>
              <a:rPr sz="2000" spc="-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4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urinaria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532765">
              <a:lnSpc>
                <a:spcPct val="100000"/>
              </a:lnSpc>
              <a:spcBef>
                <a:spcPts val="985"/>
              </a:spcBef>
            </a:pPr>
            <a:r>
              <a:rPr sz="1600" spc="12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spc="34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↑</a:t>
            </a:r>
            <a:r>
              <a:rPr sz="20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4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HCO</a:t>
            </a:r>
            <a:r>
              <a:rPr sz="1950" spc="209" baseline="-17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3</a:t>
            </a:r>
            <a:r>
              <a:rPr sz="1950" spc="209" baseline="26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–</a:t>
            </a:r>
            <a:r>
              <a:rPr sz="1950" spc="89" baseline="26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 </a:t>
            </a:r>
            <a:r>
              <a:rPr sz="2000" spc="-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35%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532765">
              <a:lnSpc>
                <a:spcPct val="100000"/>
              </a:lnSpc>
              <a:spcBef>
                <a:spcPts val="1005"/>
              </a:spcBef>
              <a:tabLst>
                <a:tab pos="1618615" algn="l"/>
              </a:tabLst>
            </a:pPr>
            <a:r>
              <a:rPr sz="1600" spc="12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spc="34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↑</a:t>
            </a:r>
            <a:r>
              <a:rPr sz="2000" spc="-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Na</a:t>
            </a:r>
            <a:r>
              <a:rPr sz="1950" spc="89" baseline="26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+</a:t>
            </a:r>
            <a:r>
              <a:rPr sz="1950" baseline="26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	</a:t>
            </a:r>
            <a:r>
              <a:rPr sz="2000" spc="-254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&lt;</a:t>
            </a:r>
            <a:r>
              <a:rPr sz="20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5%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532765">
              <a:lnSpc>
                <a:spcPct val="100000"/>
              </a:lnSpc>
              <a:spcBef>
                <a:spcPts val="1010"/>
              </a:spcBef>
            </a:pPr>
            <a:r>
              <a:rPr sz="1600" spc="12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spc="26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↑</a:t>
            </a:r>
            <a:r>
              <a:rPr sz="2000" spc="-12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K</a:t>
            </a:r>
            <a:r>
              <a:rPr sz="1950" baseline="26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+</a:t>
            </a:r>
            <a:r>
              <a:rPr sz="1950" spc="179" baseline="26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70%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  <a:spcBef>
                <a:spcPts val="1975"/>
              </a:spcBef>
            </a:pPr>
            <a:endParaRPr sz="2000">
              <a:latin typeface="Tahoma" panose="020B0604030504040204"/>
              <a:cs typeface="Tahoma" panose="020B0604030504040204"/>
            </a:endParaRPr>
          </a:p>
          <a:p>
            <a:pPr marL="76200">
              <a:lnSpc>
                <a:spcPct val="100000"/>
              </a:lnSpc>
              <a:tabLst>
                <a:tab pos="418465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000" spc="8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Efectos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en</a:t>
            </a:r>
            <a:r>
              <a:rPr sz="2000" spc="-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14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la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hemodinamia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renal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532765">
              <a:lnSpc>
                <a:spcPct val="100000"/>
              </a:lnSpc>
              <a:spcBef>
                <a:spcPts val="995"/>
              </a:spcBef>
            </a:pPr>
            <a:r>
              <a:rPr sz="1400" spc="11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400" spc="6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  </a:t>
            </a:r>
            <a:r>
              <a:rPr sz="18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↓</a:t>
            </a:r>
            <a:r>
              <a:rPr sz="18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FSR</a:t>
            </a:r>
            <a:r>
              <a:rPr sz="18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y</a:t>
            </a:r>
            <a:r>
              <a:rPr sz="18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TFG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37551" y="979932"/>
            <a:ext cx="8474075" cy="349250"/>
          </a:xfrm>
          <a:custGeom>
            <a:avLst/>
            <a:gdLst/>
            <a:ahLst/>
            <a:cxnLst/>
            <a:rect l="l" t="t" r="r" b="b"/>
            <a:pathLst>
              <a:path w="8474075" h="349250">
                <a:moveTo>
                  <a:pt x="8473652" y="0"/>
                </a:moveTo>
                <a:lnTo>
                  <a:pt x="0" y="0"/>
                </a:lnTo>
                <a:lnTo>
                  <a:pt x="0" y="348843"/>
                </a:lnTo>
                <a:lnTo>
                  <a:pt x="8473652" y="348843"/>
                </a:lnTo>
                <a:lnTo>
                  <a:pt x="8473652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91450" y="2162555"/>
            <a:ext cx="6089015" cy="240029"/>
          </a:xfrm>
          <a:custGeom>
            <a:avLst/>
            <a:gdLst/>
            <a:ahLst/>
            <a:cxnLst/>
            <a:rect l="l" t="t" r="r" b="b"/>
            <a:pathLst>
              <a:path w="6089015" h="240030">
                <a:moveTo>
                  <a:pt x="6088784" y="0"/>
                </a:moveTo>
                <a:lnTo>
                  <a:pt x="0" y="0"/>
                </a:lnTo>
                <a:lnTo>
                  <a:pt x="0" y="239522"/>
                </a:lnTo>
                <a:lnTo>
                  <a:pt x="6088784" y="239522"/>
                </a:lnTo>
                <a:lnTo>
                  <a:pt x="6088784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537652" y="2587751"/>
            <a:ext cx="3858260" cy="201930"/>
          </a:xfrm>
          <a:custGeom>
            <a:avLst/>
            <a:gdLst/>
            <a:ahLst/>
            <a:cxnLst/>
            <a:rect l="l" t="t" r="r" b="b"/>
            <a:pathLst>
              <a:path w="3858260" h="201930">
                <a:moveTo>
                  <a:pt x="3858054" y="0"/>
                </a:moveTo>
                <a:lnTo>
                  <a:pt x="0" y="0"/>
                </a:lnTo>
                <a:lnTo>
                  <a:pt x="0" y="201422"/>
                </a:lnTo>
                <a:lnTo>
                  <a:pt x="3858054" y="201422"/>
                </a:lnTo>
                <a:lnTo>
                  <a:pt x="3858054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651952" y="3025140"/>
            <a:ext cx="1927860" cy="245745"/>
          </a:xfrm>
          <a:custGeom>
            <a:avLst/>
            <a:gdLst/>
            <a:ahLst/>
            <a:cxnLst/>
            <a:rect l="l" t="t" r="r" b="b"/>
            <a:pathLst>
              <a:path w="1927860" h="245745">
                <a:moveTo>
                  <a:pt x="1927758" y="0"/>
                </a:moveTo>
                <a:lnTo>
                  <a:pt x="0" y="0"/>
                </a:lnTo>
                <a:lnTo>
                  <a:pt x="0" y="245122"/>
                </a:lnTo>
                <a:lnTo>
                  <a:pt x="1927758" y="245122"/>
                </a:lnTo>
                <a:lnTo>
                  <a:pt x="1927758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651952" y="3457955"/>
            <a:ext cx="1648460" cy="243840"/>
          </a:xfrm>
          <a:custGeom>
            <a:avLst/>
            <a:gdLst/>
            <a:ahLst/>
            <a:cxnLst/>
            <a:rect l="l" t="t" r="r" b="b"/>
            <a:pathLst>
              <a:path w="1648460" h="243839">
                <a:moveTo>
                  <a:pt x="1647926" y="0"/>
                </a:moveTo>
                <a:lnTo>
                  <a:pt x="0" y="0"/>
                </a:lnTo>
                <a:lnTo>
                  <a:pt x="0" y="243332"/>
                </a:lnTo>
                <a:lnTo>
                  <a:pt x="1647926" y="243332"/>
                </a:lnTo>
                <a:lnTo>
                  <a:pt x="1647926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651952" y="3890771"/>
            <a:ext cx="1286510" cy="243840"/>
          </a:xfrm>
          <a:custGeom>
            <a:avLst/>
            <a:gdLst/>
            <a:ahLst/>
            <a:cxnLst/>
            <a:rect l="l" t="t" r="r" b="b"/>
            <a:pathLst>
              <a:path w="1286510" h="243839">
                <a:moveTo>
                  <a:pt x="1285900" y="0"/>
                </a:moveTo>
                <a:lnTo>
                  <a:pt x="0" y="0"/>
                </a:lnTo>
                <a:lnTo>
                  <a:pt x="0" y="243331"/>
                </a:lnTo>
                <a:lnTo>
                  <a:pt x="1285900" y="243331"/>
                </a:lnTo>
                <a:lnTo>
                  <a:pt x="1285900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651952" y="5180990"/>
            <a:ext cx="1483995" cy="215900"/>
          </a:xfrm>
          <a:custGeom>
            <a:avLst/>
            <a:gdLst/>
            <a:ahLst/>
            <a:cxnLst/>
            <a:rect l="l" t="t" r="r" b="b"/>
            <a:pathLst>
              <a:path w="1483995" h="215900">
                <a:moveTo>
                  <a:pt x="1483431" y="0"/>
                </a:moveTo>
                <a:lnTo>
                  <a:pt x="0" y="0"/>
                </a:lnTo>
                <a:lnTo>
                  <a:pt x="0" y="215798"/>
                </a:lnTo>
                <a:lnTo>
                  <a:pt x="1483431" y="215798"/>
                </a:lnTo>
                <a:lnTo>
                  <a:pt x="1483431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537639" y="4753355"/>
            <a:ext cx="4081779" cy="194310"/>
          </a:xfrm>
          <a:custGeom>
            <a:avLst/>
            <a:gdLst/>
            <a:ahLst/>
            <a:cxnLst/>
            <a:rect l="l" t="t" r="r" b="b"/>
            <a:pathLst>
              <a:path w="4081779" h="194310">
                <a:moveTo>
                  <a:pt x="4081475" y="0"/>
                </a:moveTo>
                <a:lnTo>
                  <a:pt x="216281" y="0"/>
                </a:lnTo>
                <a:lnTo>
                  <a:pt x="215900" y="0"/>
                </a:lnTo>
                <a:lnTo>
                  <a:pt x="0" y="0"/>
                </a:lnTo>
                <a:lnTo>
                  <a:pt x="0" y="190500"/>
                </a:lnTo>
                <a:lnTo>
                  <a:pt x="215900" y="190500"/>
                </a:lnTo>
                <a:lnTo>
                  <a:pt x="215900" y="193802"/>
                </a:lnTo>
                <a:lnTo>
                  <a:pt x="4081475" y="193802"/>
                </a:lnTo>
                <a:lnTo>
                  <a:pt x="4081475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4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95" dirty="0"/>
              <a:t>Inhibidores</a:t>
            </a:r>
            <a:r>
              <a:rPr sz="3600" spc="-195" dirty="0"/>
              <a:t> </a:t>
            </a:r>
            <a:r>
              <a:rPr sz="3600" spc="-135" dirty="0"/>
              <a:t>de</a:t>
            </a:r>
            <a:r>
              <a:rPr sz="3600" spc="-204" dirty="0"/>
              <a:t> la </a:t>
            </a:r>
            <a:r>
              <a:rPr sz="3600" spc="-295" dirty="0"/>
              <a:t>anhidrasa</a:t>
            </a:r>
            <a:r>
              <a:rPr sz="3600" spc="-204" dirty="0"/>
              <a:t> </a:t>
            </a:r>
            <a:r>
              <a:rPr sz="3600" spc="-130" dirty="0"/>
              <a:t>carbonica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182052" y="2086356"/>
            <a:ext cx="26517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Reacciones</a:t>
            </a:r>
            <a:r>
              <a:rPr sz="2000" spc="-3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9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adversas</a:t>
            </a:r>
            <a:endParaRPr sz="2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924392" y="3141573"/>
            <a:ext cx="2476500" cy="547370"/>
          </a:xfrm>
          <a:custGeom>
            <a:avLst/>
            <a:gdLst/>
            <a:ahLst/>
            <a:cxnLst/>
            <a:rect l="l" t="t" r="r" b="b"/>
            <a:pathLst>
              <a:path w="2476500" h="547370">
                <a:moveTo>
                  <a:pt x="0" y="0"/>
                </a:moveTo>
                <a:lnTo>
                  <a:pt x="2476501" y="0"/>
                </a:lnTo>
                <a:lnTo>
                  <a:pt x="2476501" y="547200"/>
                </a:lnTo>
                <a:lnTo>
                  <a:pt x="0" y="547200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F6F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914867" y="3132048"/>
            <a:ext cx="2495550" cy="566420"/>
          </a:xfrm>
          <a:prstGeom prst="rect">
            <a:avLst/>
          </a:prstGeom>
          <a:solidFill>
            <a:srgbClr val="0F6FC6"/>
          </a:solidFill>
        </p:spPr>
        <p:txBody>
          <a:bodyPr vert="horz" wrap="square" lIns="0" tIns="125730" rIns="0" bIns="0" rtlCol="0">
            <a:spAutoFit/>
          </a:bodyPr>
          <a:lstStyle/>
          <a:p>
            <a:pPr marL="674370">
              <a:lnSpc>
                <a:spcPct val="100000"/>
              </a:lnSpc>
              <a:spcBef>
                <a:spcPts val="990"/>
              </a:spcBef>
            </a:pPr>
            <a:r>
              <a:rPr sz="1900" spc="-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Estructura</a:t>
            </a:r>
            <a:endParaRPr sz="19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14867" y="3698299"/>
            <a:ext cx="2495550" cy="2294890"/>
          </a:xfrm>
          <a:prstGeom prst="rect">
            <a:avLst/>
          </a:prstGeom>
          <a:solidFill>
            <a:srgbClr val="CCD5EA">
              <a:alpha val="90199"/>
            </a:srgbClr>
          </a:solidFill>
          <a:ln w="3175">
            <a:solidFill>
              <a:srgbClr val="CCD5EA"/>
            </a:solidFill>
          </a:ln>
        </p:spPr>
        <p:txBody>
          <a:bodyPr vert="horz" wrap="square" lIns="0" tIns="92075" rIns="0" bIns="0" rtlCol="0">
            <a:spAutoFit/>
          </a:bodyPr>
          <a:lstStyle/>
          <a:p>
            <a:pPr marL="281940" marR="359410" indent="-171450">
              <a:lnSpc>
                <a:spcPts val="2110"/>
              </a:lnSpc>
              <a:spcBef>
                <a:spcPts val="725"/>
              </a:spcBef>
              <a:buChar char="•"/>
              <a:tabLst>
                <a:tab pos="281940" algn="l"/>
              </a:tabLst>
            </a:pPr>
            <a:r>
              <a:rPr sz="1900" spc="85" dirty="0">
                <a:latin typeface="Tahoma" panose="020B0604030504040204"/>
                <a:cs typeface="Tahoma" panose="020B0604030504040204"/>
              </a:rPr>
              <a:t>Depresión</a:t>
            </a:r>
            <a:r>
              <a:rPr sz="190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900" spc="235" dirty="0">
                <a:latin typeface="Tahoma" panose="020B0604030504040204"/>
                <a:cs typeface="Tahoma" panose="020B0604030504040204"/>
              </a:rPr>
              <a:t>de</a:t>
            </a:r>
            <a:r>
              <a:rPr sz="190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900" spc="85" dirty="0">
                <a:latin typeface="Tahoma" panose="020B0604030504040204"/>
                <a:cs typeface="Tahoma" panose="020B0604030504040204"/>
              </a:rPr>
              <a:t>la </a:t>
            </a:r>
            <a:r>
              <a:rPr sz="1900" spc="155" dirty="0">
                <a:latin typeface="Tahoma" panose="020B0604030504040204"/>
                <a:cs typeface="Tahoma" panose="020B0604030504040204"/>
              </a:rPr>
              <a:t>médula</a:t>
            </a:r>
            <a:r>
              <a:rPr sz="19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900" spc="125" dirty="0">
                <a:latin typeface="Tahoma" panose="020B0604030504040204"/>
                <a:cs typeface="Tahoma" panose="020B0604030504040204"/>
              </a:rPr>
              <a:t>ósea</a:t>
            </a:r>
            <a:endParaRPr sz="1900">
              <a:latin typeface="Tahoma" panose="020B0604030504040204"/>
              <a:cs typeface="Tahoma" panose="020B0604030504040204"/>
            </a:endParaRPr>
          </a:p>
          <a:p>
            <a:pPr marL="281940" indent="-171450">
              <a:lnSpc>
                <a:spcPct val="100000"/>
              </a:lnSpc>
              <a:spcBef>
                <a:spcPts val="80"/>
              </a:spcBef>
              <a:buChar char="•"/>
              <a:tabLst>
                <a:tab pos="281940" algn="l"/>
              </a:tabLst>
            </a:pPr>
            <a:r>
              <a:rPr sz="1900" dirty="0">
                <a:latin typeface="Tahoma" panose="020B0604030504040204"/>
                <a:cs typeface="Tahoma" panose="020B0604030504040204"/>
              </a:rPr>
              <a:t>Lesion</a:t>
            </a:r>
            <a:r>
              <a:rPr sz="1900" spc="190" dirty="0">
                <a:latin typeface="Tahoma" panose="020B0604030504040204"/>
                <a:cs typeface="Tahoma" panose="020B0604030504040204"/>
              </a:rPr>
              <a:t> </a:t>
            </a:r>
            <a:r>
              <a:rPr sz="1900" spc="60" dirty="0">
                <a:latin typeface="Tahoma" panose="020B0604030504040204"/>
                <a:cs typeface="Tahoma" panose="020B0604030504040204"/>
              </a:rPr>
              <a:t>renal</a:t>
            </a:r>
            <a:endParaRPr sz="1900">
              <a:latin typeface="Tahoma" panose="020B0604030504040204"/>
              <a:cs typeface="Tahoma" panose="020B0604030504040204"/>
            </a:endParaRPr>
          </a:p>
          <a:p>
            <a:pPr marL="281940" marR="1080770" indent="-171450">
              <a:lnSpc>
                <a:spcPts val="2090"/>
              </a:lnSpc>
              <a:spcBef>
                <a:spcPts val="445"/>
              </a:spcBef>
              <a:buChar char="•"/>
              <a:tabLst>
                <a:tab pos="281940" algn="l"/>
              </a:tabLst>
            </a:pPr>
            <a:r>
              <a:rPr sz="1900" spc="80" dirty="0">
                <a:latin typeface="Tahoma" panose="020B0604030504040204"/>
                <a:cs typeface="Tahoma" panose="020B0604030504040204"/>
              </a:rPr>
              <a:t>Toxicidad </a:t>
            </a:r>
            <a:r>
              <a:rPr sz="1900" spc="170" dirty="0">
                <a:latin typeface="Tahoma" panose="020B0604030504040204"/>
                <a:cs typeface="Tahoma" panose="020B0604030504040204"/>
              </a:rPr>
              <a:t>cutanea</a:t>
            </a:r>
            <a:endParaRPr sz="1900">
              <a:latin typeface="Tahoma" panose="020B0604030504040204"/>
              <a:cs typeface="Tahoma" panose="020B0604030504040204"/>
            </a:endParaRPr>
          </a:p>
          <a:p>
            <a:pPr marL="281940" marR="271780" indent="-171450">
              <a:lnSpc>
                <a:spcPts val="2110"/>
              </a:lnSpc>
              <a:spcBef>
                <a:spcPts val="290"/>
              </a:spcBef>
              <a:buChar char="•"/>
              <a:tabLst>
                <a:tab pos="281940" algn="l"/>
              </a:tabLst>
            </a:pPr>
            <a:r>
              <a:rPr sz="1900" spc="150" dirty="0">
                <a:latin typeface="Tahoma" panose="020B0604030504040204"/>
                <a:cs typeface="Tahoma" panose="020B0604030504040204"/>
              </a:rPr>
              <a:t>Reacciones</a:t>
            </a:r>
            <a:r>
              <a:rPr sz="190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900" spc="210" dirty="0">
                <a:latin typeface="Tahoma" panose="020B0604030504040204"/>
                <a:cs typeface="Tahoma" panose="020B0604030504040204"/>
              </a:rPr>
              <a:t>de </a:t>
            </a:r>
            <a:r>
              <a:rPr sz="1900" spc="60" dirty="0">
                <a:latin typeface="Tahoma" panose="020B0604030504040204"/>
                <a:cs typeface="Tahoma" panose="020B0604030504040204"/>
              </a:rPr>
              <a:t>hipersensibilidad</a:t>
            </a:r>
            <a:endParaRPr sz="19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747602" y="3141573"/>
            <a:ext cx="2476500" cy="547370"/>
          </a:xfrm>
          <a:custGeom>
            <a:avLst/>
            <a:gdLst/>
            <a:ahLst/>
            <a:cxnLst/>
            <a:rect l="l" t="t" r="r" b="b"/>
            <a:pathLst>
              <a:path w="2476500" h="547370">
                <a:moveTo>
                  <a:pt x="0" y="0"/>
                </a:moveTo>
                <a:lnTo>
                  <a:pt x="2476501" y="0"/>
                </a:lnTo>
                <a:lnTo>
                  <a:pt x="2476501" y="547200"/>
                </a:lnTo>
                <a:lnTo>
                  <a:pt x="0" y="547200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F6F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738077" y="3132048"/>
            <a:ext cx="2495550" cy="566420"/>
          </a:xfrm>
          <a:prstGeom prst="rect">
            <a:avLst/>
          </a:prstGeom>
          <a:solidFill>
            <a:srgbClr val="0F6FC6"/>
          </a:solidFill>
        </p:spPr>
        <p:txBody>
          <a:bodyPr vert="horz" wrap="square" lIns="0" tIns="125730" rIns="0" bIns="0" rtlCol="0">
            <a:spAutoFit/>
          </a:bodyPr>
          <a:lstStyle/>
          <a:p>
            <a:pPr marL="825500">
              <a:lnSpc>
                <a:spcPct val="100000"/>
              </a:lnSpc>
              <a:spcBef>
                <a:spcPts val="990"/>
              </a:spcBef>
            </a:pPr>
            <a:r>
              <a:rPr sz="1900" spc="18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Acción</a:t>
            </a:r>
            <a:endParaRPr sz="190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738077" y="3679240"/>
            <a:ext cx="2495550" cy="2313940"/>
            <a:chOff x="4738077" y="3679240"/>
            <a:chExt cx="2495550" cy="2313940"/>
          </a:xfrm>
        </p:grpSpPr>
        <p:sp>
          <p:nvSpPr>
            <p:cNvPr id="10" name="object 10"/>
            <p:cNvSpPr/>
            <p:nvPr/>
          </p:nvSpPr>
          <p:spPr>
            <a:xfrm>
              <a:off x="4747602" y="3688765"/>
              <a:ext cx="2476500" cy="2294890"/>
            </a:xfrm>
            <a:custGeom>
              <a:avLst/>
              <a:gdLst/>
              <a:ahLst/>
              <a:cxnLst/>
              <a:rect l="l" t="t" r="r" b="b"/>
              <a:pathLst>
                <a:path w="2476500" h="2294890">
                  <a:moveTo>
                    <a:pt x="2476500" y="0"/>
                  </a:moveTo>
                  <a:lnTo>
                    <a:pt x="0" y="0"/>
                  </a:lnTo>
                  <a:lnTo>
                    <a:pt x="0" y="2294823"/>
                  </a:lnTo>
                  <a:lnTo>
                    <a:pt x="2476500" y="2294823"/>
                  </a:lnTo>
                  <a:lnTo>
                    <a:pt x="2476500" y="0"/>
                  </a:lnTo>
                  <a:close/>
                </a:path>
              </a:pathLst>
            </a:custGeom>
            <a:solidFill>
              <a:srgbClr val="CCD5EA">
                <a:alpha val="9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747602" y="3688765"/>
              <a:ext cx="2476500" cy="2294890"/>
            </a:xfrm>
            <a:custGeom>
              <a:avLst/>
              <a:gdLst/>
              <a:ahLst/>
              <a:cxnLst/>
              <a:rect l="l" t="t" r="r" b="b"/>
              <a:pathLst>
                <a:path w="2476500" h="2294890">
                  <a:moveTo>
                    <a:pt x="0" y="0"/>
                  </a:moveTo>
                  <a:lnTo>
                    <a:pt x="2476501" y="0"/>
                  </a:lnTo>
                  <a:lnTo>
                    <a:pt x="2476501" y="2294821"/>
                  </a:lnTo>
                  <a:lnTo>
                    <a:pt x="0" y="2294821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CCD5E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4836248" y="3751071"/>
            <a:ext cx="146685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0"/>
              </a:spcBef>
              <a:buChar char="•"/>
              <a:tabLst>
                <a:tab pos="184150" algn="l"/>
              </a:tabLst>
            </a:pPr>
            <a:r>
              <a:rPr sz="1900" spc="35" dirty="0">
                <a:latin typeface="Tahoma" panose="020B0604030504040204"/>
                <a:cs typeface="Tahoma" panose="020B0604030504040204"/>
              </a:rPr>
              <a:t>Parestesias</a:t>
            </a:r>
            <a:endParaRPr sz="19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36248" y="4055871"/>
            <a:ext cx="172783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0"/>
              </a:spcBef>
              <a:buChar char="•"/>
              <a:tabLst>
                <a:tab pos="184150" algn="l"/>
              </a:tabLst>
            </a:pPr>
            <a:r>
              <a:rPr sz="1900" spc="110" dirty="0">
                <a:latin typeface="Tahoma" panose="020B0604030504040204"/>
                <a:cs typeface="Tahoma" panose="020B0604030504040204"/>
              </a:rPr>
              <a:t>Somnolencia</a:t>
            </a:r>
            <a:endParaRPr sz="19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570813" y="3141573"/>
            <a:ext cx="2476500" cy="547370"/>
          </a:xfrm>
          <a:custGeom>
            <a:avLst/>
            <a:gdLst/>
            <a:ahLst/>
            <a:cxnLst/>
            <a:rect l="l" t="t" r="r" b="b"/>
            <a:pathLst>
              <a:path w="2476500" h="547370">
                <a:moveTo>
                  <a:pt x="0" y="0"/>
                </a:moveTo>
                <a:lnTo>
                  <a:pt x="2476501" y="0"/>
                </a:lnTo>
                <a:lnTo>
                  <a:pt x="2476501" y="547200"/>
                </a:lnTo>
                <a:lnTo>
                  <a:pt x="0" y="547200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F6F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7561288" y="3132048"/>
            <a:ext cx="2495550" cy="566420"/>
          </a:xfrm>
          <a:prstGeom prst="rect">
            <a:avLst/>
          </a:prstGeom>
          <a:solidFill>
            <a:srgbClr val="0F6FC6"/>
          </a:solidFill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900" spc="1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Efecto</a:t>
            </a:r>
            <a:endParaRPr sz="190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561288" y="3679240"/>
            <a:ext cx="2495550" cy="2313940"/>
            <a:chOff x="7561288" y="3679240"/>
            <a:chExt cx="2495550" cy="2313940"/>
          </a:xfrm>
        </p:grpSpPr>
        <p:sp>
          <p:nvSpPr>
            <p:cNvPr id="17" name="object 17"/>
            <p:cNvSpPr/>
            <p:nvPr/>
          </p:nvSpPr>
          <p:spPr>
            <a:xfrm>
              <a:off x="7570813" y="3688765"/>
              <a:ext cx="2476500" cy="2294890"/>
            </a:xfrm>
            <a:custGeom>
              <a:avLst/>
              <a:gdLst/>
              <a:ahLst/>
              <a:cxnLst/>
              <a:rect l="l" t="t" r="r" b="b"/>
              <a:pathLst>
                <a:path w="2476500" h="2294890">
                  <a:moveTo>
                    <a:pt x="2476500" y="0"/>
                  </a:moveTo>
                  <a:lnTo>
                    <a:pt x="0" y="0"/>
                  </a:lnTo>
                  <a:lnTo>
                    <a:pt x="0" y="2294823"/>
                  </a:lnTo>
                  <a:lnTo>
                    <a:pt x="2476500" y="2294823"/>
                  </a:lnTo>
                  <a:lnTo>
                    <a:pt x="2476500" y="0"/>
                  </a:lnTo>
                  <a:close/>
                </a:path>
              </a:pathLst>
            </a:custGeom>
            <a:solidFill>
              <a:srgbClr val="CCD5EA">
                <a:alpha val="9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7570813" y="3688765"/>
              <a:ext cx="2476500" cy="2294890"/>
            </a:xfrm>
            <a:custGeom>
              <a:avLst/>
              <a:gdLst/>
              <a:ahLst/>
              <a:cxnLst/>
              <a:rect l="l" t="t" r="r" b="b"/>
              <a:pathLst>
                <a:path w="2476500" h="2294890">
                  <a:moveTo>
                    <a:pt x="0" y="0"/>
                  </a:moveTo>
                  <a:lnTo>
                    <a:pt x="2476501" y="0"/>
                  </a:lnTo>
                  <a:lnTo>
                    <a:pt x="2476501" y="2294821"/>
                  </a:lnTo>
                  <a:lnTo>
                    <a:pt x="0" y="2294821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CCD5E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7659458" y="3751071"/>
            <a:ext cx="1347470" cy="58356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84150" marR="5080" indent="-171450">
              <a:lnSpc>
                <a:spcPts val="2110"/>
              </a:lnSpc>
              <a:spcBef>
                <a:spcPts val="310"/>
              </a:spcBef>
              <a:buChar char="•"/>
              <a:tabLst>
                <a:tab pos="184150" algn="l"/>
              </a:tabLst>
            </a:pPr>
            <a:r>
              <a:rPr sz="1900" spc="120" dirty="0">
                <a:latin typeface="Tahoma" panose="020B0604030504040204"/>
                <a:cs typeface="Tahoma" panose="020B0604030504040204"/>
              </a:rPr>
              <a:t>Cálculos </a:t>
            </a:r>
            <a:r>
              <a:rPr sz="1900" spc="50" dirty="0">
                <a:latin typeface="Tahoma" panose="020B0604030504040204"/>
                <a:cs typeface="Tahoma" panose="020B0604030504040204"/>
              </a:rPr>
              <a:t>ureterales</a:t>
            </a:r>
            <a:endParaRPr sz="19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659458" y="4324095"/>
            <a:ext cx="17208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229" dirty="0">
                <a:latin typeface="Tahoma" panose="020B0604030504040204"/>
                <a:cs typeface="Tahoma" panose="020B0604030504040204"/>
              </a:rPr>
              <a:t>•</a:t>
            </a:r>
            <a:endParaRPr sz="1900">
              <a:latin typeface="Tahoma" panose="020B0604030504040204"/>
              <a:cs typeface="Tahoma" panose="020B0604030504040204"/>
            </a:endParaRPr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7843608" y="4397121"/>
          <a:ext cx="2043430" cy="1024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08100"/>
                <a:gridCol w="365125"/>
                <a:gridCol w="294005"/>
              </a:tblGrid>
              <a:tr h="245745">
                <a:tc gridSpan="3">
                  <a:txBody>
                    <a:bodyPr/>
                    <a:lstStyle/>
                    <a:p>
                      <a:pPr>
                        <a:lnSpc>
                          <a:spcPts val="1805"/>
                        </a:lnSpc>
                      </a:pPr>
                      <a:r>
                        <a:rPr sz="1900" spc="105" dirty="0">
                          <a:latin typeface="Tahoma" panose="020B0604030504040204"/>
                          <a:cs typeface="Tahoma" panose="020B0604030504040204"/>
                        </a:rPr>
                        <a:t>Empeoramiento</a:t>
                      </a:r>
                      <a:endParaRPr sz="19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93025">
                        <a:alpha val="39999"/>
                      </a:srgbClr>
                    </a:solidFill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  <a:tr h="241300">
                <a:tc gridSpan="2"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sz="1900" spc="235" dirty="0">
                          <a:latin typeface="Tahoma" panose="020B0604030504040204"/>
                          <a:cs typeface="Tahoma" panose="020B0604030504040204"/>
                        </a:rPr>
                        <a:t>de</a:t>
                      </a:r>
                      <a:r>
                        <a:rPr sz="1900" spc="-70" dirty="0">
                          <a:latin typeface="Tahoma" panose="020B0604030504040204"/>
                          <a:cs typeface="Tahoma" panose="020B0604030504040204"/>
                        </a:rPr>
                        <a:t> </a:t>
                      </a:r>
                      <a:r>
                        <a:rPr sz="1900" spc="110" dirty="0">
                          <a:latin typeface="Tahoma" panose="020B0604030504040204"/>
                          <a:cs typeface="Tahoma" panose="020B0604030504040204"/>
                        </a:rPr>
                        <a:t>la</a:t>
                      </a:r>
                      <a:r>
                        <a:rPr sz="1900" spc="-65" dirty="0">
                          <a:latin typeface="Tahoma" panose="020B0604030504040204"/>
                          <a:cs typeface="Tahoma" panose="020B0604030504040204"/>
                        </a:rPr>
                        <a:t> </a:t>
                      </a:r>
                      <a:r>
                        <a:rPr sz="1900" spc="75" dirty="0">
                          <a:latin typeface="Tahoma" panose="020B0604030504040204"/>
                          <a:cs typeface="Tahoma" panose="020B0604030504040204"/>
                        </a:rPr>
                        <a:t>acidosis</a:t>
                      </a:r>
                      <a:endParaRPr sz="19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76873">
                      <a:solidFill>
                        <a:srgbClr val="FFFFFF"/>
                      </a:solidFill>
                      <a:prstDash val="solid"/>
                    </a:lnB>
                    <a:solidFill>
                      <a:srgbClr val="D93025">
                        <a:alpha val="39999"/>
                      </a:srgbClr>
                    </a:solidFill>
                  </a:tcPr>
                </a:tc>
                <a:tc hMerge="1"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76873">
                      <a:solidFill>
                        <a:srgbClr val="FFFFFF"/>
                      </a:solidFill>
                      <a:prstDash val="solid"/>
                    </a:lnB>
                    <a:solidFill>
                      <a:srgbClr val="CCD5EA">
                        <a:alpha val="90199"/>
                      </a:srgbClr>
                    </a:solidFill>
                  </a:tcPr>
                </a:tc>
              </a:tr>
              <a:tr h="291465">
                <a:tc gridSpan="3">
                  <a:txBody>
                    <a:bodyPr/>
                    <a:lstStyle/>
                    <a:p>
                      <a:pPr>
                        <a:lnSpc>
                          <a:spcPts val="2165"/>
                        </a:lnSpc>
                      </a:pPr>
                      <a:r>
                        <a:rPr sz="1900" spc="160" dirty="0">
                          <a:latin typeface="Tahoma" panose="020B0604030504040204"/>
                          <a:cs typeface="Tahoma" panose="020B0604030504040204"/>
                        </a:rPr>
                        <a:t>metabólica</a:t>
                      </a:r>
                      <a:r>
                        <a:rPr sz="1900" spc="-55" dirty="0">
                          <a:latin typeface="Tahoma" panose="020B0604030504040204"/>
                          <a:cs typeface="Tahoma" panose="020B0604030504040204"/>
                        </a:rPr>
                        <a:t> </a:t>
                      </a:r>
                      <a:r>
                        <a:rPr sz="1900" spc="90" dirty="0">
                          <a:latin typeface="Tahoma" panose="020B0604030504040204"/>
                          <a:cs typeface="Tahoma" panose="020B0604030504040204"/>
                        </a:rPr>
                        <a:t>y/o</a:t>
                      </a:r>
                      <a:endParaRPr sz="19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T w="76873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93025">
                        <a:alpha val="39999"/>
                      </a:srgbClr>
                    </a:solidFill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  <a:tr h="245745">
                <a:tc>
                  <a:txBody>
                    <a:bodyPr/>
                    <a:lstStyle/>
                    <a:p>
                      <a:pPr>
                        <a:lnSpc>
                          <a:spcPts val="1840"/>
                        </a:lnSpc>
                      </a:pPr>
                      <a:r>
                        <a:rPr sz="1900" spc="40" dirty="0">
                          <a:latin typeface="Tahoma" panose="020B0604030504040204"/>
                          <a:cs typeface="Tahoma" panose="020B0604030504040204"/>
                        </a:rPr>
                        <a:t>respiratoria</a:t>
                      </a:r>
                      <a:endParaRPr sz="19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93025">
                        <a:alpha val="39999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CCD5EA">
                        <a:alpha val="90199"/>
                      </a:srgbClr>
                    </a:solidFill>
                  </a:tcPr>
                </a:tc>
                <a:tc hMerge="1">
                  <a:tcPr marL="0" marR="0" marT="0" marB="0"/>
                </a:tc>
              </a:tr>
            </a:tbl>
          </a:graphicData>
        </a:graphic>
      </p:graphicFrame>
      <p:sp>
        <p:nvSpPr>
          <p:cNvPr id="22" name="object 22"/>
          <p:cNvSpPr/>
          <p:nvPr/>
        </p:nvSpPr>
        <p:spPr>
          <a:xfrm>
            <a:off x="1194752" y="2162555"/>
            <a:ext cx="2626360" cy="194310"/>
          </a:xfrm>
          <a:custGeom>
            <a:avLst/>
            <a:gdLst/>
            <a:ahLst/>
            <a:cxnLst/>
            <a:rect l="l" t="t" r="r" b="b"/>
            <a:pathLst>
              <a:path w="2626360" h="194310">
                <a:moveTo>
                  <a:pt x="2625876" y="0"/>
                </a:moveTo>
                <a:lnTo>
                  <a:pt x="0" y="0"/>
                </a:lnTo>
                <a:lnTo>
                  <a:pt x="0" y="193802"/>
                </a:lnTo>
                <a:lnTo>
                  <a:pt x="2625876" y="193802"/>
                </a:lnTo>
                <a:lnTo>
                  <a:pt x="2625876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020399" y="3824096"/>
            <a:ext cx="1269365" cy="184150"/>
          </a:xfrm>
          <a:custGeom>
            <a:avLst/>
            <a:gdLst/>
            <a:ahLst/>
            <a:cxnLst/>
            <a:rect l="l" t="t" r="r" b="b"/>
            <a:pathLst>
              <a:path w="1269364" h="184150">
                <a:moveTo>
                  <a:pt x="1269335" y="0"/>
                </a:moveTo>
                <a:lnTo>
                  <a:pt x="0" y="0"/>
                </a:lnTo>
                <a:lnTo>
                  <a:pt x="0" y="184112"/>
                </a:lnTo>
                <a:lnTo>
                  <a:pt x="1269335" y="184112"/>
                </a:lnTo>
                <a:lnTo>
                  <a:pt x="1269335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020399" y="4128896"/>
            <a:ext cx="1597660" cy="185420"/>
          </a:xfrm>
          <a:custGeom>
            <a:avLst/>
            <a:gdLst/>
            <a:ahLst/>
            <a:cxnLst/>
            <a:rect l="l" t="t" r="r" b="b"/>
            <a:pathLst>
              <a:path w="1597659" h="185420">
                <a:moveTo>
                  <a:pt x="1597647" y="0"/>
                </a:moveTo>
                <a:lnTo>
                  <a:pt x="0" y="0"/>
                </a:lnTo>
                <a:lnTo>
                  <a:pt x="0" y="185077"/>
                </a:lnTo>
                <a:lnTo>
                  <a:pt x="1597647" y="185077"/>
                </a:lnTo>
                <a:lnTo>
                  <a:pt x="1597647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4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95" dirty="0"/>
              <a:t>Inhibidores</a:t>
            </a:r>
            <a:r>
              <a:rPr sz="3600" spc="-195" dirty="0"/>
              <a:t> </a:t>
            </a:r>
            <a:r>
              <a:rPr sz="3600" spc="-135" dirty="0"/>
              <a:t>de</a:t>
            </a:r>
            <a:r>
              <a:rPr sz="3600" spc="-204" dirty="0"/>
              <a:t> la </a:t>
            </a:r>
            <a:r>
              <a:rPr sz="3600" spc="-295" dirty="0"/>
              <a:t>anhidrasa</a:t>
            </a:r>
            <a:r>
              <a:rPr sz="3600" spc="-204" dirty="0"/>
              <a:t> </a:t>
            </a:r>
            <a:r>
              <a:rPr sz="3600" spc="-130" dirty="0"/>
              <a:t>carbonica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182052" y="1958340"/>
            <a:ext cx="8063865" cy="218694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2000" spc="114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Indicaciones</a:t>
            </a:r>
            <a:r>
              <a:rPr sz="2000" spc="-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14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terapeuticas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000" spc="22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Glaucoma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2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de</a:t>
            </a:r>
            <a:r>
              <a:rPr sz="20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angulo</a:t>
            </a:r>
            <a:r>
              <a:rPr sz="20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0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abierto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Crisis</a:t>
            </a:r>
            <a:r>
              <a:rPr sz="2000" spc="-9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2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de</a:t>
            </a:r>
            <a:r>
              <a:rPr sz="2000" spc="-8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4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ausencia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000" spc="1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Mal</a:t>
            </a:r>
            <a:r>
              <a:rPr sz="2000" spc="-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2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agudo</a:t>
            </a:r>
            <a:r>
              <a:rPr sz="20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2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de</a:t>
            </a:r>
            <a:r>
              <a:rPr sz="20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montaña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000" spc="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Tratamiento</a:t>
            </a:r>
            <a:r>
              <a:rPr sz="20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2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de</a:t>
            </a:r>
            <a:r>
              <a:rPr sz="20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14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la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8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alcalosis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metabolica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inducida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14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por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diureticos</a:t>
            </a:r>
            <a:endParaRPr sz="2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94752" y="2162555"/>
            <a:ext cx="3208655" cy="240029"/>
          </a:xfrm>
          <a:custGeom>
            <a:avLst/>
            <a:gdLst/>
            <a:ahLst/>
            <a:cxnLst/>
            <a:rect l="l" t="t" r="r" b="b"/>
            <a:pathLst>
              <a:path w="3208654" h="240030">
                <a:moveTo>
                  <a:pt x="3208399" y="0"/>
                </a:moveTo>
                <a:lnTo>
                  <a:pt x="0" y="0"/>
                </a:lnTo>
                <a:lnTo>
                  <a:pt x="0" y="239522"/>
                </a:lnTo>
                <a:lnTo>
                  <a:pt x="3208399" y="239522"/>
                </a:lnTo>
                <a:lnTo>
                  <a:pt x="3208399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94752" y="2595371"/>
            <a:ext cx="3995420" cy="243204"/>
          </a:xfrm>
          <a:custGeom>
            <a:avLst/>
            <a:gdLst/>
            <a:ahLst/>
            <a:cxnLst/>
            <a:rect l="l" t="t" r="r" b="b"/>
            <a:pathLst>
              <a:path w="3995420" h="243205">
                <a:moveTo>
                  <a:pt x="3995367" y="0"/>
                </a:moveTo>
                <a:lnTo>
                  <a:pt x="0" y="0"/>
                </a:lnTo>
                <a:lnTo>
                  <a:pt x="0" y="243077"/>
                </a:lnTo>
                <a:lnTo>
                  <a:pt x="3995367" y="243077"/>
                </a:lnTo>
                <a:lnTo>
                  <a:pt x="3995367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94752" y="3025140"/>
            <a:ext cx="2537460" cy="201930"/>
          </a:xfrm>
          <a:custGeom>
            <a:avLst/>
            <a:gdLst/>
            <a:ahLst/>
            <a:cxnLst/>
            <a:rect l="l" t="t" r="r" b="b"/>
            <a:pathLst>
              <a:path w="2537460" h="201930">
                <a:moveTo>
                  <a:pt x="2537281" y="0"/>
                </a:moveTo>
                <a:lnTo>
                  <a:pt x="0" y="0"/>
                </a:lnTo>
                <a:lnTo>
                  <a:pt x="0" y="201676"/>
                </a:lnTo>
                <a:lnTo>
                  <a:pt x="2537281" y="201676"/>
                </a:lnTo>
                <a:lnTo>
                  <a:pt x="2537281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94752" y="3460241"/>
            <a:ext cx="3337560" cy="241300"/>
          </a:xfrm>
          <a:custGeom>
            <a:avLst/>
            <a:gdLst/>
            <a:ahLst/>
            <a:cxnLst/>
            <a:rect l="l" t="t" r="r" b="b"/>
            <a:pathLst>
              <a:path w="3337560" h="241300">
                <a:moveTo>
                  <a:pt x="3337380" y="0"/>
                </a:moveTo>
                <a:lnTo>
                  <a:pt x="0" y="0"/>
                </a:lnTo>
                <a:lnTo>
                  <a:pt x="0" y="240792"/>
                </a:lnTo>
                <a:lnTo>
                  <a:pt x="3337380" y="240792"/>
                </a:lnTo>
                <a:lnTo>
                  <a:pt x="3337380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94752" y="3890771"/>
            <a:ext cx="8037830" cy="240029"/>
          </a:xfrm>
          <a:custGeom>
            <a:avLst/>
            <a:gdLst/>
            <a:ahLst/>
            <a:cxnLst/>
            <a:rect l="l" t="t" r="r" b="b"/>
            <a:pathLst>
              <a:path w="8037830" h="240029">
                <a:moveTo>
                  <a:pt x="8037728" y="0"/>
                </a:moveTo>
                <a:lnTo>
                  <a:pt x="0" y="0"/>
                </a:lnTo>
                <a:lnTo>
                  <a:pt x="0" y="239521"/>
                </a:lnTo>
                <a:lnTo>
                  <a:pt x="8037728" y="239521"/>
                </a:lnTo>
                <a:lnTo>
                  <a:pt x="8037728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11095" y="195071"/>
            <a:ext cx="8369808" cy="646785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4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55" dirty="0"/>
              <a:t>Diuréticos</a:t>
            </a:r>
            <a:r>
              <a:rPr sz="3600" spc="-190" dirty="0"/>
              <a:t> </a:t>
            </a:r>
            <a:r>
              <a:rPr sz="3600" spc="-335" dirty="0"/>
              <a:t>osmóticos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182052" y="1958340"/>
            <a:ext cx="8162925" cy="2903855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2000" i="1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Glicerina,</a:t>
            </a:r>
            <a:r>
              <a:rPr sz="2000" i="1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i="1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isosorbida,</a:t>
            </a:r>
            <a:r>
              <a:rPr sz="2000" i="1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i="1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manitol</a:t>
            </a:r>
            <a:r>
              <a:rPr sz="2000" i="1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i="1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y</a:t>
            </a:r>
            <a:r>
              <a:rPr sz="2000" i="1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i="1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urea</a:t>
            </a:r>
            <a:endParaRPr sz="2000">
              <a:latin typeface="Verdana" panose="020B0604030504040204"/>
              <a:cs typeface="Verdana" panose="020B0604030504040204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000" spc="1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Mecanismo</a:t>
            </a:r>
            <a:r>
              <a:rPr sz="20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2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de</a:t>
            </a:r>
            <a:r>
              <a:rPr sz="2000" spc="-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2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acción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469265">
              <a:lnSpc>
                <a:spcPct val="100000"/>
              </a:lnSpc>
              <a:spcBef>
                <a:spcPts val="990"/>
              </a:spcBef>
            </a:pPr>
            <a:r>
              <a:rPr sz="1400" spc="11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400" spc="12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  </a:t>
            </a:r>
            <a:r>
              <a:rPr sz="18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Solutos</a:t>
            </a:r>
            <a:r>
              <a:rPr sz="1800" spc="-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14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no</a:t>
            </a:r>
            <a:r>
              <a:rPr sz="1800" spc="-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reabsorbibles</a:t>
            </a:r>
            <a:endParaRPr sz="1800">
              <a:latin typeface="Tahoma" panose="020B0604030504040204"/>
              <a:cs typeface="Tahoma" panose="020B0604030504040204"/>
            </a:endParaRPr>
          </a:p>
          <a:p>
            <a:pPr marL="469265">
              <a:lnSpc>
                <a:spcPct val="100000"/>
              </a:lnSpc>
              <a:spcBef>
                <a:spcPts val="935"/>
              </a:spcBef>
              <a:tabLst>
                <a:tab pos="2757170" algn="l"/>
              </a:tabLst>
            </a:pPr>
            <a:r>
              <a:rPr sz="1400" spc="11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400" spc="6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  </a:t>
            </a:r>
            <a:r>
              <a:rPr sz="1800" spc="4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Limitan</a:t>
            </a:r>
            <a:r>
              <a:rPr sz="1800" spc="-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la</a:t>
            </a:r>
            <a:r>
              <a:rPr sz="18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12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o</a:t>
            </a:r>
            <a:r>
              <a:rPr sz="1800" spc="1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s</a:t>
            </a:r>
            <a:r>
              <a:rPr sz="1800" spc="12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mo</a:t>
            </a:r>
            <a:r>
              <a:rPr sz="1800" spc="1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si</a:t>
            </a:r>
            <a:r>
              <a:rPr sz="1800" spc="-6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s</a:t>
            </a:r>
            <a:r>
              <a:rPr sz="1800" spc="125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́</a:t>
            </a:r>
            <a:r>
              <a:rPr sz="180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	</a:t>
            </a:r>
            <a:r>
              <a:rPr lang="es-MX" altLang="" sz="180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  </a:t>
            </a:r>
            <a:r>
              <a:rPr sz="1800" spc="13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del</a:t>
            </a:r>
            <a:r>
              <a:rPr sz="18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2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agua</a:t>
            </a:r>
            <a:r>
              <a:rPr sz="18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18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hacia</a:t>
            </a:r>
            <a:r>
              <a:rPr sz="18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el</a:t>
            </a:r>
            <a:r>
              <a:rPr sz="1800" spc="-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1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espacio</a:t>
            </a:r>
            <a:r>
              <a:rPr sz="18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intersticial</a:t>
            </a:r>
            <a:endParaRPr sz="1800">
              <a:latin typeface="Tahoma" panose="020B0604030504040204"/>
              <a:cs typeface="Tahoma" panose="020B0604030504040204"/>
            </a:endParaRPr>
          </a:p>
          <a:p>
            <a:pPr marL="926465">
              <a:lnSpc>
                <a:spcPct val="100000"/>
              </a:lnSpc>
              <a:spcBef>
                <a:spcPts val="1035"/>
              </a:spcBef>
            </a:pPr>
            <a:r>
              <a:rPr sz="1400" spc="11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400" spc="13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800" spc="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Disminuyen</a:t>
            </a:r>
            <a:r>
              <a:rPr sz="1800" spc="-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1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concentración</a:t>
            </a:r>
            <a:r>
              <a:rPr sz="1800" spc="-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22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de</a:t>
            </a:r>
            <a:r>
              <a:rPr sz="1800" spc="-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2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Na</a:t>
            </a:r>
            <a:r>
              <a:rPr sz="18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y</a:t>
            </a:r>
            <a:r>
              <a:rPr sz="1800" spc="-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1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NaCl</a:t>
            </a:r>
            <a:r>
              <a:rPr sz="18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1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en</a:t>
            </a:r>
            <a:r>
              <a:rPr sz="1800" spc="-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luz</a:t>
            </a:r>
            <a:r>
              <a:rPr sz="18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tubular</a:t>
            </a:r>
            <a:endParaRPr sz="18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  <a:spcBef>
                <a:spcPts val="1980"/>
              </a:spcBef>
            </a:pPr>
            <a:endParaRPr sz="1800">
              <a:latin typeface="Tahoma" panose="020B0604030504040204"/>
              <a:cs typeface="Tahoma" panose="020B0604030504040204"/>
            </a:endParaRPr>
          </a:p>
          <a:p>
            <a:pPr marL="469265">
              <a:lnSpc>
                <a:spcPct val="100000"/>
              </a:lnSpc>
            </a:pPr>
            <a:r>
              <a:rPr sz="1400" spc="11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400" spc="8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  </a:t>
            </a:r>
            <a:r>
              <a:rPr sz="18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↓</a:t>
            </a:r>
            <a:r>
              <a:rPr sz="1800" spc="-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1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liberacion</a:t>
            </a:r>
            <a:r>
              <a:rPr sz="1800" spc="-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22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de</a:t>
            </a:r>
            <a:r>
              <a:rPr sz="1800" spc="-4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renina,</a:t>
            </a:r>
            <a:r>
              <a:rPr sz="1800" spc="-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↑</a:t>
            </a:r>
            <a:r>
              <a:rPr sz="1800" spc="-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flujo</a:t>
            </a:r>
            <a:r>
              <a:rPr sz="1800" spc="-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sanguineo</a:t>
            </a:r>
            <a:r>
              <a:rPr sz="1800" spc="-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renal,</a:t>
            </a:r>
            <a:r>
              <a:rPr sz="1800" spc="-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↓</a:t>
            </a:r>
            <a:r>
              <a:rPr sz="1800" spc="-4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13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tonicidad</a:t>
            </a:r>
            <a:r>
              <a:rPr sz="1800" spc="-4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10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medular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4281" y="947940"/>
            <a:ext cx="4712970" cy="432434"/>
          </a:xfrm>
          <a:custGeom>
            <a:avLst/>
            <a:gdLst/>
            <a:ahLst/>
            <a:cxnLst/>
            <a:rect l="l" t="t" r="r" b="b"/>
            <a:pathLst>
              <a:path w="4712970" h="432434">
                <a:moveTo>
                  <a:pt x="4712678" y="0"/>
                </a:moveTo>
                <a:lnTo>
                  <a:pt x="163258" y="0"/>
                </a:lnTo>
                <a:lnTo>
                  <a:pt x="163258" y="147637"/>
                </a:lnTo>
                <a:lnTo>
                  <a:pt x="0" y="147320"/>
                </a:lnTo>
                <a:lnTo>
                  <a:pt x="0" y="299707"/>
                </a:lnTo>
                <a:lnTo>
                  <a:pt x="40220" y="300139"/>
                </a:lnTo>
                <a:lnTo>
                  <a:pt x="88493" y="311251"/>
                </a:lnTo>
                <a:lnTo>
                  <a:pt x="156286" y="320865"/>
                </a:lnTo>
                <a:lnTo>
                  <a:pt x="163258" y="320903"/>
                </a:lnTo>
                <a:lnTo>
                  <a:pt x="163258" y="380834"/>
                </a:lnTo>
                <a:lnTo>
                  <a:pt x="1672005" y="380834"/>
                </a:lnTo>
                <a:lnTo>
                  <a:pt x="1701914" y="382397"/>
                </a:lnTo>
                <a:lnTo>
                  <a:pt x="1869694" y="397840"/>
                </a:lnTo>
                <a:lnTo>
                  <a:pt x="2276500" y="399935"/>
                </a:lnTo>
                <a:lnTo>
                  <a:pt x="2427046" y="408965"/>
                </a:lnTo>
                <a:lnTo>
                  <a:pt x="2622397" y="409981"/>
                </a:lnTo>
                <a:lnTo>
                  <a:pt x="2676410" y="411416"/>
                </a:lnTo>
                <a:lnTo>
                  <a:pt x="2793631" y="425221"/>
                </a:lnTo>
                <a:lnTo>
                  <a:pt x="2833852" y="432003"/>
                </a:lnTo>
                <a:lnTo>
                  <a:pt x="3581958" y="431215"/>
                </a:lnTo>
                <a:lnTo>
                  <a:pt x="3698024" y="421462"/>
                </a:lnTo>
                <a:lnTo>
                  <a:pt x="3816388" y="420014"/>
                </a:lnTo>
                <a:lnTo>
                  <a:pt x="3987609" y="396036"/>
                </a:lnTo>
                <a:lnTo>
                  <a:pt x="4109428" y="384924"/>
                </a:lnTo>
                <a:lnTo>
                  <a:pt x="4125112" y="380834"/>
                </a:lnTo>
                <a:lnTo>
                  <a:pt x="4712678" y="380834"/>
                </a:lnTo>
                <a:lnTo>
                  <a:pt x="4712678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94752" y="2162555"/>
            <a:ext cx="4382135" cy="240029"/>
          </a:xfrm>
          <a:custGeom>
            <a:avLst/>
            <a:gdLst/>
            <a:ahLst/>
            <a:cxnLst/>
            <a:rect l="l" t="t" r="r" b="b"/>
            <a:pathLst>
              <a:path w="4382135" h="240030">
                <a:moveTo>
                  <a:pt x="4381981" y="0"/>
                </a:moveTo>
                <a:lnTo>
                  <a:pt x="0" y="0"/>
                </a:lnTo>
                <a:lnTo>
                  <a:pt x="0" y="239522"/>
                </a:lnTo>
                <a:lnTo>
                  <a:pt x="4381981" y="239522"/>
                </a:lnTo>
                <a:lnTo>
                  <a:pt x="4381981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937702" y="3019805"/>
            <a:ext cx="2658110" cy="175895"/>
          </a:xfrm>
          <a:custGeom>
            <a:avLst/>
            <a:gdLst/>
            <a:ahLst/>
            <a:cxnLst/>
            <a:rect l="l" t="t" r="r" b="b"/>
            <a:pathLst>
              <a:path w="2658110" h="175894">
                <a:moveTo>
                  <a:pt x="2657931" y="0"/>
                </a:moveTo>
                <a:lnTo>
                  <a:pt x="0" y="0"/>
                </a:lnTo>
                <a:lnTo>
                  <a:pt x="0" y="175336"/>
                </a:lnTo>
                <a:lnTo>
                  <a:pt x="2657931" y="175336"/>
                </a:lnTo>
                <a:lnTo>
                  <a:pt x="2657931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337752" y="3811523"/>
            <a:ext cx="6091555" cy="222885"/>
          </a:xfrm>
          <a:custGeom>
            <a:avLst/>
            <a:gdLst/>
            <a:ahLst/>
            <a:cxnLst/>
            <a:rect l="l" t="t" r="r" b="b"/>
            <a:pathLst>
              <a:path w="6091555" h="222885">
                <a:moveTo>
                  <a:pt x="6091525" y="0"/>
                </a:moveTo>
                <a:lnTo>
                  <a:pt x="0" y="0"/>
                </a:lnTo>
                <a:lnTo>
                  <a:pt x="0" y="222428"/>
                </a:lnTo>
                <a:lnTo>
                  <a:pt x="6091525" y="222428"/>
                </a:lnTo>
                <a:lnTo>
                  <a:pt x="6091525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937702" y="4620005"/>
            <a:ext cx="7399020" cy="219075"/>
          </a:xfrm>
          <a:custGeom>
            <a:avLst/>
            <a:gdLst/>
            <a:ahLst/>
            <a:cxnLst/>
            <a:rect l="l" t="t" r="r" b="b"/>
            <a:pathLst>
              <a:path w="7399020" h="219075">
                <a:moveTo>
                  <a:pt x="7398426" y="0"/>
                </a:moveTo>
                <a:lnTo>
                  <a:pt x="0" y="0"/>
                </a:lnTo>
                <a:lnTo>
                  <a:pt x="0" y="218999"/>
                </a:lnTo>
                <a:lnTo>
                  <a:pt x="7398426" y="218999"/>
                </a:lnTo>
                <a:lnTo>
                  <a:pt x="7398426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4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55" dirty="0"/>
              <a:t>Diuréticos</a:t>
            </a:r>
            <a:r>
              <a:rPr sz="3600" spc="-190" dirty="0"/>
              <a:t> </a:t>
            </a:r>
            <a:r>
              <a:rPr sz="3600" spc="-335" dirty="0"/>
              <a:t>osmóticos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182052" y="1958340"/>
            <a:ext cx="4408170" cy="89154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2000" i="1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Glicerina,</a:t>
            </a:r>
            <a:r>
              <a:rPr sz="2000" i="1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i="1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isosorbida,</a:t>
            </a:r>
            <a:r>
              <a:rPr sz="2000" i="1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i="1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manitol</a:t>
            </a:r>
            <a:r>
              <a:rPr sz="2000" i="1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i="1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y</a:t>
            </a:r>
            <a:r>
              <a:rPr sz="2000" i="1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i="1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urea</a:t>
            </a:r>
            <a:endParaRPr sz="2000">
              <a:latin typeface="Verdana" panose="020B0604030504040204"/>
              <a:cs typeface="Verdana" panose="020B0604030504040204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000" spc="8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Efectos</a:t>
            </a:r>
            <a:r>
              <a:rPr sz="20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en</a:t>
            </a:r>
            <a:r>
              <a:rPr sz="2000" spc="-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14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la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4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excreción</a:t>
            </a:r>
            <a:r>
              <a:rPr sz="2000" spc="-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4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urinaria</a:t>
            </a:r>
            <a:endParaRPr sz="2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73165" y="2962147"/>
            <a:ext cx="76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–</a:t>
            </a:r>
            <a:endParaRPr sz="12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26552" y="2949955"/>
            <a:ext cx="57619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4785995" algn="l"/>
              </a:tabLst>
            </a:pPr>
            <a:r>
              <a:rPr sz="1400" spc="11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4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  </a:t>
            </a:r>
            <a:r>
              <a:rPr sz="18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↑</a:t>
            </a:r>
            <a:r>
              <a:rPr sz="1800" spc="-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Na</a:t>
            </a:r>
            <a:r>
              <a:rPr sz="1800" baseline="23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+</a:t>
            </a:r>
            <a:r>
              <a:rPr sz="18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,</a:t>
            </a:r>
            <a:r>
              <a:rPr sz="1800" spc="-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↑</a:t>
            </a:r>
            <a:r>
              <a:rPr sz="1800" spc="-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K</a:t>
            </a:r>
            <a:r>
              <a:rPr sz="1800" spc="-104" baseline="23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+</a:t>
            </a:r>
            <a:r>
              <a:rPr sz="18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,</a:t>
            </a:r>
            <a:r>
              <a:rPr sz="1800" spc="-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↑</a:t>
            </a:r>
            <a:r>
              <a:rPr sz="1800" spc="-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Ca</a:t>
            </a:r>
            <a:r>
              <a:rPr sz="1800" spc="127" baseline="23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2+</a:t>
            </a:r>
            <a:r>
              <a:rPr sz="1800" spc="8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,</a:t>
            </a:r>
            <a:r>
              <a:rPr sz="1800" spc="-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↑</a:t>
            </a:r>
            <a:r>
              <a:rPr sz="1800" spc="-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Mg</a:t>
            </a:r>
            <a:r>
              <a:rPr sz="1800" spc="75" baseline="23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2+</a:t>
            </a:r>
            <a:r>
              <a:rPr sz="1800" spc="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,</a:t>
            </a:r>
            <a:r>
              <a:rPr sz="1800" spc="-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↑</a:t>
            </a:r>
            <a:r>
              <a:rPr sz="1800" spc="-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9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Cl</a:t>
            </a:r>
            <a:r>
              <a:rPr sz="1800" spc="135" baseline="23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–</a:t>
            </a:r>
            <a:r>
              <a:rPr sz="18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,</a:t>
            </a:r>
            <a:r>
              <a:rPr sz="1800" spc="-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↑</a:t>
            </a:r>
            <a:r>
              <a:rPr sz="1800" spc="-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14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HCO</a:t>
            </a:r>
            <a:r>
              <a:rPr sz="1800" spc="217" baseline="-14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3</a:t>
            </a:r>
            <a:r>
              <a:rPr sz="1800" baseline="-14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	</a:t>
            </a:r>
            <a:r>
              <a:rPr sz="1800" spc="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y</a:t>
            </a:r>
            <a:r>
              <a:rPr sz="18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fosfato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82052" y="3610581"/>
            <a:ext cx="4450080" cy="1264285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0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000" spc="8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Efectos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en</a:t>
            </a:r>
            <a:r>
              <a:rPr sz="2000" spc="-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14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la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hemodinamia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renal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469265">
              <a:lnSpc>
                <a:spcPct val="100000"/>
              </a:lnSpc>
              <a:spcBef>
                <a:spcPts val="995"/>
              </a:spcBef>
            </a:pPr>
            <a:r>
              <a:rPr sz="1400" spc="11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400" spc="6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  </a:t>
            </a:r>
            <a:r>
              <a:rPr sz="18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↑</a:t>
            </a:r>
            <a:r>
              <a:rPr sz="18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FSR</a:t>
            </a:r>
            <a:endParaRPr sz="1800">
              <a:latin typeface="Tahoma" panose="020B0604030504040204"/>
              <a:cs typeface="Tahoma" panose="020B0604030504040204"/>
            </a:endParaRPr>
          </a:p>
          <a:p>
            <a:pPr marL="469265">
              <a:lnSpc>
                <a:spcPct val="100000"/>
              </a:lnSpc>
              <a:spcBef>
                <a:spcPts val="935"/>
              </a:spcBef>
            </a:pPr>
            <a:r>
              <a:rPr sz="1400" spc="11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400" spc="6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  </a:t>
            </a:r>
            <a:r>
              <a:rPr sz="1800" spc="-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Sin</a:t>
            </a:r>
            <a:r>
              <a:rPr sz="18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14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cambios</a:t>
            </a:r>
            <a:r>
              <a:rPr sz="18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1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en</a:t>
            </a:r>
            <a:r>
              <a:rPr sz="18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TFG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37652" y="2587751"/>
            <a:ext cx="3858260" cy="201930"/>
          </a:xfrm>
          <a:custGeom>
            <a:avLst/>
            <a:gdLst/>
            <a:ahLst/>
            <a:cxnLst/>
            <a:rect l="l" t="t" r="r" b="b"/>
            <a:pathLst>
              <a:path w="3858260" h="201930">
                <a:moveTo>
                  <a:pt x="3858054" y="0"/>
                </a:moveTo>
                <a:lnTo>
                  <a:pt x="0" y="0"/>
                </a:lnTo>
                <a:lnTo>
                  <a:pt x="0" y="201422"/>
                </a:lnTo>
                <a:lnTo>
                  <a:pt x="3858054" y="201422"/>
                </a:lnTo>
                <a:lnTo>
                  <a:pt x="3858054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651952" y="3015081"/>
            <a:ext cx="5774055" cy="224154"/>
          </a:xfrm>
          <a:custGeom>
            <a:avLst/>
            <a:gdLst/>
            <a:ahLst/>
            <a:cxnLst/>
            <a:rect l="l" t="t" r="r" b="b"/>
            <a:pathLst>
              <a:path w="5774055" h="224155">
                <a:moveTo>
                  <a:pt x="5773679" y="0"/>
                </a:moveTo>
                <a:lnTo>
                  <a:pt x="0" y="0"/>
                </a:lnTo>
                <a:lnTo>
                  <a:pt x="0" y="223723"/>
                </a:lnTo>
                <a:lnTo>
                  <a:pt x="5773679" y="223723"/>
                </a:lnTo>
                <a:lnTo>
                  <a:pt x="5773679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37652" y="3826764"/>
            <a:ext cx="4081779" cy="194310"/>
          </a:xfrm>
          <a:custGeom>
            <a:avLst/>
            <a:gdLst/>
            <a:ahLst/>
            <a:cxnLst/>
            <a:rect l="l" t="t" r="r" b="b"/>
            <a:pathLst>
              <a:path w="4081779" h="194310">
                <a:moveTo>
                  <a:pt x="4081471" y="0"/>
                </a:moveTo>
                <a:lnTo>
                  <a:pt x="0" y="0"/>
                </a:lnTo>
                <a:lnTo>
                  <a:pt x="0" y="193802"/>
                </a:lnTo>
                <a:lnTo>
                  <a:pt x="4081471" y="193802"/>
                </a:lnTo>
                <a:lnTo>
                  <a:pt x="4081471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651952" y="4254398"/>
            <a:ext cx="828040" cy="215900"/>
          </a:xfrm>
          <a:custGeom>
            <a:avLst/>
            <a:gdLst/>
            <a:ahLst/>
            <a:cxnLst/>
            <a:rect l="l" t="t" r="r" b="b"/>
            <a:pathLst>
              <a:path w="828039" h="215900">
                <a:moveTo>
                  <a:pt x="827623" y="0"/>
                </a:moveTo>
                <a:lnTo>
                  <a:pt x="0" y="0"/>
                </a:lnTo>
                <a:lnTo>
                  <a:pt x="0" y="215798"/>
                </a:lnTo>
                <a:lnTo>
                  <a:pt x="827623" y="215798"/>
                </a:lnTo>
                <a:lnTo>
                  <a:pt x="827623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651952" y="4644390"/>
            <a:ext cx="2430145" cy="181610"/>
          </a:xfrm>
          <a:custGeom>
            <a:avLst/>
            <a:gdLst/>
            <a:ahLst/>
            <a:cxnLst/>
            <a:rect l="l" t="t" r="r" b="b"/>
            <a:pathLst>
              <a:path w="2430145" h="181610">
                <a:moveTo>
                  <a:pt x="2430017" y="0"/>
                </a:moveTo>
                <a:lnTo>
                  <a:pt x="0" y="0"/>
                </a:lnTo>
                <a:lnTo>
                  <a:pt x="0" y="181228"/>
                </a:lnTo>
                <a:lnTo>
                  <a:pt x="2430017" y="181228"/>
                </a:lnTo>
                <a:lnTo>
                  <a:pt x="2430017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55" dirty="0"/>
              <a:t>Diuréticos</a:t>
            </a:r>
            <a:r>
              <a:rPr sz="3600" spc="-190" dirty="0"/>
              <a:t> </a:t>
            </a:r>
            <a:r>
              <a:rPr sz="3600" spc="-335" dirty="0"/>
              <a:t>osmóticos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182052" y="2086356"/>
            <a:ext cx="44081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Glicerina,</a:t>
            </a:r>
            <a:r>
              <a:rPr sz="2000" i="1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i="1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isosorbida,</a:t>
            </a:r>
            <a:r>
              <a:rPr sz="2000" i="1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i="1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manitol</a:t>
            </a:r>
            <a:r>
              <a:rPr sz="2000" i="1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i="1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y</a:t>
            </a:r>
            <a:r>
              <a:rPr sz="2000" i="1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i="1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urea</a:t>
            </a:r>
            <a:endParaRPr sz="2000">
              <a:latin typeface="Verdana" panose="020B0604030504040204"/>
              <a:cs typeface="Verdana" panose="020B060403050404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253469" y="2152961"/>
            <a:ext cx="6624320" cy="4254500"/>
            <a:chOff x="3253469" y="2152961"/>
            <a:chExt cx="6624320" cy="4254500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86200" y="2673095"/>
              <a:ext cx="5678424" cy="322783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253469" y="2152961"/>
              <a:ext cx="6624320" cy="4254500"/>
            </a:xfrm>
            <a:custGeom>
              <a:avLst/>
              <a:gdLst/>
              <a:ahLst/>
              <a:cxnLst/>
              <a:rect l="l" t="t" r="r" b="b"/>
              <a:pathLst>
                <a:path w="6624320" h="4254500">
                  <a:moveTo>
                    <a:pt x="415731" y="3695700"/>
                  </a:moveTo>
                  <a:lnTo>
                    <a:pt x="260438" y="3695700"/>
                  </a:lnTo>
                  <a:lnTo>
                    <a:pt x="262056" y="3708400"/>
                  </a:lnTo>
                  <a:lnTo>
                    <a:pt x="273379" y="3708400"/>
                  </a:lnTo>
                  <a:lnTo>
                    <a:pt x="273379" y="3857977"/>
                  </a:lnTo>
                  <a:lnTo>
                    <a:pt x="276614" y="3860800"/>
                  </a:lnTo>
                  <a:lnTo>
                    <a:pt x="302497" y="3873500"/>
                  </a:lnTo>
                  <a:lnTo>
                    <a:pt x="347790" y="3873500"/>
                  </a:lnTo>
                  <a:lnTo>
                    <a:pt x="381760" y="3886200"/>
                  </a:lnTo>
                  <a:lnTo>
                    <a:pt x="417348" y="3886200"/>
                  </a:lnTo>
                  <a:lnTo>
                    <a:pt x="439995" y="3898900"/>
                  </a:lnTo>
                  <a:lnTo>
                    <a:pt x="464260" y="3911600"/>
                  </a:lnTo>
                  <a:lnTo>
                    <a:pt x="503083" y="3911600"/>
                  </a:lnTo>
                  <a:lnTo>
                    <a:pt x="574258" y="3924300"/>
                  </a:lnTo>
                  <a:lnTo>
                    <a:pt x="619552" y="3937000"/>
                  </a:lnTo>
                  <a:lnTo>
                    <a:pt x="1412191" y="3937000"/>
                  </a:lnTo>
                  <a:lnTo>
                    <a:pt x="1823070" y="3962400"/>
                  </a:lnTo>
                  <a:lnTo>
                    <a:pt x="2305123" y="3962400"/>
                  </a:lnTo>
                  <a:lnTo>
                    <a:pt x="2445858" y="3975100"/>
                  </a:lnTo>
                  <a:lnTo>
                    <a:pt x="2651296" y="3975100"/>
                  </a:lnTo>
                  <a:lnTo>
                    <a:pt x="2788795" y="3987800"/>
                  </a:lnTo>
                  <a:lnTo>
                    <a:pt x="3039528" y="4000500"/>
                  </a:lnTo>
                  <a:lnTo>
                    <a:pt x="3220702" y="4025900"/>
                  </a:lnTo>
                  <a:lnTo>
                    <a:pt x="3799814" y="4089400"/>
                  </a:lnTo>
                  <a:lnTo>
                    <a:pt x="3966430" y="4114800"/>
                  </a:lnTo>
                  <a:lnTo>
                    <a:pt x="4351426" y="4165600"/>
                  </a:lnTo>
                  <a:lnTo>
                    <a:pt x="4516425" y="4191000"/>
                  </a:lnTo>
                  <a:lnTo>
                    <a:pt x="4662011" y="4203700"/>
                  </a:lnTo>
                  <a:lnTo>
                    <a:pt x="5050243" y="4229100"/>
                  </a:lnTo>
                  <a:lnTo>
                    <a:pt x="5265388" y="4254500"/>
                  </a:lnTo>
                  <a:lnTo>
                    <a:pt x="6347583" y="4254500"/>
                  </a:lnTo>
                  <a:lnTo>
                    <a:pt x="6392876" y="4229100"/>
                  </a:lnTo>
                  <a:lnTo>
                    <a:pt x="6468905" y="4229100"/>
                  </a:lnTo>
                  <a:lnTo>
                    <a:pt x="6470522" y="4216400"/>
                  </a:lnTo>
                  <a:lnTo>
                    <a:pt x="6486698" y="4178300"/>
                  </a:lnTo>
                  <a:lnTo>
                    <a:pt x="6491551" y="4165600"/>
                  </a:lnTo>
                  <a:lnTo>
                    <a:pt x="6494788" y="4140200"/>
                  </a:lnTo>
                  <a:lnTo>
                    <a:pt x="6502552" y="4114800"/>
                  </a:lnTo>
                  <a:lnTo>
                    <a:pt x="5846117" y="4114800"/>
                  </a:lnTo>
                  <a:lnTo>
                    <a:pt x="5747441" y="4102100"/>
                  </a:lnTo>
                  <a:lnTo>
                    <a:pt x="5417445" y="4102100"/>
                  </a:lnTo>
                  <a:lnTo>
                    <a:pt x="5202300" y="4076700"/>
                  </a:lnTo>
                  <a:lnTo>
                    <a:pt x="4815686" y="4064000"/>
                  </a:lnTo>
                  <a:lnTo>
                    <a:pt x="4670100" y="4038600"/>
                  </a:lnTo>
                  <a:lnTo>
                    <a:pt x="4503483" y="4013200"/>
                  </a:lnTo>
                  <a:lnTo>
                    <a:pt x="3953488" y="3937000"/>
                  </a:lnTo>
                  <a:lnTo>
                    <a:pt x="3374378" y="3873500"/>
                  </a:lnTo>
                  <a:lnTo>
                    <a:pt x="3191585" y="3848100"/>
                  </a:lnTo>
                  <a:lnTo>
                    <a:pt x="2942469" y="3835400"/>
                  </a:lnTo>
                  <a:lnTo>
                    <a:pt x="2803353" y="3822700"/>
                  </a:lnTo>
                  <a:lnTo>
                    <a:pt x="2599532" y="3822700"/>
                  </a:lnTo>
                  <a:lnTo>
                    <a:pt x="2457181" y="3810000"/>
                  </a:lnTo>
                  <a:lnTo>
                    <a:pt x="1975127" y="3810000"/>
                  </a:lnTo>
                  <a:lnTo>
                    <a:pt x="1564249" y="3784600"/>
                  </a:lnTo>
                  <a:lnTo>
                    <a:pt x="771609" y="3784600"/>
                  </a:lnTo>
                  <a:lnTo>
                    <a:pt x="726316" y="3771900"/>
                  </a:lnTo>
                  <a:lnTo>
                    <a:pt x="655140" y="3759200"/>
                  </a:lnTo>
                  <a:lnTo>
                    <a:pt x="617935" y="3746500"/>
                  </a:lnTo>
                  <a:lnTo>
                    <a:pt x="569405" y="3733800"/>
                  </a:lnTo>
                  <a:lnTo>
                    <a:pt x="535435" y="3733800"/>
                  </a:lnTo>
                  <a:lnTo>
                    <a:pt x="499848" y="3721100"/>
                  </a:lnTo>
                  <a:lnTo>
                    <a:pt x="454554" y="3721100"/>
                  </a:lnTo>
                  <a:lnTo>
                    <a:pt x="428672" y="3708400"/>
                  </a:lnTo>
                  <a:lnTo>
                    <a:pt x="415731" y="3695700"/>
                  </a:lnTo>
                  <a:close/>
                </a:path>
                <a:path w="6624320" h="4254500">
                  <a:moveTo>
                    <a:pt x="4729952" y="152400"/>
                  </a:moveTo>
                  <a:lnTo>
                    <a:pt x="2785560" y="152400"/>
                  </a:lnTo>
                  <a:lnTo>
                    <a:pt x="3350113" y="190500"/>
                  </a:lnTo>
                  <a:lnTo>
                    <a:pt x="3587905" y="190500"/>
                  </a:lnTo>
                  <a:lnTo>
                    <a:pt x="3680110" y="203200"/>
                  </a:lnTo>
                  <a:lnTo>
                    <a:pt x="3722168" y="203200"/>
                  </a:lnTo>
                  <a:lnTo>
                    <a:pt x="3966430" y="254000"/>
                  </a:lnTo>
                  <a:lnTo>
                    <a:pt x="4165399" y="266700"/>
                  </a:lnTo>
                  <a:lnTo>
                    <a:pt x="4341721" y="292100"/>
                  </a:lnTo>
                  <a:lnTo>
                    <a:pt x="5006567" y="330200"/>
                  </a:lnTo>
                  <a:lnTo>
                    <a:pt x="6132438" y="381000"/>
                  </a:lnTo>
                  <a:lnTo>
                    <a:pt x="6320083" y="393700"/>
                  </a:lnTo>
                  <a:lnTo>
                    <a:pt x="6449493" y="393700"/>
                  </a:lnTo>
                  <a:lnTo>
                    <a:pt x="6449493" y="965200"/>
                  </a:lnTo>
                  <a:lnTo>
                    <a:pt x="6451111" y="1003300"/>
                  </a:lnTo>
                  <a:lnTo>
                    <a:pt x="6460818" y="1066800"/>
                  </a:lnTo>
                  <a:lnTo>
                    <a:pt x="6460818" y="1485900"/>
                  </a:lnTo>
                  <a:lnTo>
                    <a:pt x="6470522" y="1727200"/>
                  </a:lnTo>
                  <a:lnTo>
                    <a:pt x="6472139" y="1854200"/>
                  </a:lnTo>
                  <a:lnTo>
                    <a:pt x="6472139" y="1917700"/>
                  </a:lnTo>
                  <a:lnTo>
                    <a:pt x="6468905" y="2044700"/>
                  </a:lnTo>
                  <a:lnTo>
                    <a:pt x="6462435" y="2171700"/>
                  </a:lnTo>
                  <a:lnTo>
                    <a:pt x="6434935" y="2476500"/>
                  </a:lnTo>
                  <a:lnTo>
                    <a:pt x="6430082" y="2565400"/>
                  </a:lnTo>
                  <a:lnTo>
                    <a:pt x="6428465" y="2641600"/>
                  </a:lnTo>
                  <a:lnTo>
                    <a:pt x="6428465" y="2895600"/>
                  </a:lnTo>
                  <a:lnTo>
                    <a:pt x="6426846" y="2971800"/>
                  </a:lnTo>
                  <a:lnTo>
                    <a:pt x="6421994" y="3136900"/>
                  </a:lnTo>
                  <a:lnTo>
                    <a:pt x="6412287" y="3314700"/>
                  </a:lnTo>
                  <a:lnTo>
                    <a:pt x="6402582" y="3530600"/>
                  </a:lnTo>
                  <a:lnTo>
                    <a:pt x="6394493" y="3695700"/>
                  </a:lnTo>
                  <a:lnTo>
                    <a:pt x="6370229" y="3873500"/>
                  </a:lnTo>
                  <a:lnTo>
                    <a:pt x="6362141" y="3924300"/>
                  </a:lnTo>
                  <a:lnTo>
                    <a:pt x="6342729" y="3987800"/>
                  </a:lnTo>
                  <a:lnTo>
                    <a:pt x="6337877" y="4013200"/>
                  </a:lnTo>
                  <a:lnTo>
                    <a:pt x="6334641" y="4025900"/>
                  </a:lnTo>
                  <a:lnTo>
                    <a:pt x="6318465" y="4064000"/>
                  </a:lnTo>
                  <a:lnTo>
                    <a:pt x="6316848" y="4076700"/>
                  </a:lnTo>
                  <a:lnTo>
                    <a:pt x="6240819" y="4076700"/>
                  </a:lnTo>
                  <a:lnTo>
                    <a:pt x="6195525" y="4102100"/>
                  </a:lnTo>
                  <a:lnTo>
                    <a:pt x="6168026" y="4102100"/>
                  </a:lnTo>
                  <a:lnTo>
                    <a:pt x="5846117" y="4114800"/>
                  </a:lnTo>
                  <a:lnTo>
                    <a:pt x="6502552" y="4114800"/>
                  </a:lnTo>
                  <a:lnTo>
                    <a:pt x="6514199" y="4076700"/>
                  </a:lnTo>
                  <a:lnTo>
                    <a:pt x="6522287" y="4025900"/>
                  </a:lnTo>
                  <a:lnTo>
                    <a:pt x="6546552" y="3848100"/>
                  </a:lnTo>
                  <a:lnTo>
                    <a:pt x="6554640" y="3683000"/>
                  </a:lnTo>
                  <a:lnTo>
                    <a:pt x="6564345" y="3467100"/>
                  </a:lnTo>
                  <a:lnTo>
                    <a:pt x="6574051" y="3289300"/>
                  </a:lnTo>
                  <a:lnTo>
                    <a:pt x="6578904" y="3124200"/>
                  </a:lnTo>
                  <a:lnTo>
                    <a:pt x="6580522" y="2870200"/>
                  </a:lnTo>
                  <a:lnTo>
                    <a:pt x="6582139" y="2717800"/>
                  </a:lnTo>
                  <a:lnTo>
                    <a:pt x="6586992" y="2628900"/>
                  </a:lnTo>
                  <a:lnTo>
                    <a:pt x="6614492" y="2324100"/>
                  </a:lnTo>
                  <a:lnTo>
                    <a:pt x="6622580" y="2197100"/>
                  </a:lnTo>
                  <a:lnTo>
                    <a:pt x="6623740" y="2060508"/>
                  </a:lnTo>
                  <a:lnTo>
                    <a:pt x="6623767" y="2057400"/>
                  </a:lnTo>
                  <a:lnTo>
                    <a:pt x="6623875" y="2044700"/>
                  </a:lnTo>
                  <a:lnTo>
                    <a:pt x="6623983" y="2032000"/>
                  </a:lnTo>
                  <a:lnTo>
                    <a:pt x="6624008" y="1955800"/>
                  </a:lnTo>
                  <a:lnTo>
                    <a:pt x="6623008" y="1689100"/>
                  </a:lnTo>
                  <a:lnTo>
                    <a:pt x="6622961" y="1676400"/>
                  </a:lnTo>
                  <a:lnTo>
                    <a:pt x="6622865" y="1651000"/>
                  </a:lnTo>
                  <a:lnTo>
                    <a:pt x="6622770" y="1625600"/>
                  </a:lnTo>
                  <a:lnTo>
                    <a:pt x="6622675" y="1600200"/>
                  </a:lnTo>
                  <a:lnTo>
                    <a:pt x="6622580" y="1574800"/>
                  </a:lnTo>
                  <a:lnTo>
                    <a:pt x="6612874" y="1333500"/>
                  </a:lnTo>
                  <a:lnTo>
                    <a:pt x="6612874" y="914400"/>
                  </a:lnTo>
                  <a:lnTo>
                    <a:pt x="6603168" y="850900"/>
                  </a:lnTo>
                  <a:lnTo>
                    <a:pt x="6601550" y="812800"/>
                  </a:lnTo>
                  <a:lnTo>
                    <a:pt x="6601550" y="241300"/>
                  </a:lnTo>
                  <a:lnTo>
                    <a:pt x="6473758" y="241300"/>
                  </a:lnTo>
                  <a:lnTo>
                    <a:pt x="6284495" y="228600"/>
                  </a:lnTo>
                  <a:lnTo>
                    <a:pt x="6004645" y="215900"/>
                  </a:lnTo>
                  <a:lnTo>
                    <a:pt x="5598620" y="190500"/>
                  </a:lnTo>
                  <a:lnTo>
                    <a:pt x="5158623" y="177800"/>
                  </a:lnTo>
                  <a:lnTo>
                    <a:pt x="4729952" y="152400"/>
                  </a:lnTo>
                  <a:close/>
                </a:path>
                <a:path w="6624320" h="4254500">
                  <a:moveTo>
                    <a:pt x="262056" y="3848100"/>
                  </a:moveTo>
                  <a:lnTo>
                    <a:pt x="108381" y="3848100"/>
                  </a:lnTo>
                  <a:lnTo>
                    <a:pt x="109998" y="3860800"/>
                  </a:lnTo>
                  <a:lnTo>
                    <a:pt x="273379" y="3860800"/>
                  </a:lnTo>
                  <a:lnTo>
                    <a:pt x="273379" y="3857977"/>
                  </a:lnTo>
                  <a:lnTo>
                    <a:pt x="262056" y="3848100"/>
                  </a:lnTo>
                  <a:close/>
                </a:path>
                <a:path w="6624320" h="4254500">
                  <a:moveTo>
                    <a:pt x="273379" y="3797300"/>
                  </a:moveTo>
                  <a:lnTo>
                    <a:pt x="121322" y="3797300"/>
                  </a:lnTo>
                  <a:lnTo>
                    <a:pt x="122939" y="3810000"/>
                  </a:lnTo>
                  <a:lnTo>
                    <a:pt x="135880" y="3810000"/>
                  </a:lnTo>
                  <a:lnTo>
                    <a:pt x="153675" y="3822700"/>
                  </a:lnTo>
                  <a:lnTo>
                    <a:pt x="169851" y="3822700"/>
                  </a:lnTo>
                  <a:lnTo>
                    <a:pt x="186027" y="3835400"/>
                  </a:lnTo>
                  <a:lnTo>
                    <a:pt x="200586" y="3835400"/>
                  </a:lnTo>
                  <a:lnTo>
                    <a:pt x="205439" y="3848100"/>
                  </a:lnTo>
                  <a:lnTo>
                    <a:pt x="262056" y="3848100"/>
                  </a:lnTo>
                  <a:lnTo>
                    <a:pt x="273379" y="3857977"/>
                  </a:lnTo>
                  <a:lnTo>
                    <a:pt x="273379" y="3797300"/>
                  </a:lnTo>
                  <a:close/>
                </a:path>
                <a:path w="6624320" h="4254500">
                  <a:moveTo>
                    <a:pt x="262802" y="2060508"/>
                  </a:moveTo>
                  <a:lnTo>
                    <a:pt x="245880" y="2120900"/>
                  </a:lnTo>
                  <a:lnTo>
                    <a:pt x="242644" y="2159000"/>
                  </a:lnTo>
                  <a:lnTo>
                    <a:pt x="241027" y="2197100"/>
                  </a:lnTo>
                  <a:lnTo>
                    <a:pt x="224850" y="2260600"/>
                  </a:lnTo>
                  <a:lnTo>
                    <a:pt x="215144" y="2311400"/>
                  </a:lnTo>
                  <a:lnTo>
                    <a:pt x="202203" y="2387600"/>
                  </a:lnTo>
                  <a:lnTo>
                    <a:pt x="190880" y="2438400"/>
                  </a:lnTo>
                  <a:lnTo>
                    <a:pt x="171469" y="2552700"/>
                  </a:lnTo>
                  <a:lnTo>
                    <a:pt x="158527" y="2616200"/>
                  </a:lnTo>
                  <a:lnTo>
                    <a:pt x="155292" y="2628900"/>
                  </a:lnTo>
                  <a:lnTo>
                    <a:pt x="153675" y="2667000"/>
                  </a:lnTo>
                  <a:lnTo>
                    <a:pt x="153675" y="2705100"/>
                  </a:lnTo>
                  <a:lnTo>
                    <a:pt x="143969" y="2768600"/>
                  </a:lnTo>
                  <a:lnTo>
                    <a:pt x="134263" y="2819400"/>
                  </a:lnTo>
                  <a:lnTo>
                    <a:pt x="129410" y="2908300"/>
                  </a:lnTo>
                  <a:lnTo>
                    <a:pt x="124557" y="2933700"/>
                  </a:lnTo>
                  <a:lnTo>
                    <a:pt x="111616" y="2997200"/>
                  </a:lnTo>
                  <a:lnTo>
                    <a:pt x="100293" y="3073400"/>
                  </a:lnTo>
                  <a:lnTo>
                    <a:pt x="67940" y="3200400"/>
                  </a:lnTo>
                  <a:lnTo>
                    <a:pt x="66323" y="3302000"/>
                  </a:lnTo>
                  <a:lnTo>
                    <a:pt x="66323" y="3784600"/>
                  </a:lnTo>
                  <a:lnTo>
                    <a:pt x="72793" y="3797300"/>
                  </a:lnTo>
                  <a:lnTo>
                    <a:pt x="88969" y="3822700"/>
                  </a:lnTo>
                  <a:lnTo>
                    <a:pt x="98675" y="3848100"/>
                  </a:lnTo>
                  <a:lnTo>
                    <a:pt x="205439" y="3848100"/>
                  </a:lnTo>
                  <a:lnTo>
                    <a:pt x="200586" y="3835400"/>
                  </a:lnTo>
                  <a:lnTo>
                    <a:pt x="186027" y="3835400"/>
                  </a:lnTo>
                  <a:lnTo>
                    <a:pt x="169851" y="3822700"/>
                  </a:lnTo>
                  <a:lnTo>
                    <a:pt x="153675" y="3822700"/>
                  </a:lnTo>
                  <a:lnTo>
                    <a:pt x="135880" y="3810000"/>
                  </a:lnTo>
                  <a:lnTo>
                    <a:pt x="122939" y="3810000"/>
                  </a:lnTo>
                  <a:lnTo>
                    <a:pt x="121322" y="3797300"/>
                  </a:lnTo>
                  <a:lnTo>
                    <a:pt x="273379" y="3797300"/>
                  </a:lnTo>
                  <a:lnTo>
                    <a:pt x="273379" y="3708400"/>
                  </a:lnTo>
                  <a:lnTo>
                    <a:pt x="262056" y="3708400"/>
                  </a:lnTo>
                  <a:lnTo>
                    <a:pt x="260438" y="3695700"/>
                  </a:lnTo>
                  <a:lnTo>
                    <a:pt x="250732" y="3695700"/>
                  </a:lnTo>
                  <a:lnTo>
                    <a:pt x="241027" y="3670300"/>
                  </a:lnTo>
                  <a:lnTo>
                    <a:pt x="224850" y="3644900"/>
                  </a:lnTo>
                  <a:lnTo>
                    <a:pt x="211909" y="3644900"/>
                  </a:lnTo>
                  <a:lnTo>
                    <a:pt x="173086" y="3619500"/>
                  </a:lnTo>
                  <a:lnTo>
                    <a:pt x="174704" y="3606800"/>
                  </a:lnTo>
                  <a:lnTo>
                    <a:pt x="174704" y="3594100"/>
                  </a:lnTo>
                  <a:lnTo>
                    <a:pt x="182792" y="3568700"/>
                  </a:lnTo>
                  <a:lnTo>
                    <a:pt x="192498" y="3505200"/>
                  </a:lnTo>
                  <a:lnTo>
                    <a:pt x="213527" y="3390900"/>
                  </a:lnTo>
                  <a:lnTo>
                    <a:pt x="219751" y="3364431"/>
                  </a:lnTo>
                  <a:lnTo>
                    <a:pt x="219998" y="3352800"/>
                  </a:lnTo>
                  <a:lnTo>
                    <a:pt x="226468" y="3302000"/>
                  </a:lnTo>
                  <a:lnTo>
                    <a:pt x="253968" y="3175000"/>
                  </a:lnTo>
                  <a:lnTo>
                    <a:pt x="279850" y="3048000"/>
                  </a:lnTo>
                  <a:lnTo>
                    <a:pt x="284703" y="3009900"/>
                  </a:lnTo>
                  <a:lnTo>
                    <a:pt x="284703" y="2819400"/>
                  </a:lnTo>
                  <a:lnTo>
                    <a:pt x="292791" y="2755900"/>
                  </a:lnTo>
                  <a:lnTo>
                    <a:pt x="296026" y="2679700"/>
                  </a:lnTo>
                  <a:lnTo>
                    <a:pt x="294408" y="2476500"/>
                  </a:lnTo>
                  <a:lnTo>
                    <a:pt x="286320" y="2362200"/>
                  </a:lnTo>
                  <a:lnTo>
                    <a:pt x="284703" y="2260600"/>
                  </a:lnTo>
                  <a:lnTo>
                    <a:pt x="283085" y="2222500"/>
                  </a:lnTo>
                  <a:lnTo>
                    <a:pt x="274997" y="2171700"/>
                  </a:lnTo>
                  <a:lnTo>
                    <a:pt x="273379" y="2120900"/>
                  </a:lnTo>
                  <a:lnTo>
                    <a:pt x="262802" y="2060508"/>
                  </a:lnTo>
                  <a:close/>
                </a:path>
                <a:path w="6624320" h="4254500">
                  <a:moveTo>
                    <a:pt x="67940" y="3200400"/>
                  </a:moveTo>
                  <a:lnTo>
                    <a:pt x="61470" y="3225800"/>
                  </a:lnTo>
                  <a:lnTo>
                    <a:pt x="40440" y="3352800"/>
                  </a:lnTo>
                  <a:lnTo>
                    <a:pt x="30735" y="3416300"/>
                  </a:lnTo>
                  <a:lnTo>
                    <a:pt x="22647" y="3441700"/>
                  </a:lnTo>
                  <a:lnTo>
                    <a:pt x="22647" y="3467100"/>
                  </a:lnTo>
                  <a:lnTo>
                    <a:pt x="17794" y="3492500"/>
                  </a:lnTo>
                  <a:lnTo>
                    <a:pt x="3235" y="3556000"/>
                  </a:lnTo>
                  <a:lnTo>
                    <a:pt x="0" y="3581400"/>
                  </a:lnTo>
                  <a:lnTo>
                    <a:pt x="0" y="3771900"/>
                  </a:lnTo>
                  <a:lnTo>
                    <a:pt x="19411" y="3771900"/>
                  </a:lnTo>
                  <a:lnTo>
                    <a:pt x="59852" y="3797300"/>
                  </a:lnTo>
                  <a:lnTo>
                    <a:pt x="72793" y="3797300"/>
                  </a:lnTo>
                  <a:lnTo>
                    <a:pt x="66323" y="3784600"/>
                  </a:lnTo>
                  <a:lnTo>
                    <a:pt x="66323" y="3302000"/>
                  </a:lnTo>
                  <a:lnTo>
                    <a:pt x="67940" y="3200400"/>
                  </a:lnTo>
                  <a:close/>
                </a:path>
                <a:path w="6624320" h="4254500">
                  <a:moveTo>
                    <a:pt x="273379" y="3644900"/>
                  </a:moveTo>
                  <a:lnTo>
                    <a:pt x="224850" y="3644900"/>
                  </a:lnTo>
                  <a:lnTo>
                    <a:pt x="241027" y="3670300"/>
                  </a:lnTo>
                  <a:lnTo>
                    <a:pt x="250732" y="3695700"/>
                  </a:lnTo>
                  <a:lnTo>
                    <a:pt x="372054" y="3695700"/>
                  </a:lnTo>
                  <a:lnTo>
                    <a:pt x="355879" y="3683000"/>
                  </a:lnTo>
                  <a:lnTo>
                    <a:pt x="338084" y="3683000"/>
                  </a:lnTo>
                  <a:lnTo>
                    <a:pt x="321908" y="3670300"/>
                  </a:lnTo>
                  <a:lnTo>
                    <a:pt x="305732" y="3670300"/>
                  </a:lnTo>
                  <a:lnTo>
                    <a:pt x="287938" y="3657600"/>
                  </a:lnTo>
                  <a:lnTo>
                    <a:pt x="274997" y="3657600"/>
                  </a:lnTo>
                  <a:lnTo>
                    <a:pt x="273379" y="3644900"/>
                  </a:lnTo>
                  <a:close/>
                </a:path>
                <a:path w="6624320" h="4254500">
                  <a:moveTo>
                    <a:pt x="219751" y="3364431"/>
                  </a:moveTo>
                  <a:lnTo>
                    <a:pt x="213527" y="3390900"/>
                  </a:lnTo>
                  <a:lnTo>
                    <a:pt x="192498" y="3505200"/>
                  </a:lnTo>
                  <a:lnTo>
                    <a:pt x="182792" y="3568700"/>
                  </a:lnTo>
                  <a:lnTo>
                    <a:pt x="174704" y="3594100"/>
                  </a:lnTo>
                  <a:lnTo>
                    <a:pt x="174704" y="3606800"/>
                  </a:lnTo>
                  <a:lnTo>
                    <a:pt x="173086" y="3619500"/>
                  </a:lnTo>
                  <a:lnTo>
                    <a:pt x="211909" y="3644900"/>
                  </a:lnTo>
                  <a:lnTo>
                    <a:pt x="224850" y="3644900"/>
                  </a:lnTo>
                  <a:lnTo>
                    <a:pt x="219998" y="3632200"/>
                  </a:lnTo>
                  <a:lnTo>
                    <a:pt x="218481" y="3441700"/>
                  </a:lnTo>
                  <a:lnTo>
                    <a:pt x="218380" y="3429000"/>
                  </a:lnTo>
                  <a:lnTo>
                    <a:pt x="219751" y="3364431"/>
                  </a:lnTo>
                  <a:close/>
                </a:path>
                <a:path w="6624320" h="4254500">
                  <a:moveTo>
                    <a:pt x="504701" y="467042"/>
                  </a:moveTo>
                  <a:lnTo>
                    <a:pt x="494995" y="469900"/>
                  </a:lnTo>
                  <a:lnTo>
                    <a:pt x="331614" y="514015"/>
                  </a:lnTo>
                  <a:lnTo>
                    <a:pt x="331614" y="673100"/>
                  </a:lnTo>
                  <a:lnTo>
                    <a:pt x="341320" y="711200"/>
                  </a:lnTo>
                  <a:lnTo>
                    <a:pt x="351025" y="723900"/>
                  </a:lnTo>
                  <a:lnTo>
                    <a:pt x="362349" y="736600"/>
                  </a:lnTo>
                  <a:lnTo>
                    <a:pt x="365584" y="749300"/>
                  </a:lnTo>
                  <a:lnTo>
                    <a:pt x="373672" y="762000"/>
                  </a:lnTo>
                  <a:lnTo>
                    <a:pt x="381760" y="787400"/>
                  </a:lnTo>
                  <a:lnTo>
                    <a:pt x="388231" y="838200"/>
                  </a:lnTo>
                  <a:lnTo>
                    <a:pt x="418966" y="952500"/>
                  </a:lnTo>
                  <a:lnTo>
                    <a:pt x="418966" y="1143000"/>
                  </a:lnTo>
                  <a:lnTo>
                    <a:pt x="414113" y="1155700"/>
                  </a:lnTo>
                  <a:lnTo>
                    <a:pt x="401172" y="1193800"/>
                  </a:lnTo>
                  <a:lnTo>
                    <a:pt x="397936" y="1219200"/>
                  </a:lnTo>
                  <a:lnTo>
                    <a:pt x="394701" y="1270000"/>
                  </a:lnTo>
                  <a:lnTo>
                    <a:pt x="386613" y="1320800"/>
                  </a:lnTo>
                  <a:lnTo>
                    <a:pt x="386613" y="1371600"/>
                  </a:lnTo>
                  <a:lnTo>
                    <a:pt x="375290" y="1409700"/>
                  </a:lnTo>
                  <a:lnTo>
                    <a:pt x="365584" y="1473200"/>
                  </a:lnTo>
                  <a:lnTo>
                    <a:pt x="354261" y="1524000"/>
                  </a:lnTo>
                  <a:lnTo>
                    <a:pt x="352643" y="1600200"/>
                  </a:lnTo>
                  <a:lnTo>
                    <a:pt x="349408" y="1651000"/>
                  </a:lnTo>
                  <a:lnTo>
                    <a:pt x="326761" y="1765300"/>
                  </a:lnTo>
                  <a:lnTo>
                    <a:pt x="317055" y="1803400"/>
                  </a:lnTo>
                  <a:lnTo>
                    <a:pt x="304114" y="1841500"/>
                  </a:lnTo>
                  <a:lnTo>
                    <a:pt x="297644" y="1879600"/>
                  </a:lnTo>
                  <a:lnTo>
                    <a:pt x="294408" y="1905000"/>
                  </a:lnTo>
                  <a:lnTo>
                    <a:pt x="274997" y="1968500"/>
                  </a:lnTo>
                  <a:lnTo>
                    <a:pt x="265291" y="2032000"/>
                  </a:lnTo>
                  <a:lnTo>
                    <a:pt x="263673" y="2057400"/>
                  </a:lnTo>
                  <a:lnTo>
                    <a:pt x="262802" y="2060508"/>
                  </a:lnTo>
                  <a:lnTo>
                    <a:pt x="273379" y="2120900"/>
                  </a:lnTo>
                  <a:lnTo>
                    <a:pt x="274997" y="2171700"/>
                  </a:lnTo>
                  <a:lnTo>
                    <a:pt x="283085" y="2222500"/>
                  </a:lnTo>
                  <a:lnTo>
                    <a:pt x="284703" y="2260600"/>
                  </a:lnTo>
                  <a:lnTo>
                    <a:pt x="286320" y="2362200"/>
                  </a:lnTo>
                  <a:lnTo>
                    <a:pt x="294408" y="2476500"/>
                  </a:lnTo>
                  <a:lnTo>
                    <a:pt x="295925" y="2667000"/>
                  </a:lnTo>
                  <a:lnTo>
                    <a:pt x="296026" y="2679700"/>
                  </a:lnTo>
                  <a:lnTo>
                    <a:pt x="292791" y="2755900"/>
                  </a:lnTo>
                  <a:lnTo>
                    <a:pt x="284703" y="2819400"/>
                  </a:lnTo>
                  <a:lnTo>
                    <a:pt x="284703" y="3009900"/>
                  </a:lnTo>
                  <a:lnTo>
                    <a:pt x="279850" y="3048000"/>
                  </a:lnTo>
                  <a:lnTo>
                    <a:pt x="253968" y="3175000"/>
                  </a:lnTo>
                  <a:lnTo>
                    <a:pt x="226468" y="3302000"/>
                  </a:lnTo>
                  <a:lnTo>
                    <a:pt x="219998" y="3352800"/>
                  </a:lnTo>
                  <a:lnTo>
                    <a:pt x="219751" y="3364431"/>
                  </a:lnTo>
                  <a:lnTo>
                    <a:pt x="252350" y="3225800"/>
                  </a:lnTo>
                  <a:lnTo>
                    <a:pt x="265291" y="3149600"/>
                  </a:lnTo>
                  <a:lnTo>
                    <a:pt x="276614" y="3086100"/>
                  </a:lnTo>
                  <a:lnTo>
                    <a:pt x="281467" y="3060700"/>
                  </a:lnTo>
                  <a:lnTo>
                    <a:pt x="287938" y="2971800"/>
                  </a:lnTo>
                  <a:lnTo>
                    <a:pt x="296026" y="2921000"/>
                  </a:lnTo>
                  <a:lnTo>
                    <a:pt x="305732" y="2857500"/>
                  </a:lnTo>
                  <a:lnTo>
                    <a:pt x="307349" y="2806700"/>
                  </a:lnTo>
                  <a:lnTo>
                    <a:pt x="307349" y="2781300"/>
                  </a:lnTo>
                  <a:lnTo>
                    <a:pt x="310585" y="2755900"/>
                  </a:lnTo>
                  <a:lnTo>
                    <a:pt x="325143" y="2705100"/>
                  </a:lnTo>
                  <a:lnTo>
                    <a:pt x="342937" y="2590800"/>
                  </a:lnTo>
                  <a:lnTo>
                    <a:pt x="354261" y="2540000"/>
                  </a:lnTo>
                  <a:lnTo>
                    <a:pt x="367202" y="2463800"/>
                  </a:lnTo>
                  <a:lnTo>
                    <a:pt x="376908" y="2413000"/>
                  </a:lnTo>
                  <a:lnTo>
                    <a:pt x="393084" y="2349500"/>
                  </a:lnTo>
                  <a:lnTo>
                    <a:pt x="394701" y="2311400"/>
                  </a:lnTo>
                  <a:lnTo>
                    <a:pt x="397936" y="2273300"/>
                  </a:lnTo>
                  <a:lnTo>
                    <a:pt x="415731" y="2209800"/>
                  </a:lnTo>
                  <a:lnTo>
                    <a:pt x="417348" y="2184400"/>
                  </a:lnTo>
                  <a:lnTo>
                    <a:pt x="427054" y="2120900"/>
                  </a:lnTo>
                  <a:lnTo>
                    <a:pt x="446466" y="2057400"/>
                  </a:lnTo>
                  <a:lnTo>
                    <a:pt x="449701" y="2032000"/>
                  </a:lnTo>
                  <a:lnTo>
                    <a:pt x="456172" y="1993900"/>
                  </a:lnTo>
                  <a:lnTo>
                    <a:pt x="469113" y="1955800"/>
                  </a:lnTo>
                  <a:lnTo>
                    <a:pt x="482054" y="1892300"/>
                  </a:lnTo>
                  <a:lnTo>
                    <a:pt x="498230" y="1816100"/>
                  </a:lnTo>
                  <a:lnTo>
                    <a:pt x="503083" y="1790700"/>
                  </a:lnTo>
                  <a:lnTo>
                    <a:pt x="504701" y="1689100"/>
                  </a:lnTo>
                  <a:lnTo>
                    <a:pt x="506318" y="1676400"/>
                  </a:lnTo>
                  <a:lnTo>
                    <a:pt x="517642" y="1625600"/>
                  </a:lnTo>
                  <a:lnTo>
                    <a:pt x="528965" y="1562100"/>
                  </a:lnTo>
                  <a:lnTo>
                    <a:pt x="538671" y="1524000"/>
                  </a:lnTo>
                  <a:lnTo>
                    <a:pt x="538671" y="1485900"/>
                  </a:lnTo>
                  <a:lnTo>
                    <a:pt x="548376" y="1422400"/>
                  </a:lnTo>
                  <a:lnTo>
                    <a:pt x="549994" y="1371600"/>
                  </a:lnTo>
                  <a:lnTo>
                    <a:pt x="553229" y="1346200"/>
                  </a:lnTo>
                  <a:lnTo>
                    <a:pt x="566170" y="1308100"/>
                  </a:lnTo>
                  <a:lnTo>
                    <a:pt x="571023" y="1295400"/>
                  </a:lnTo>
                  <a:lnTo>
                    <a:pt x="571023" y="800100"/>
                  </a:lnTo>
                  <a:lnTo>
                    <a:pt x="540288" y="685800"/>
                  </a:lnTo>
                  <a:lnTo>
                    <a:pt x="538671" y="660400"/>
                  </a:lnTo>
                  <a:lnTo>
                    <a:pt x="535435" y="635000"/>
                  </a:lnTo>
                  <a:lnTo>
                    <a:pt x="525729" y="609600"/>
                  </a:lnTo>
                  <a:lnTo>
                    <a:pt x="517642" y="596900"/>
                  </a:lnTo>
                  <a:lnTo>
                    <a:pt x="514406" y="584200"/>
                  </a:lnTo>
                  <a:lnTo>
                    <a:pt x="504701" y="571500"/>
                  </a:lnTo>
                  <a:lnTo>
                    <a:pt x="504701" y="467042"/>
                  </a:lnTo>
                  <a:close/>
                </a:path>
                <a:path w="6624320" h="4254500">
                  <a:moveTo>
                    <a:pt x="2937617" y="0"/>
                  </a:moveTo>
                  <a:lnTo>
                    <a:pt x="2206448" y="0"/>
                  </a:lnTo>
                  <a:lnTo>
                    <a:pt x="1649983" y="38100"/>
                  </a:lnTo>
                  <a:lnTo>
                    <a:pt x="1515719" y="50800"/>
                  </a:lnTo>
                  <a:lnTo>
                    <a:pt x="1431603" y="63500"/>
                  </a:lnTo>
                  <a:lnTo>
                    <a:pt x="1297339" y="76200"/>
                  </a:lnTo>
                  <a:lnTo>
                    <a:pt x="1174399" y="101600"/>
                  </a:lnTo>
                  <a:lnTo>
                    <a:pt x="1041754" y="127000"/>
                  </a:lnTo>
                  <a:lnTo>
                    <a:pt x="802344" y="190500"/>
                  </a:lnTo>
                  <a:lnTo>
                    <a:pt x="692346" y="215900"/>
                  </a:lnTo>
                  <a:lnTo>
                    <a:pt x="600140" y="241300"/>
                  </a:lnTo>
                  <a:lnTo>
                    <a:pt x="342937" y="317500"/>
                  </a:lnTo>
                  <a:lnTo>
                    <a:pt x="153675" y="368300"/>
                  </a:lnTo>
                  <a:lnTo>
                    <a:pt x="100293" y="393700"/>
                  </a:lnTo>
                  <a:lnTo>
                    <a:pt x="56617" y="393700"/>
                  </a:lnTo>
                  <a:lnTo>
                    <a:pt x="54999" y="406400"/>
                  </a:lnTo>
                  <a:lnTo>
                    <a:pt x="56617" y="571500"/>
                  </a:lnTo>
                  <a:lnTo>
                    <a:pt x="80881" y="635000"/>
                  </a:lnTo>
                  <a:lnTo>
                    <a:pt x="92204" y="685800"/>
                  </a:lnTo>
                  <a:lnTo>
                    <a:pt x="98675" y="736600"/>
                  </a:lnTo>
                  <a:lnTo>
                    <a:pt x="98675" y="774700"/>
                  </a:lnTo>
                  <a:lnTo>
                    <a:pt x="100293" y="850900"/>
                  </a:lnTo>
                  <a:lnTo>
                    <a:pt x="106763" y="889000"/>
                  </a:lnTo>
                  <a:lnTo>
                    <a:pt x="109998" y="914400"/>
                  </a:lnTo>
                  <a:lnTo>
                    <a:pt x="111616" y="1143000"/>
                  </a:lnTo>
                  <a:lnTo>
                    <a:pt x="118087" y="1193800"/>
                  </a:lnTo>
                  <a:lnTo>
                    <a:pt x="126175" y="1244600"/>
                  </a:lnTo>
                  <a:lnTo>
                    <a:pt x="131028" y="1308100"/>
                  </a:lnTo>
                  <a:lnTo>
                    <a:pt x="132645" y="1346200"/>
                  </a:lnTo>
                  <a:lnTo>
                    <a:pt x="131028" y="1422400"/>
                  </a:lnTo>
                  <a:lnTo>
                    <a:pt x="127792" y="1460500"/>
                  </a:lnTo>
                  <a:lnTo>
                    <a:pt x="106763" y="1600200"/>
                  </a:lnTo>
                  <a:lnTo>
                    <a:pt x="100293" y="1676400"/>
                  </a:lnTo>
                  <a:lnTo>
                    <a:pt x="99383" y="1790700"/>
                  </a:lnTo>
                  <a:lnTo>
                    <a:pt x="99282" y="1803400"/>
                  </a:lnTo>
                  <a:lnTo>
                    <a:pt x="99180" y="1816100"/>
                  </a:lnTo>
                  <a:lnTo>
                    <a:pt x="99079" y="1828800"/>
                  </a:lnTo>
                  <a:lnTo>
                    <a:pt x="98978" y="1841500"/>
                  </a:lnTo>
                  <a:lnTo>
                    <a:pt x="98930" y="1917700"/>
                  </a:lnTo>
                  <a:lnTo>
                    <a:pt x="100293" y="2120900"/>
                  </a:lnTo>
                  <a:lnTo>
                    <a:pt x="103528" y="2171700"/>
                  </a:lnTo>
                  <a:lnTo>
                    <a:pt x="119704" y="2273300"/>
                  </a:lnTo>
                  <a:lnTo>
                    <a:pt x="121322" y="2324100"/>
                  </a:lnTo>
                  <a:lnTo>
                    <a:pt x="131028" y="2374900"/>
                  </a:lnTo>
                  <a:lnTo>
                    <a:pt x="132645" y="2413000"/>
                  </a:lnTo>
                  <a:lnTo>
                    <a:pt x="132645" y="2514600"/>
                  </a:lnTo>
                  <a:lnTo>
                    <a:pt x="140734" y="2603500"/>
                  </a:lnTo>
                  <a:lnTo>
                    <a:pt x="132645" y="2667000"/>
                  </a:lnTo>
                  <a:lnTo>
                    <a:pt x="132645" y="2832100"/>
                  </a:lnTo>
                  <a:lnTo>
                    <a:pt x="129410" y="2870200"/>
                  </a:lnTo>
                  <a:lnTo>
                    <a:pt x="121322" y="2933700"/>
                  </a:lnTo>
                  <a:lnTo>
                    <a:pt x="101910" y="3022600"/>
                  </a:lnTo>
                  <a:lnTo>
                    <a:pt x="74410" y="3149600"/>
                  </a:lnTo>
                  <a:lnTo>
                    <a:pt x="67940" y="3200400"/>
                  </a:lnTo>
                  <a:lnTo>
                    <a:pt x="100293" y="3073400"/>
                  </a:lnTo>
                  <a:lnTo>
                    <a:pt x="111616" y="2997200"/>
                  </a:lnTo>
                  <a:lnTo>
                    <a:pt x="124557" y="2933700"/>
                  </a:lnTo>
                  <a:lnTo>
                    <a:pt x="129410" y="2908300"/>
                  </a:lnTo>
                  <a:lnTo>
                    <a:pt x="134263" y="2819400"/>
                  </a:lnTo>
                  <a:lnTo>
                    <a:pt x="143969" y="2768600"/>
                  </a:lnTo>
                  <a:lnTo>
                    <a:pt x="153675" y="2705100"/>
                  </a:lnTo>
                  <a:lnTo>
                    <a:pt x="153675" y="2667000"/>
                  </a:lnTo>
                  <a:lnTo>
                    <a:pt x="155292" y="2628900"/>
                  </a:lnTo>
                  <a:lnTo>
                    <a:pt x="158527" y="2616200"/>
                  </a:lnTo>
                  <a:lnTo>
                    <a:pt x="171469" y="2552700"/>
                  </a:lnTo>
                  <a:lnTo>
                    <a:pt x="190880" y="2438400"/>
                  </a:lnTo>
                  <a:lnTo>
                    <a:pt x="202203" y="2387600"/>
                  </a:lnTo>
                  <a:lnTo>
                    <a:pt x="215144" y="2311400"/>
                  </a:lnTo>
                  <a:lnTo>
                    <a:pt x="224850" y="2260600"/>
                  </a:lnTo>
                  <a:lnTo>
                    <a:pt x="241027" y="2197100"/>
                  </a:lnTo>
                  <a:lnTo>
                    <a:pt x="242644" y="2159000"/>
                  </a:lnTo>
                  <a:lnTo>
                    <a:pt x="245880" y="2120900"/>
                  </a:lnTo>
                  <a:lnTo>
                    <a:pt x="262802" y="2060508"/>
                  </a:lnTo>
                  <a:lnTo>
                    <a:pt x="255585" y="2019300"/>
                  </a:lnTo>
                  <a:lnTo>
                    <a:pt x="252350" y="1968500"/>
                  </a:lnTo>
                  <a:lnTo>
                    <a:pt x="252350" y="1828800"/>
                  </a:lnTo>
                  <a:lnTo>
                    <a:pt x="258821" y="1752600"/>
                  </a:lnTo>
                  <a:lnTo>
                    <a:pt x="279850" y="1612900"/>
                  </a:lnTo>
                  <a:lnTo>
                    <a:pt x="284703" y="1536700"/>
                  </a:lnTo>
                  <a:lnTo>
                    <a:pt x="284703" y="1155700"/>
                  </a:lnTo>
                  <a:lnTo>
                    <a:pt x="278232" y="1092200"/>
                  </a:lnTo>
                  <a:lnTo>
                    <a:pt x="270144" y="1041400"/>
                  </a:lnTo>
                  <a:lnTo>
                    <a:pt x="263673" y="990600"/>
                  </a:lnTo>
                  <a:lnTo>
                    <a:pt x="262415" y="812800"/>
                  </a:lnTo>
                  <a:lnTo>
                    <a:pt x="262325" y="800100"/>
                  </a:lnTo>
                  <a:lnTo>
                    <a:pt x="262235" y="787400"/>
                  </a:lnTo>
                  <a:lnTo>
                    <a:pt x="262145" y="774700"/>
                  </a:lnTo>
                  <a:lnTo>
                    <a:pt x="262056" y="762000"/>
                  </a:lnTo>
                  <a:lnTo>
                    <a:pt x="258821" y="736600"/>
                  </a:lnTo>
                  <a:lnTo>
                    <a:pt x="252350" y="698500"/>
                  </a:lnTo>
                  <a:lnTo>
                    <a:pt x="252350" y="622300"/>
                  </a:lnTo>
                  <a:lnTo>
                    <a:pt x="250732" y="584200"/>
                  </a:lnTo>
                  <a:lnTo>
                    <a:pt x="245880" y="546100"/>
                  </a:lnTo>
                  <a:lnTo>
                    <a:pt x="252350" y="546100"/>
                  </a:lnTo>
                  <a:lnTo>
                    <a:pt x="307349" y="520700"/>
                  </a:lnTo>
                  <a:lnTo>
                    <a:pt x="331614" y="514015"/>
                  </a:lnTo>
                  <a:lnTo>
                    <a:pt x="331614" y="495300"/>
                  </a:lnTo>
                  <a:lnTo>
                    <a:pt x="334849" y="495300"/>
                  </a:lnTo>
                  <a:lnTo>
                    <a:pt x="339702" y="482600"/>
                  </a:lnTo>
                  <a:lnTo>
                    <a:pt x="347790" y="457200"/>
                  </a:lnTo>
                  <a:lnTo>
                    <a:pt x="351025" y="457200"/>
                  </a:lnTo>
                  <a:lnTo>
                    <a:pt x="352643" y="431800"/>
                  </a:lnTo>
                  <a:lnTo>
                    <a:pt x="624405" y="431800"/>
                  </a:lnTo>
                  <a:lnTo>
                    <a:pt x="753815" y="393700"/>
                  </a:lnTo>
                  <a:lnTo>
                    <a:pt x="844403" y="368300"/>
                  </a:lnTo>
                  <a:lnTo>
                    <a:pt x="954402" y="342900"/>
                  </a:lnTo>
                  <a:lnTo>
                    <a:pt x="1193811" y="279400"/>
                  </a:lnTo>
                  <a:lnTo>
                    <a:pt x="1326457" y="254000"/>
                  </a:lnTo>
                  <a:lnTo>
                    <a:pt x="1451014" y="228600"/>
                  </a:lnTo>
                  <a:lnTo>
                    <a:pt x="1583660" y="203200"/>
                  </a:lnTo>
                  <a:lnTo>
                    <a:pt x="1667777" y="203200"/>
                  </a:lnTo>
                  <a:lnTo>
                    <a:pt x="1802040" y="190500"/>
                  </a:lnTo>
                  <a:lnTo>
                    <a:pt x="2358505" y="152400"/>
                  </a:lnTo>
                  <a:lnTo>
                    <a:pt x="4729952" y="152400"/>
                  </a:lnTo>
                  <a:lnTo>
                    <a:pt x="4493778" y="139700"/>
                  </a:lnTo>
                  <a:lnTo>
                    <a:pt x="4317456" y="114300"/>
                  </a:lnTo>
                  <a:lnTo>
                    <a:pt x="4118488" y="88900"/>
                  </a:lnTo>
                  <a:lnTo>
                    <a:pt x="3874225" y="50800"/>
                  </a:lnTo>
                  <a:lnTo>
                    <a:pt x="3832167" y="50800"/>
                  </a:lnTo>
                  <a:lnTo>
                    <a:pt x="3741580" y="38100"/>
                  </a:lnTo>
                  <a:lnTo>
                    <a:pt x="3502170" y="38100"/>
                  </a:lnTo>
                  <a:lnTo>
                    <a:pt x="2937617" y="0"/>
                  </a:lnTo>
                  <a:close/>
                </a:path>
                <a:path w="6624320" h="4254500">
                  <a:moveTo>
                    <a:pt x="504701" y="431800"/>
                  </a:moveTo>
                  <a:lnTo>
                    <a:pt x="352643" y="431800"/>
                  </a:lnTo>
                  <a:lnTo>
                    <a:pt x="351025" y="457200"/>
                  </a:lnTo>
                  <a:lnTo>
                    <a:pt x="347790" y="457200"/>
                  </a:lnTo>
                  <a:lnTo>
                    <a:pt x="339702" y="482600"/>
                  </a:lnTo>
                  <a:lnTo>
                    <a:pt x="334849" y="495300"/>
                  </a:lnTo>
                  <a:lnTo>
                    <a:pt x="331614" y="495300"/>
                  </a:lnTo>
                  <a:lnTo>
                    <a:pt x="331614" y="514015"/>
                  </a:lnTo>
                  <a:lnTo>
                    <a:pt x="494995" y="469900"/>
                  </a:lnTo>
                  <a:lnTo>
                    <a:pt x="504701" y="467042"/>
                  </a:lnTo>
                  <a:lnTo>
                    <a:pt x="504701" y="431800"/>
                  </a:lnTo>
                  <a:close/>
                </a:path>
                <a:path w="6624320" h="4254500">
                  <a:moveTo>
                    <a:pt x="624405" y="431800"/>
                  </a:moveTo>
                  <a:lnTo>
                    <a:pt x="504701" y="431800"/>
                  </a:lnTo>
                  <a:lnTo>
                    <a:pt x="504701" y="467042"/>
                  </a:lnTo>
                  <a:lnTo>
                    <a:pt x="624405" y="431800"/>
                  </a:lnTo>
                  <a:close/>
                </a:path>
              </a:pathLst>
            </a:custGeom>
            <a:solidFill>
              <a:srgbClr val="D93025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4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55" dirty="0"/>
              <a:t>Diuréticos</a:t>
            </a:r>
            <a:r>
              <a:rPr sz="3600" spc="-190" dirty="0"/>
              <a:t> </a:t>
            </a:r>
            <a:r>
              <a:rPr sz="3600" spc="-335" dirty="0"/>
              <a:t>osmóticos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182052" y="1958340"/>
            <a:ext cx="6007100" cy="391160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2000" i="1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Glicerina,</a:t>
            </a:r>
            <a:r>
              <a:rPr sz="2000" i="1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i="1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isosorbida,</a:t>
            </a:r>
            <a:r>
              <a:rPr sz="2000" i="1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i="1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manitol</a:t>
            </a:r>
            <a:r>
              <a:rPr sz="2000" i="1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i="1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y</a:t>
            </a:r>
            <a:r>
              <a:rPr sz="2000" i="1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i="1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urea</a:t>
            </a:r>
            <a:endParaRPr sz="2000">
              <a:latin typeface="Verdana" panose="020B0604030504040204"/>
              <a:cs typeface="Verdana" panose="020B0604030504040204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2000" spc="1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Reacciones</a:t>
            </a:r>
            <a:r>
              <a:rPr sz="2000" spc="-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9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adversas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000" spc="19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Edema</a:t>
            </a:r>
            <a:r>
              <a:rPr sz="2000" spc="-8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pulmonar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000" spc="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Hiper</a:t>
            </a:r>
            <a:r>
              <a:rPr sz="2000" spc="-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21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o</a:t>
            </a:r>
            <a:r>
              <a:rPr sz="20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0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hiponatremia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  <a:spcBef>
                <a:spcPts val="1980"/>
              </a:spcBef>
            </a:pPr>
            <a:endParaRPr sz="20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</a:pPr>
            <a:r>
              <a:rPr sz="2000" spc="13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Contraindicaciones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000" spc="1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Manitol</a:t>
            </a:r>
            <a:r>
              <a:rPr sz="2000" spc="-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y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urea</a:t>
            </a:r>
            <a:r>
              <a:rPr sz="2000" spc="-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-1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–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4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sangrado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intracraneal</a:t>
            </a:r>
            <a:r>
              <a:rPr sz="2000" spc="-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4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activo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000" spc="9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Urea</a:t>
            </a:r>
            <a:r>
              <a:rPr sz="2000" spc="-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-1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–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enfermedad</a:t>
            </a:r>
            <a:r>
              <a:rPr sz="20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9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hepatica</a:t>
            </a:r>
            <a:r>
              <a:rPr sz="20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4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grave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000" spc="12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Glicerina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-1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–</a:t>
            </a:r>
            <a:r>
              <a:rPr sz="2000" spc="-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3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diabéticos</a:t>
            </a:r>
            <a:endParaRPr sz="200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4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55" dirty="0"/>
              <a:t>Diuréticos</a:t>
            </a:r>
            <a:r>
              <a:rPr sz="3600" spc="-190" dirty="0"/>
              <a:t> </a:t>
            </a:r>
            <a:r>
              <a:rPr sz="3600" spc="-335" dirty="0"/>
              <a:t>osmóticos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182052" y="1958340"/>
            <a:ext cx="9229090" cy="409194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2000" i="1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Glicerina,</a:t>
            </a:r>
            <a:r>
              <a:rPr sz="2000" i="1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i="1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isosorbida,</a:t>
            </a:r>
            <a:r>
              <a:rPr sz="2000" i="1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i="1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manitol</a:t>
            </a:r>
            <a:r>
              <a:rPr sz="2000" i="1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i="1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y</a:t>
            </a:r>
            <a:r>
              <a:rPr sz="2000" i="1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i="1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urea</a:t>
            </a:r>
            <a:endParaRPr sz="2000">
              <a:latin typeface="Verdana" panose="020B0604030504040204"/>
              <a:cs typeface="Verdana" panose="020B0604030504040204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2000" spc="114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Indicaciones</a:t>
            </a:r>
            <a:r>
              <a:rPr sz="2000" spc="-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14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terapeuticas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000" spc="8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Sindrome</a:t>
            </a:r>
            <a:r>
              <a:rPr sz="2000" spc="-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2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de</a:t>
            </a:r>
            <a:r>
              <a:rPr sz="20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8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desequilibrio</a:t>
            </a:r>
            <a:r>
              <a:rPr sz="2000" spc="-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14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por</a:t>
            </a:r>
            <a:r>
              <a:rPr sz="2000" spc="-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dialisis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000" spc="2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Glaucoma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000" spc="10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Control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2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de</a:t>
            </a:r>
            <a:r>
              <a:rPr sz="20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14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la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presió</a:t>
            </a:r>
            <a:r>
              <a:rPr sz="20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0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intracraneal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en</a:t>
            </a:r>
            <a:r>
              <a:rPr sz="2000" spc="-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TCE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000" spc="10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Control</a:t>
            </a:r>
            <a:r>
              <a:rPr sz="2000" spc="-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2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de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2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edema</a:t>
            </a:r>
            <a:r>
              <a:rPr sz="20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y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masa</a:t>
            </a:r>
            <a:r>
              <a:rPr sz="20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3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cerebral</a:t>
            </a:r>
            <a:r>
              <a:rPr sz="20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en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4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procedimiento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neuroquirúrgicos.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355600" marR="13335" indent="-342900">
              <a:lnSpc>
                <a:spcPct val="100000"/>
              </a:lnSpc>
              <a:spcBef>
                <a:spcPts val="910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000" spc="1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Aumento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2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de</a:t>
            </a:r>
            <a:r>
              <a:rPr sz="20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14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la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excrecio</a:t>
            </a:r>
            <a:r>
              <a:rPr sz="2000" spc="125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́</a:t>
            </a:r>
            <a:r>
              <a:rPr sz="2000" spc="1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n</a:t>
            </a:r>
            <a:r>
              <a:rPr sz="2000" spc="-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urinaria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2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de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salicilatos,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barbitu</a:t>
            </a:r>
            <a:r>
              <a:rPr sz="2000" spc="65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́</a:t>
            </a:r>
            <a:r>
              <a:rPr sz="2000" spc="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ricos,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bromuros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2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y </a:t>
            </a:r>
            <a:r>
              <a:rPr sz="2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litio</a:t>
            </a:r>
            <a:r>
              <a:rPr sz="20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0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despue</a:t>
            </a:r>
            <a:r>
              <a:rPr sz="2000" spc="105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́</a:t>
            </a:r>
            <a:r>
              <a:rPr sz="2000" spc="10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s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2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de</a:t>
            </a:r>
            <a:r>
              <a:rPr sz="20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una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sobredosis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355600" marR="1591310" indent="-342900">
              <a:lnSpc>
                <a:spcPct val="105000"/>
              </a:lnSpc>
              <a:spcBef>
                <a:spcPts val="865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000" spc="4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Irrigacio</a:t>
            </a:r>
            <a:r>
              <a:rPr sz="2000" spc="45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́</a:t>
            </a:r>
            <a:r>
              <a:rPr sz="2000" spc="4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n</a:t>
            </a:r>
            <a:r>
              <a:rPr sz="2000" spc="-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14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urolo</a:t>
            </a:r>
            <a:r>
              <a:rPr sz="2000" spc="114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́</a:t>
            </a:r>
            <a:r>
              <a:rPr sz="2000" spc="114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gica</a:t>
            </a:r>
            <a:r>
              <a:rPr sz="2000" spc="-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antihemoli</a:t>
            </a:r>
            <a:r>
              <a:rPr sz="2000" spc="10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́</a:t>
            </a:r>
            <a:r>
              <a:rPr sz="2000" spc="1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tica</a:t>
            </a:r>
            <a:r>
              <a:rPr sz="2000" spc="-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durante</a:t>
            </a:r>
            <a:r>
              <a:rPr sz="2000" spc="-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procedimientos </a:t>
            </a:r>
            <a:r>
              <a:rPr sz="2000" spc="-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transuretrales.</a:t>
            </a:r>
            <a:endParaRPr sz="200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/>
          <p:nvPr/>
        </p:nvSpPr>
        <p:spPr>
          <a:xfrm>
            <a:off x="724851" y="852932"/>
            <a:ext cx="385635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355" dirty="0">
                <a:solidFill>
                  <a:srgbClr val="DBEFF9"/>
                </a:solidFill>
                <a:latin typeface="Verdana" panose="020B0604030504040204"/>
                <a:cs typeface="Verdana" panose="020B0604030504040204"/>
              </a:rPr>
              <a:t>Diuréticos</a:t>
            </a:r>
            <a:r>
              <a:rPr sz="3600" b="1" spc="-195" dirty="0">
                <a:solidFill>
                  <a:srgbClr val="DBEFF9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600" b="1" spc="-135" dirty="0">
                <a:solidFill>
                  <a:srgbClr val="DBEFF9"/>
                </a:solidFill>
                <a:latin typeface="Verdana" panose="020B0604030504040204"/>
                <a:cs typeface="Verdana" panose="020B0604030504040204"/>
              </a:rPr>
              <a:t>de</a:t>
            </a:r>
            <a:r>
              <a:rPr sz="3600" b="1" spc="-200" dirty="0">
                <a:solidFill>
                  <a:srgbClr val="DBEFF9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600" b="1" spc="-140" dirty="0">
                <a:solidFill>
                  <a:srgbClr val="DBEFF9"/>
                </a:solidFill>
                <a:latin typeface="Verdana" panose="020B0604030504040204"/>
                <a:cs typeface="Verdana" panose="020B0604030504040204"/>
              </a:rPr>
              <a:t>asa</a:t>
            </a:r>
            <a:endParaRPr sz="36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82052" y="2086356"/>
            <a:ext cx="28225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Mecanismo</a:t>
            </a:r>
            <a:r>
              <a:rPr sz="20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2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de</a:t>
            </a:r>
            <a:r>
              <a:rPr sz="2000" spc="-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2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acción</a:t>
            </a:r>
            <a:endParaRPr sz="2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94752" y="2154935"/>
            <a:ext cx="2796540" cy="201930"/>
          </a:xfrm>
          <a:custGeom>
            <a:avLst/>
            <a:gdLst/>
            <a:ahLst/>
            <a:cxnLst/>
            <a:rect l="l" t="t" r="r" b="b"/>
            <a:pathLst>
              <a:path w="2796540" h="201930">
                <a:moveTo>
                  <a:pt x="2796514" y="0"/>
                </a:moveTo>
                <a:lnTo>
                  <a:pt x="0" y="0"/>
                </a:lnTo>
                <a:lnTo>
                  <a:pt x="0" y="201421"/>
                </a:lnTo>
                <a:lnTo>
                  <a:pt x="2796514" y="201421"/>
                </a:lnTo>
                <a:lnTo>
                  <a:pt x="2796514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37551" y="947928"/>
            <a:ext cx="3829685" cy="381000"/>
          </a:xfrm>
          <a:custGeom>
            <a:avLst/>
            <a:gdLst/>
            <a:ahLst/>
            <a:cxnLst/>
            <a:rect l="l" t="t" r="r" b="b"/>
            <a:pathLst>
              <a:path w="3829685" h="381000">
                <a:moveTo>
                  <a:pt x="3829690" y="0"/>
                </a:moveTo>
                <a:lnTo>
                  <a:pt x="0" y="0"/>
                </a:lnTo>
                <a:lnTo>
                  <a:pt x="0" y="380847"/>
                </a:lnTo>
                <a:lnTo>
                  <a:pt x="3829690" y="380847"/>
                </a:lnTo>
                <a:lnTo>
                  <a:pt x="3829690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4370832" y="2051304"/>
            <a:ext cx="5550535" cy="4706620"/>
            <a:chOff x="4370832" y="2051304"/>
            <a:chExt cx="5550535" cy="4706620"/>
          </a:xfrm>
        </p:grpSpPr>
        <p:pic>
          <p:nvPicPr>
            <p:cNvPr id="7" name="object 7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370832" y="2051304"/>
              <a:ext cx="5550408" cy="470611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389035" y="2297952"/>
              <a:ext cx="5344795" cy="471170"/>
            </a:xfrm>
            <a:custGeom>
              <a:avLst/>
              <a:gdLst/>
              <a:ahLst/>
              <a:cxnLst/>
              <a:rect l="l" t="t" r="r" b="b"/>
              <a:pathLst>
                <a:path w="5344795" h="471169">
                  <a:moveTo>
                    <a:pt x="2661002" y="0"/>
                  </a:moveTo>
                  <a:lnTo>
                    <a:pt x="713863" y="0"/>
                  </a:lnTo>
                  <a:lnTo>
                    <a:pt x="646000" y="10160"/>
                  </a:lnTo>
                  <a:lnTo>
                    <a:pt x="562477" y="10160"/>
                  </a:lnTo>
                  <a:lnTo>
                    <a:pt x="554647" y="11430"/>
                  </a:lnTo>
                  <a:lnTo>
                    <a:pt x="528546" y="16510"/>
                  </a:lnTo>
                  <a:lnTo>
                    <a:pt x="465903" y="26670"/>
                  </a:lnTo>
                  <a:lnTo>
                    <a:pt x="323653" y="53340"/>
                  </a:lnTo>
                  <a:lnTo>
                    <a:pt x="220554" y="82550"/>
                  </a:lnTo>
                  <a:lnTo>
                    <a:pt x="131810" y="104140"/>
                  </a:lnTo>
                  <a:lnTo>
                    <a:pt x="20880" y="133350"/>
                  </a:lnTo>
                  <a:lnTo>
                    <a:pt x="11745" y="142240"/>
                  </a:lnTo>
                  <a:lnTo>
                    <a:pt x="11671" y="151130"/>
                  </a:lnTo>
                  <a:lnTo>
                    <a:pt x="11577" y="162560"/>
                  </a:lnTo>
                  <a:lnTo>
                    <a:pt x="11482" y="173990"/>
                  </a:lnTo>
                  <a:lnTo>
                    <a:pt x="11376" y="186690"/>
                  </a:lnTo>
                  <a:lnTo>
                    <a:pt x="11250" y="201930"/>
                  </a:lnTo>
                  <a:lnTo>
                    <a:pt x="11124" y="217170"/>
                  </a:lnTo>
                  <a:lnTo>
                    <a:pt x="11019" y="229870"/>
                  </a:lnTo>
                  <a:lnTo>
                    <a:pt x="10924" y="241300"/>
                  </a:lnTo>
                  <a:lnTo>
                    <a:pt x="10808" y="255270"/>
                  </a:lnTo>
                  <a:lnTo>
                    <a:pt x="10692" y="269240"/>
                  </a:lnTo>
                  <a:lnTo>
                    <a:pt x="10566" y="284480"/>
                  </a:lnTo>
                  <a:lnTo>
                    <a:pt x="10440" y="299720"/>
                  </a:lnTo>
                  <a:lnTo>
                    <a:pt x="11745" y="302260"/>
                  </a:lnTo>
                  <a:lnTo>
                    <a:pt x="22185" y="309880"/>
                  </a:lnTo>
                  <a:lnTo>
                    <a:pt x="22185" y="322580"/>
                  </a:lnTo>
                  <a:lnTo>
                    <a:pt x="32625" y="356870"/>
                  </a:lnTo>
                  <a:lnTo>
                    <a:pt x="32625" y="426720"/>
                  </a:lnTo>
                  <a:lnTo>
                    <a:pt x="62642" y="427990"/>
                  </a:lnTo>
                  <a:lnTo>
                    <a:pt x="63947" y="427990"/>
                  </a:lnTo>
                  <a:lnTo>
                    <a:pt x="66557" y="433070"/>
                  </a:lnTo>
                  <a:lnTo>
                    <a:pt x="71777" y="438150"/>
                  </a:lnTo>
                  <a:lnTo>
                    <a:pt x="86133" y="438150"/>
                  </a:lnTo>
                  <a:lnTo>
                    <a:pt x="91353" y="439420"/>
                  </a:lnTo>
                  <a:lnTo>
                    <a:pt x="116149" y="449580"/>
                  </a:lnTo>
                  <a:lnTo>
                    <a:pt x="135725" y="449580"/>
                  </a:lnTo>
                  <a:lnTo>
                    <a:pt x="139640" y="450850"/>
                  </a:lnTo>
                  <a:lnTo>
                    <a:pt x="160521" y="461010"/>
                  </a:lnTo>
                  <a:lnTo>
                    <a:pt x="250569" y="461010"/>
                  </a:lnTo>
                  <a:lnTo>
                    <a:pt x="268840" y="471170"/>
                  </a:lnTo>
                  <a:lnTo>
                    <a:pt x="1077973" y="471170"/>
                  </a:lnTo>
                  <a:lnTo>
                    <a:pt x="1134091" y="463550"/>
                  </a:lnTo>
                  <a:lnTo>
                    <a:pt x="1166717" y="461010"/>
                  </a:lnTo>
                  <a:lnTo>
                    <a:pt x="1245020" y="450850"/>
                  </a:lnTo>
                  <a:lnTo>
                    <a:pt x="1429032" y="448310"/>
                  </a:lnTo>
                  <a:lnTo>
                    <a:pt x="1528216" y="434340"/>
                  </a:lnTo>
                  <a:lnTo>
                    <a:pt x="1605215" y="417830"/>
                  </a:lnTo>
                  <a:lnTo>
                    <a:pt x="1731805" y="416560"/>
                  </a:lnTo>
                  <a:lnTo>
                    <a:pt x="1740940" y="416560"/>
                  </a:lnTo>
                  <a:lnTo>
                    <a:pt x="1764431" y="407670"/>
                  </a:lnTo>
                  <a:lnTo>
                    <a:pt x="1778787" y="405130"/>
                  </a:lnTo>
                  <a:lnTo>
                    <a:pt x="1800973" y="394970"/>
                  </a:lnTo>
                  <a:lnTo>
                    <a:pt x="1893631" y="394970"/>
                  </a:lnTo>
                  <a:lnTo>
                    <a:pt x="1926257" y="393700"/>
                  </a:lnTo>
                  <a:lnTo>
                    <a:pt x="1974545" y="384810"/>
                  </a:lnTo>
                  <a:lnTo>
                    <a:pt x="1999341" y="383540"/>
                  </a:lnTo>
                  <a:lnTo>
                    <a:pt x="2009781" y="383540"/>
                  </a:lnTo>
                  <a:lnTo>
                    <a:pt x="2031967" y="374650"/>
                  </a:lnTo>
                  <a:lnTo>
                    <a:pt x="2051543" y="372110"/>
                  </a:lnTo>
                  <a:lnTo>
                    <a:pt x="2128541" y="363220"/>
                  </a:lnTo>
                  <a:lnTo>
                    <a:pt x="2189878" y="361950"/>
                  </a:lnTo>
                  <a:lnTo>
                    <a:pt x="2300808" y="351790"/>
                  </a:lnTo>
                  <a:lnTo>
                    <a:pt x="4926574" y="350520"/>
                  </a:lnTo>
                  <a:lnTo>
                    <a:pt x="4955286" y="349250"/>
                  </a:lnTo>
                  <a:lnTo>
                    <a:pt x="5007488" y="340360"/>
                  </a:lnTo>
                  <a:lnTo>
                    <a:pt x="5055775" y="339090"/>
                  </a:lnTo>
                  <a:lnTo>
                    <a:pt x="152691" y="339090"/>
                  </a:lnTo>
                  <a:lnTo>
                    <a:pt x="153996" y="328930"/>
                  </a:lnTo>
                  <a:lnTo>
                    <a:pt x="709948" y="327660"/>
                  </a:lnTo>
                  <a:lnTo>
                    <a:pt x="848121" y="318770"/>
                  </a:lnTo>
                  <a:lnTo>
                    <a:pt x="421532" y="318770"/>
                  </a:lnTo>
                  <a:lnTo>
                    <a:pt x="403261" y="308610"/>
                  </a:lnTo>
                  <a:lnTo>
                    <a:pt x="319737" y="308610"/>
                  </a:lnTo>
                  <a:lnTo>
                    <a:pt x="306687" y="306070"/>
                  </a:lnTo>
                  <a:lnTo>
                    <a:pt x="292331" y="298450"/>
                  </a:lnTo>
                  <a:lnTo>
                    <a:pt x="279281" y="297180"/>
                  </a:lnTo>
                  <a:lnTo>
                    <a:pt x="263620" y="294640"/>
                  </a:lnTo>
                  <a:lnTo>
                    <a:pt x="242739" y="287020"/>
                  </a:lnTo>
                  <a:lnTo>
                    <a:pt x="228384" y="285750"/>
                  </a:lnTo>
                  <a:lnTo>
                    <a:pt x="221858" y="283210"/>
                  </a:lnTo>
                  <a:lnTo>
                    <a:pt x="215333" y="275590"/>
                  </a:lnTo>
                  <a:lnTo>
                    <a:pt x="212723" y="275590"/>
                  </a:lnTo>
                  <a:lnTo>
                    <a:pt x="314517" y="248920"/>
                  </a:lnTo>
                  <a:lnTo>
                    <a:pt x="373245" y="234950"/>
                  </a:lnTo>
                  <a:lnTo>
                    <a:pt x="475039" y="205740"/>
                  </a:lnTo>
                  <a:lnTo>
                    <a:pt x="618595" y="179070"/>
                  </a:lnTo>
                  <a:lnTo>
                    <a:pt x="633929" y="176530"/>
                  </a:lnTo>
                  <a:lnTo>
                    <a:pt x="9135" y="176530"/>
                  </a:lnTo>
                  <a:lnTo>
                    <a:pt x="557257" y="175260"/>
                  </a:lnTo>
                  <a:lnTo>
                    <a:pt x="692681" y="166546"/>
                  </a:lnTo>
                  <a:lnTo>
                    <a:pt x="713863" y="162560"/>
                  </a:lnTo>
                  <a:lnTo>
                    <a:pt x="797387" y="162560"/>
                  </a:lnTo>
                  <a:lnTo>
                    <a:pt x="866554" y="152400"/>
                  </a:lnTo>
                  <a:lnTo>
                    <a:pt x="1013155" y="152400"/>
                  </a:lnTo>
                  <a:lnTo>
                    <a:pt x="1147141" y="138430"/>
                  </a:lnTo>
                  <a:lnTo>
                    <a:pt x="1229359" y="124460"/>
                  </a:lnTo>
                  <a:lnTo>
                    <a:pt x="1271121" y="120650"/>
                  </a:lnTo>
                  <a:lnTo>
                    <a:pt x="1311578" y="120650"/>
                  </a:lnTo>
                  <a:lnTo>
                    <a:pt x="1362475" y="114300"/>
                  </a:lnTo>
                  <a:lnTo>
                    <a:pt x="1397711" y="110490"/>
                  </a:lnTo>
                  <a:lnTo>
                    <a:pt x="4031308" y="110490"/>
                  </a:lnTo>
                  <a:lnTo>
                    <a:pt x="4057409" y="105410"/>
                  </a:lnTo>
                  <a:lnTo>
                    <a:pt x="4083510" y="99060"/>
                  </a:lnTo>
                  <a:lnTo>
                    <a:pt x="5169314" y="99060"/>
                  </a:lnTo>
                  <a:lnTo>
                    <a:pt x="5169314" y="44450"/>
                  </a:lnTo>
                  <a:lnTo>
                    <a:pt x="5145823" y="44450"/>
                  </a:lnTo>
                  <a:lnTo>
                    <a:pt x="5135383" y="43180"/>
                  </a:lnTo>
                  <a:lnTo>
                    <a:pt x="5070130" y="33020"/>
                  </a:lnTo>
                  <a:lnTo>
                    <a:pt x="3502762" y="33020"/>
                  </a:lnTo>
                  <a:lnTo>
                    <a:pt x="3471440" y="31750"/>
                  </a:lnTo>
                  <a:lnTo>
                    <a:pt x="3338325" y="22860"/>
                  </a:lnTo>
                  <a:lnTo>
                    <a:pt x="3051213" y="21590"/>
                  </a:lnTo>
                  <a:lnTo>
                    <a:pt x="2922013" y="12700"/>
                  </a:lnTo>
                  <a:lnTo>
                    <a:pt x="2821524" y="10160"/>
                  </a:lnTo>
                  <a:lnTo>
                    <a:pt x="2661002" y="0"/>
                  </a:lnTo>
                  <a:close/>
                </a:path>
                <a:path w="5344795" h="471169">
                  <a:moveTo>
                    <a:pt x="4926574" y="350520"/>
                  </a:moveTo>
                  <a:lnTo>
                    <a:pt x="3079925" y="350520"/>
                  </a:lnTo>
                  <a:lnTo>
                    <a:pt x="3098195" y="351790"/>
                  </a:lnTo>
                  <a:lnTo>
                    <a:pt x="3171278" y="360680"/>
                  </a:lnTo>
                  <a:lnTo>
                    <a:pt x="3246971" y="361950"/>
                  </a:lnTo>
                  <a:lnTo>
                    <a:pt x="3317444" y="370840"/>
                  </a:lnTo>
                  <a:lnTo>
                    <a:pt x="3377476" y="372110"/>
                  </a:lnTo>
                  <a:lnTo>
                    <a:pt x="3395747" y="373380"/>
                  </a:lnTo>
                  <a:lnTo>
                    <a:pt x="3488406" y="383540"/>
                  </a:lnTo>
                  <a:lnTo>
                    <a:pt x="4297539" y="383540"/>
                  </a:lnTo>
                  <a:lnTo>
                    <a:pt x="4386282" y="373380"/>
                  </a:lnTo>
                  <a:lnTo>
                    <a:pt x="4438484" y="372110"/>
                  </a:lnTo>
                  <a:lnTo>
                    <a:pt x="4456755" y="372110"/>
                  </a:lnTo>
                  <a:lnTo>
                    <a:pt x="4527228" y="361950"/>
                  </a:lnTo>
                  <a:lnTo>
                    <a:pt x="4854797" y="361950"/>
                  </a:lnTo>
                  <a:lnTo>
                    <a:pt x="4865237" y="360680"/>
                  </a:lnTo>
                  <a:lnTo>
                    <a:pt x="4879592" y="354330"/>
                  </a:lnTo>
                  <a:lnTo>
                    <a:pt x="4895253" y="351790"/>
                  </a:lnTo>
                  <a:lnTo>
                    <a:pt x="4926574" y="350520"/>
                  </a:lnTo>
                  <a:close/>
                </a:path>
                <a:path w="5344795" h="471169">
                  <a:moveTo>
                    <a:pt x="11461" y="176530"/>
                  </a:moveTo>
                  <a:lnTo>
                    <a:pt x="0" y="176530"/>
                  </a:lnTo>
                  <a:lnTo>
                    <a:pt x="0" y="339090"/>
                  </a:lnTo>
                  <a:lnTo>
                    <a:pt x="27212" y="339090"/>
                  </a:lnTo>
                  <a:lnTo>
                    <a:pt x="22185" y="322580"/>
                  </a:lnTo>
                  <a:lnTo>
                    <a:pt x="22185" y="309880"/>
                  </a:lnTo>
                  <a:lnTo>
                    <a:pt x="11745" y="302260"/>
                  </a:lnTo>
                  <a:lnTo>
                    <a:pt x="10440" y="299720"/>
                  </a:lnTo>
                  <a:lnTo>
                    <a:pt x="10566" y="284480"/>
                  </a:lnTo>
                  <a:lnTo>
                    <a:pt x="10692" y="269240"/>
                  </a:lnTo>
                  <a:lnTo>
                    <a:pt x="10808" y="255270"/>
                  </a:lnTo>
                  <a:lnTo>
                    <a:pt x="10924" y="241300"/>
                  </a:lnTo>
                  <a:lnTo>
                    <a:pt x="11019" y="229870"/>
                  </a:lnTo>
                  <a:lnTo>
                    <a:pt x="11124" y="217170"/>
                  </a:lnTo>
                  <a:lnTo>
                    <a:pt x="11250" y="201930"/>
                  </a:lnTo>
                  <a:lnTo>
                    <a:pt x="11376" y="186690"/>
                  </a:lnTo>
                  <a:lnTo>
                    <a:pt x="11461" y="176530"/>
                  </a:lnTo>
                  <a:close/>
                </a:path>
                <a:path w="5344795" h="471169">
                  <a:moveTo>
                    <a:pt x="5306345" y="262890"/>
                  </a:moveTo>
                  <a:lnTo>
                    <a:pt x="4084815" y="262890"/>
                  </a:lnTo>
                  <a:lnTo>
                    <a:pt x="3972581" y="273050"/>
                  </a:lnTo>
                  <a:lnTo>
                    <a:pt x="3688079" y="273050"/>
                  </a:lnTo>
                  <a:lnTo>
                    <a:pt x="3581065" y="287020"/>
                  </a:lnTo>
                  <a:lnTo>
                    <a:pt x="3357901" y="303530"/>
                  </a:lnTo>
                  <a:lnTo>
                    <a:pt x="3284818" y="306070"/>
                  </a:lnTo>
                  <a:lnTo>
                    <a:pt x="1054482" y="306070"/>
                  </a:lnTo>
                  <a:lnTo>
                    <a:pt x="982705" y="316230"/>
                  </a:lnTo>
                  <a:lnTo>
                    <a:pt x="937510" y="317109"/>
                  </a:lnTo>
                  <a:lnTo>
                    <a:pt x="925282" y="318770"/>
                  </a:lnTo>
                  <a:lnTo>
                    <a:pt x="848121" y="318770"/>
                  </a:lnTo>
                  <a:lnTo>
                    <a:pt x="709948" y="327660"/>
                  </a:lnTo>
                  <a:lnTo>
                    <a:pt x="153996" y="328930"/>
                  </a:lnTo>
                  <a:lnTo>
                    <a:pt x="152691" y="339090"/>
                  </a:lnTo>
                  <a:lnTo>
                    <a:pt x="5063604" y="339090"/>
                  </a:lnTo>
                  <a:lnTo>
                    <a:pt x="5113197" y="328930"/>
                  </a:lnTo>
                  <a:lnTo>
                    <a:pt x="5139297" y="328930"/>
                  </a:lnTo>
                  <a:lnTo>
                    <a:pt x="5151044" y="327660"/>
                  </a:lnTo>
                  <a:lnTo>
                    <a:pt x="5161484" y="320040"/>
                  </a:lnTo>
                  <a:lnTo>
                    <a:pt x="5174535" y="314960"/>
                  </a:lnTo>
                  <a:lnTo>
                    <a:pt x="5207161" y="295910"/>
                  </a:lnTo>
                  <a:lnTo>
                    <a:pt x="5239787" y="279400"/>
                  </a:lnTo>
                  <a:lnTo>
                    <a:pt x="5273718" y="269240"/>
                  </a:lnTo>
                  <a:lnTo>
                    <a:pt x="5306345" y="262890"/>
                  </a:lnTo>
                  <a:close/>
                </a:path>
                <a:path w="5344795" h="471169">
                  <a:moveTo>
                    <a:pt x="2146811" y="110490"/>
                  </a:moveTo>
                  <a:lnTo>
                    <a:pt x="1397711" y="110490"/>
                  </a:lnTo>
                  <a:lnTo>
                    <a:pt x="1362475" y="114300"/>
                  </a:lnTo>
                  <a:lnTo>
                    <a:pt x="1311578" y="120650"/>
                  </a:lnTo>
                  <a:lnTo>
                    <a:pt x="1271121" y="120650"/>
                  </a:lnTo>
                  <a:lnTo>
                    <a:pt x="1229359" y="124460"/>
                  </a:lnTo>
                  <a:lnTo>
                    <a:pt x="1147141" y="138430"/>
                  </a:lnTo>
                  <a:lnTo>
                    <a:pt x="1000975" y="153670"/>
                  </a:lnTo>
                  <a:lnTo>
                    <a:pt x="903096" y="153670"/>
                  </a:lnTo>
                  <a:lnTo>
                    <a:pt x="830013" y="163830"/>
                  </a:lnTo>
                  <a:lnTo>
                    <a:pt x="764760" y="165100"/>
                  </a:lnTo>
                  <a:lnTo>
                    <a:pt x="715168" y="165100"/>
                  </a:lnTo>
                  <a:lnTo>
                    <a:pt x="692681" y="166546"/>
                  </a:lnTo>
                  <a:lnTo>
                    <a:pt x="679932" y="168910"/>
                  </a:lnTo>
                  <a:lnTo>
                    <a:pt x="618595" y="179070"/>
                  </a:lnTo>
                  <a:lnTo>
                    <a:pt x="475039" y="205740"/>
                  </a:lnTo>
                  <a:lnTo>
                    <a:pt x="373245" y="234950"/>
                  </a:lnTo>
                  <a:lnTo>
                    <a:pt x="314517" y="248920"/>
                  </a:lnTo>
                  <a:lnTo>
                    <a:pt x="212723" y="275590"/>
                  </a:lnTo>
                  <a:lnTo>
                    <a:pt x="215333" y="275590"/>
                  </a:lnTo>
                  <a:lnTo>
                    <a:pt x="221858" y="283210"/>
                  </a:lnTo>
                  <a:lnTo>
                    <a:pt x="228384" y="285750"/>
                  </a:lnTo>
                  <a:lnTo>
                    <a:pt x="242739" y="287020"/>
                  </a:lnTo>
                  <a:lnTo>
                    <a:pt x="263620" y="294640"/>
                  </a:lnTo>
                  <a:lnTo>
                    <a:pt x="279281" y="297180"/>
                  </a:lnTo>
                  <a:lnTo>
                    <a:pt x="292331" y="298450"/>
                  </a:lnTo>
                  <a:lnTo>
                    <a:pt x="306687" y="306070"/>
                  </a:lnTo>
                  <a:lnTo>
                    <a:pt x="319737" y="308610"/>
                  </a:lnTo>
                  <a:lnTo>
                    <a:pt x="403261" y="308610"/>
                  </a:lnTo>
                  <a:lnTo>
                    <a:pt x="421532" y="318770"/>
                  </a:lnTo>
                  <a:lnTo>
                    <a:pt x="848121" y="318770"/>
                  </a:lnTo>
                  <a:lnTo>
                    <a:pt x="867860" y="317500"/>
                  </a:lnTo>
                  <a:lnTo>
                    <a:pt x="917451" y="317500"/>
                  </a:lnTo>
                  <a:lnTo>
                    <a:pt x="937510" y="317109"/>
                  </a:lnTo>
                  <a:lnTo>
                    <a:pt x="981399" y="311150"/>
                  </a:lnTo>
                  <a:lnTo>
                    <a:pt x="1014025" y="308610"/>
                  </a:lnTo>
                  <a:lnTo>
                    <a:pt x="1093634" y="298450"/>
                  </a:lnTo>
                  <a:lnTo>
                    <a:pt x="1244167" y="296548"/>
                  </a:lnTo>
                  <a:lnTo>
                    <a:pt x="1298527" y="290830"/>
                  </a:lnTo>
                  <a:lnTo>
                    <a:pt x="1382050" y="276860"/>
                  </a:lnTo>
                  <a:lnTo>
                    <a:pt x="1411930" y="274133"/>
                  </a:lnTo>
                  <a:lnTo>
                    <a:pt x="1452523" y="265430"/>
                  </a:lnTo>
                  <a:lnTo>
                    <a:pt x="1534519" y="264607"/>
                  </a:lnTo>
                  <a:lnTo>
                    <a:pt x="1550403" y="262890"/>
                  </a:lnTo>
                  <a:lnTo>
                    <a:pt x="1591605" y="262890"/>
                  </a:lnTo>
                  <a:lnTo>
                    <a:pt x="1611740" y="255270"/>
                  </a:lnTo>
                  <a:lnTo>
                    <a:pt x="1626096" y="252730"/>
                  </a:lnTo>
                  <a:lnTo>
                    <a:pt x="1648281" y="242570"/>
                  </a:lnTo>
                  <a:lnTo>
                    <a:pt x="1740940" y="242570"/>
                  </a:lnTo>
                  <a:lnTo>
                    <a:pt x="1773566" y="241300"/>
                  </a:lnTo>
                  <a:lnTo>
                    <a:pt x="1823158" y="232410"/>
                  </a:lnTo>
                  <a:lnTo>
                    <a:pt x="1857090" y="231140"/>
                  </a:lnTo>
                  <a:lnTo>
                    <a:pt x="1879276" y="222250"/>
                  </a:lnTo>
                  <a:lnTo>
                    <a:pt x="1898851" y="219710"/>
                  </a:lnTo>
                  <a:lnTo>
                    <a:pt x="1975849" y="210820"/>
                  </a:lnTo>
                  <a:lnTo>
                    <a:pt x="2038492" y="209550"/>
                  </a:lnTo>
                  <a:lnTo>
                    <a:pt x="2148116" y="199390"/>
                  </a:lnTo>
                  <a:lnTo>
                    <a:pt x="4775188" y="198120"/>
                  </a:lnTo>
                  <a:lnTo>
                    <a:pt x="4802594" y="196850"/>
                  </a:lnTo>
                  <a:lnTo>
                    <a:pt x="4854797" y="187960"/>
                  </a:lnTo>
                  <a:lnTo>
                    <a:pt x="4903083" y="186690"/>
                  </a:lnTo>
                  <a:lnTo>
                    <a:pt x="4910914" y="186690"/>
                  </a:lnTo>
                  <a:lnTo>
                    <a:pt x="4917113" y="185420"/>
                  </a:lnTo>
                  <a:lnTo>
                    <a:pt x="3517117" y="185420"/>
                  </a:lnTo>
                  <a:lnTo>
                    <a:pt x="3318749" y="184150"/>
                  </a:lnTo>
                  <a:lnTo>
                    <a:pt x="3186939" y="175260"/>
                  </a:lnTo>
                  <a:lnTo>
                    <a:pt x="3107331" y="173990"/>
                  </a:lnTo>
                  <a:lnTo>
                    <a:pt x="2898522" y="173990"/>
                  </a:lnTo>
                  <a:lnTo>
                    <a:pt x="2769321" y="165100"/>
                  </a:lnTo>
                  <a:lnTo>
                    <a:pt x="2668833" y="162560"/>
                  </a:lnTo>
                  <a:lnTo>
                    <a:pt x="2508311" y="152400"/>
                  </a:lnTo>
                  <a:lnTo>
                    <a:pt x="5039853" y="152400"/>
                  </a:lnTo>
                  <a:lnTo>
                    <a:pt x="5041941" y="151130"/>
                  </a:lnTo>
                  <a:lnTo>
                    <a:pt x="3203904" y="151130"/>
                  </a:lnTo>
                  <a:lnTo>
                    <a:pt x="3162143" y="143510"/>
                  </a:lnTo>
                  <a:lnTo>
                    <a:pt x="2907657" y="143510"/>
                  </a:lnTo>
                  <a:lnTo>
                    <a:pt x="2881556" y="142240"/>
                  </a:lnTo>
                  <a:lnTo>
                    <a:pt x="2787593" y="132080"/>
                  </a:lnTo>
                  <a:lnTo>
                    <a:pt x="2336044" y="132080"/>
                  </a:lnTo>
                  <a:lnTo>
                    <a:pt x="2298197" y="129540"/>
                  </a:lnTo>
                  <a:lnTo>
                    <a:pt x="2146811" y="110490"/>
                  </a:lnTo>
                  <a:close/>
                </a:path>
                <a:path w="5344795" h="471169">
                  <a:moveTo>
                    <a:pt x="1244167" y="296548"/>
                  </a:moveTo>
                  <a:lnTo>
                    <a:pt x="1093634" y="298450"/>
                  </a:lnTo>
                  <a:lnTo>
                    <a:pt x="1014025" y="308610"/>
                  </a:lnTo>
                  <a:lnTo>
                    <a:pt x="981399" y="311150"/>
                  </a:lnTo>
                  <a:lnTo>
                    <a:pt x="937510" y="317109"/>
                  </a:lnTo>
                  <a:lnTo>
                    <a:pt x="982705" y="316230"/>
                  </a:lnTo>
                  <a:lnTo>
                    <a:pt x="1054482" y="306070"/>
                  </a:lnTo>
                  <a:lnTo>
                    <a:pt x="1153666" y="306070"/>
                  </a:lnTo>
                  <a:lnTo>
                    <a:pt x="1244167" y="296548"/>
                  </a:lnTo>
                  <a:close/>
                </a:path>
                <a:path w="5344795" h="471169">
                  <a:moveTo>
                    <a:pt x="3070790" y="198120"/>
                  </a:moveTo>
                  <a:lnTo>
                    <a:pt x="2148116" y="199390"/>
                  </a:lnTo>
                  <a:lnTo>
                    <a:pt x="2038492" y="209550"/>
                  </a:lnTo>
                  <a:lnTo>
                    <a:pt x="1975849" y="210820"/>
                  </a:lnTo>
                  <a:lnTo>
                    <a:pt x="1898851" y="219710"/>
                  </a:lnTo>
                  <a:lnTo>
                    <a:pt x="1879276" y="222250"/>
                  </a:lnTo>
                  <a:lnTo>
                    <a:pt x="1857090" y="231140"/>
                  </a:lnTo>
                  <a:lnTo>
                    <a:pt x="1823158" y="232410"/>
                  </a:lnTo>
                  <a:lnTo>
                    <a:pt x="1773566" y="241300"/>
                  </a:lnTo>
                  <a:lnTo>
                    <a:pt x="1740940" y="242570"/>
                  </a:lnTo>
                  <a:lnTo>
                    <a:pt x="1648281" y="242570"/>
                  </a:lnTo>
                  <a:lnTo>
                    <a:pt x="1626096" y="252730"/>
                  </a:lnTo>
                  <a:lnTo>
                    <a:pt x="1611740" y="255270"/>
                  </a:lnTo>
                  <a:lnTo>
                    <a:pt x="1588249" y="264160"/>
                  </a:lnTo>
                  <a:lnTo>
                    <a:pt x="1579113" y="264160"/>
                  </a:lnTo>
                  <a:lnTo>
                    <a:pt x="1534519" y="264607"/>
                  </a:lnTo>
                  <a:lnTo>
                    <a:pt x="1515166" y="266700"/>
                  </a:lnTo>
                  <a:lnTo>
                    <a:pt x="1464269" y="273050"/>
                  </a:lnTo>
                  <a:lnTo>
                    <a:pt x="1423812" y="273050"/>
                  </a:lnTo>
                  <a:lnTo>
                    <a:pt x="1411930" y="274133"/>
                  </a:lnTo>
                  <a:lnTo>
                    <a:pt x="1375525" y="281940"/>
                  </a:lnTo>
                  <a:lnTo>
                    <a:pt x="1276341" y="295910"/>
                  </a:lnTo>
                  <a:lnTo>
                    <a:pt x="1244167" y="296548"/>
                  </a:lnTo>
                  <a:lnTo>
                    <a:pt x="1153666" y="306070"/>
                  </a:lnTo>
                  <a:lnTo>
                    <a:pt x="3284818" y="306070"/>
                  </a:lnTo>
                  <a:lnTo>
                    <a:pt x="3062958" y="304800"/>
                  </a:lnTo>
                  <a:lnTo>
                    <a:pt x="3009451" y="295910"/>
                  </a:lnTo>
                  <a:lnTo>
                    <a:pt x="2924623" y="295910"/>
                  </a:lnTo>
                  <a:lnTo>
                    <a:pt x="2728865" y="294640"/>
                  </a:lnTo>
                  <a:lnTo>
                    <a:pt x="2634902" y="284480"/>
                  </a:lnTo>
                  <a:lnTo>
                    <a:pt x="2199013" y="284480"/>
                  </a:lnTo>
                  <a:lnTo>
                    <a:pt x="2145507" y="281940"/>
                  </a:lnTo>
                  <a:lnTo>
                    <a:pt x="1995425" y="262890"/>
                  </a:lnTo>
                  <a:lnTo>
                    <a:pt x="4183999" y="262890"/>
                  </a:lnTo>
                  <a:lnTo>
                    <a:pt x="4210100" y="257810"/>
                  </a:lnTo>
                  <a:lnTo>
                    <a:pt x="4234896" y="251460"/>
                  </a:lnTo>
                  <a:lnTo>
                    <a:pt x="5344191" y="251460"/>
                  </a:lnTo>
                  <a:lnTo>
                    <a:pt x="5344191" y="231140"/>
                  </a:lnTo>
                  <a:lnTo>
                    <a:pt x="4121357" y="231140"/>
                  </a:lnTo>
                  <a:lnTo>
                    <a:pt x="3641098" y="229870"/>
                  </a:lnTo>
                  <a:lnTo>
                    <a:pt x="3548438" y="220980"/>
                  </a:lnTo>
                  <a:lnTo>
                    <a:pt x="3468830" y="218440"/>
                  </a:lnTo>
                  <a:lnTo>
                    <a:pt x="3398357" y="209550"/>
                  </a:lnTo>
                  <a:lnTo>
                    <a:pt x="3323969" y="208280"/>
                  </a:lnTo>
                  <a:lnTo>
                    <a:pt x="3250886" y="199390"/>
                  </a:lnTo>
                  <a:lnTo>
                    <a:pt x="3070790" y="198120"/>
                  </a:lnTo>
                  <a:close/>
                </a:path>
                <a:path w="5344795" h="471169">
                  <a:moveTo>
                    <a:pt x="4084815" y="262890"/>
                  </a:moveTo>
                  <a:lnTo>
                    <a:pt x="1995425" y="262890"/>
                  </a:lnTo>
                  <a:lnTo>
                    <a:pt x="2145507" y="281940"/>
                  </a:lnTo>
                  <a:lnTo>
                    <a:pt x="2199013" y="284480"/>
                  </a:lnTo>
                  <a:lnTo>
                    <a:pt x="2634902" y="284480"/>
                  </a:lnTo>
                  <a:lnTo>
                    <a:pt x="2728865" y="294640"/>
                  </a:lnTo>
                  <a:lnTo>
                    <a:pt x="2924623" y="295910"/>
                  </a:lnTo>
                  <a:lnTo>
                    <a:pt x="3009451" y="295910"/>
                  </a:lnTo>
                  <a:lnTo>
                    <a:pt x="3062958" y="304800"/>
                  </a:lnTo>
                  <a:lnTo>
                    <a:pt x="3284818" y="306070"/>
                  </a:lnTo>
                  <a:lnTo>
                    <a:pt x="3357901" y="303530"/>
                  </a:lnTo>
                  <a:lnTo>
                    <a:pt x="3581065" y="287020"/>
                  </a:lnTo>
                  <a:lnTo>
                    <a:pt x="3688079" y="273050"/>
                  </a:lnTo>
                  <a:lnTo>
                    <a:pt x="3972581" y="273050"/>
                  </a:lnTo>
                  <a:lnTo>
                    <a:pt x="4084815" y="262890"/>
                  </a:lnTo>
                  <a:close/>
                </a:path>
                <a:path w="5344795" h="471169">
                  <a:moveTo>
                    <a:pt x="1534519" y="264607"/>
                  </a:moveTo>
                  <a:lnTo>
                    <a:pt x="1452523" y="265430"/>
                  </a:lnTo>
                  <a:lnTo>
                    <a:pt x="1411930" y="274133"/>
                  </a:lnTo>
                  <a:lnTo>
                    <a:pt x="1423812" y="273050"/>
                  </a:lnTo>
                  <a:lnTo>
                    <a:pt x="1464269" y="273050"/>
                  </a:lnTo>
                  <a:lnTo>
                    <a:pt x="1515166" y="266700"/>
                  </a:lnTo>
                  <a:lnTo>
                    <a:pt x="1534519" y="264607"/>
                  </a:lnTo>
                  <a:close/>
                </a:path>
                <a:path w="5344795" h="471169">
                  <a:moveTo>
                    <a:pt x="4568990" y="251460"/>
                  </a:moveTo>
                  <a:lnTo>
                    <a:pt x="4234896" y="251460"/>
                  </a:lnTo>
                  <a:lnTo>
                    <a:pt x="4210100" y="257810"/>
                  </a:lnTo>
                  <a:lnTo>
                    <a:pt x="4183999" y="262890"/>
                  </a:lnTo>
                  <a:lnTo>
                    <a:pt x="4840441" y="262890"/>
                  </a:lnTo>
                  <a:lnTo>
                    <a:pt x="4648598" y="261620"/>
                  </a:lnTo>
                  <a:lnTo>
                    <a:pt x="4568990" y="251460"/>
                  </a:lnTo>
                  <a:close/>
                </a:path>
                <a:path w="5344795" h="471169">
                  <a:moveTo>
                    <a:pt x="5344191" y="251460"/>
                  </a:moveTo>
                  <a:lnTo>
                    <a:pt x="4568990" y="251460"/>
                  </a:lnTo>
                  <a:lnTo>
                    <a:pt x="4648598" y="261620"/>
                  </a:lnTo>
                  <a:lnTo>
                    <a:pt x="4840441" y="262890"/>
                  </a:lnTo>
                  <a:lnTo>
                    <a:pt x="5344191" y="262890"/>
                  </a:lnTo>
                  <a:lnTo>
                    <a:pt x="5344191" y="251460"/>
                  </a:lnTo>
                  <a:close/>
                </a:path>
                <a:path w="5344795" h="471169">
                  <a:moveTo>
                    <a:pt x="4775188" y="198120"/>
                  </a:moveTo>
                  <a:lnTo>
                    <a:pt x="3070790" y="198120"/>
                  </a:lnTo>
                  <a:lnTo>
                    <a:pt x="3250886" y="199390"/>
                  </a:lnTo>
                  <a:lnTo>
                    <a:pt x="3323969" y="208280"/>
                  </a:lnTo>
                  <a:lnTo>
                    <a:pt x="3398357" y="209550"/>
                  </a:lnTo>
                  <a:lnTo>
                    <a:pt x="3468830" y="218440"/>
                  </a:lnTo>
                  <a:lnTo>
                    <a:pt x="3548438" y="220980"/>
                  </a:lnTo>
                  <a:lnTo>
                    <a:pt x="3641098" y="229870"/>
                  </a:lnTo>
                  <a:lnTo>
                    <a:pt x="4121357" y="231140"/>
                  </a:lnTo>
                  <a:lnTo>
                    <a:pt x="4144847" y="231140"/>
                  </a:lnTo>
                  <a:lnTo>
                    <a:pt x="4233591" y="220980"/>
                  </a:lnTo>
                  <a:lnTo>
                    <a:pt x="4285793" y="219710"/>
                  </a:lnTo>
                  <a:lnTo>
                    <a:pt x="4305369" y="219710"/>
                  </a:lnTo>
                  <a:lnTo>
                    <a:pt x="4374537" y="209550"/>
                  </a:lnTo>
                  <a:lnTo>
                    <a:pt x="4702105" y="209550"/>
                  </a:lnTo>
                  <a:lnTo>
                    <a:pt x="4712546" y="208280"/>
                  </a:lnTo>
                  <a:lnTo>
                    <a:pt x="4728206" y="201930"/>
                  </a:lnTo>
                  <a:lnTo>
                    <a:pt x="4742562" y="199390"/>
                  </a:lnTo>
                  <a:lnTo>
                    <a:pt x="4775188" y="198120"/>
                  </a:lnTo>
                  <a:close/>
                </a:path>
                <a:path w="5344795" h="471169">
                  <a:moveTo>
                    <a:pt x="5169314" y="99060"/>
                  </a:moveTo>
                  <a:lnTo>
                    <a:pt x="4721681" y="99060"/>
                  </a:lnTo>
                  <a:lnTo>
                    <a:pt x="4799984" y="109220"/>
                  </a:lnTo>
                  <a:lnTo>
                    <a:pt x="4836525" y="110490"/>
                  </a:lnTo>
                  <a:lnTo>
                    <a:pt x="5153653" y="110490"/>
                  </a:lnTo>
                  <a:lnTo>
                    <a:pt x="5121027" y="116840"/>
                  </a:lnTo>
                  <a:lnTo>
                    <a:pt x="5088401" y="127000"/>
                  </a:lnTo>
                  <a:lnTo>
                    <a:pt x="5054469" y="143510"/>
                  </a:lnTo>
                  <a:lnTo>
                    <a:pt x="5023148" y="162560"/>
                  </a:lnTo>
                  <a:lnTo>
                    <a:pt x="5008792" y="167640"/>
                  </a:lnTo>
                  <a:lnTo>
                    <a:pt x="4998353" y="175260"/>
                  </a:lnTo>
                  <a:lnTo>
                    <a:pt x="4986607" y="176530"/>
                  </a:lnTo>
                  <a:lnTo>
                    <a:pt x="4960506" y="176530"/>
                  </a:lnTo>
                  <a:lnTo>
                    <a:pt x="4910914" y="186690"/>
                  </a:lnTo>
                  <a:lnTo>
                    <a:pt x="4903083" y="186690"/>
                  </a:lnTo>
                  <a:lnTo>
                    <a:pt x="4854797" y="187960"/>
                  </a:lnTo>
                  <a:lnTo>
                    <a:pt x="4802594" y="196850"/>
                  </a:lnTo>
                  <a:lnTo>
                    <a:pt x="4742562" y="199390"/>
                  </a:lnTo>
                  <a:lnTo>
                    <a:pt x="4728206" y="201930"/>
                  </a:lnTo>
                  <a:lnTo>
                    <a:pt x="4712546" y="208280"/>
                  </a:lnTo>
                  <a:lnTo>
                    <a:pt x="4702105" y="209550"/>
                  </a:lnTo>
                  <a:lnTo>
                    <a:pt x="4374537" y="209550"/>
                  </a:lnTo>
                  <a:lnTo>
                    <a:pt x="4305369" y="219710"/>
                  </a:lnTo>
                  <a:lnTo>
                    <a:pt x="4285793" y="219710"/>
                  </a:lnTo>
                  <a:lnTo>
                    <a:pt x="4233591" y="220980"/>
                  </a:lnTo>
                  <a:lnTo>
                    <a:pt x="4144847" y="231140"/>
                  </a:lnTo>
                  <a:lnTo>
                    <a:pt x="5344191" y="231140"/>
                  </a:lnTo>
                  <a:lnTo>
                    <a:pt x="5344191" y="195580"/>
                  </a:lnTo>
                  <a:lnTo>
                    <a:pt x="4982691" y="195580"/>
                  </a:lnTo>
                  <a:lnTo>
                    <a:pt x="4917835" y="185420"/>
                  </a:lnTo>
                  <a:lnTo>
                    <a:pt x="5169314" y="185420"/>
                  </a:lnTo>
                  <a:lnTo>
                    <a:pt x="5169314" y="99060"/>
                  </a:lnTo>
                  <a:close/>
                </a:path>
                <a:path w="5344795" h="471169">
                  <a:moveTo>
                    <a:pt x="5169314" y="185420"/>
                  </a:moveTo>
                  <a:lnTo>
                    <a:pt x="4917835" y="185420"/>
                  </a:lnTo>
                  <a:lnTo>
                    <a:pt x="4982691" y="195580"/>
                  </a:lnTo>
                  <a:lnTo>
                    <a:pt x="5169314" y="195580"/>
                  </a:lnTo>
                  <a:lnTo>
                    <a:pt x="5169314" y="185420"/>
                  </a:lnTo>
                  <a:close/>
                </a:path>
                <a:path w="5344795" h="471169">
                  <a:moveTo>
                    <a:pt x="5344191" y="110490"/>
                  </a:moveTo>
                  <a:lnTo>
                    <a:pt x="5169314" y="110490"/>
                  </a:lnTo>
                  <a:lnTo>
                    <a:pt x="5169314" y="195580"/>
                  </a:lnTo>
                  <a:lnTo>
                    <a:pt x="5344191" y="195580"/>
                  </a:lnTo>
                  <a:lnTo>
                    <a:pt x="5344191" y="110490"/>
                  </a:lnTo>
                  <a:close/>
                </a:path>
                <a:path w="5344795" h="471169">
                  <a:moveTo>
                    <a:pt x="5039853" y="152400"/>
                  </a:moveTo>
                  <a:lnTo>
                    <a:pt x="2508311" y="152400"/>
                  </a:lnTo>
                  <a:lnTo>
                    <a:pt x="2668833" y="162560"/>
                  </a:lnTo>
                  <a:lnTo>
                    <a:pt x="2769321" y="165100"/>
                  </a:lnTo>
                  <a:lnTo>
                    <a:pt x="2898522" y="173990"/>
                  </a:lnTo>
                  <a:lnTo>
                    <a:pt x="3107331" y="173990"/>
                  </a:lnTo>
                  <a:lnTo>
                    <a:pt x="3186939" y="175260"/>
                  </a:lnTo>
                  <a:lnTo>
                    <a:pt x="3318749" y="184150"/>
                  </a:lnTo>
                  <a:lnTo>
                    <a:pt x="3517117" y="185420"/>
                  </a:lnTo>
                  <a:lnTo>
                    <a:pt x="4917113" y="185420"/>
                  </a:lnTo>
                  <a:lnTo>
                    <a:pt x="4960506" y="176530"/>
                  </a:lnTo>
                  <a:lnTo>
                    <a:pt x="4986607" y="176530"/>
                  </a:lnTo>
                  <a:lnTo>
                    <a:pt x="4998353" y="175260"/>
                  </a:lnTo>
                  <a:lnTo>
                    <a:pt x="5008792" y="167640"/>
                  </a:lnTo>
                  <a:lnTo>
                    <a:pt x="5023148" y="162560"/>
                  </a:lnTo>
                  <a:lnTo>
                    <a:pt x="5039853" y="152400"/>
                  </a:lnTo>
                  <a:close/>
                </a:path>
                <a:path w="5344795" h="471169">
                  <a:moveTo>
                    <a:pt x="692681" y="166546"/>
                  </a:moveTo>
                  <a:lnTo>
                    <a:pt x="557257" y="175260"/>
                  </a:lnTo>
                  <a:lnTo>
                    <a:pt x="9135" y="176530"/>
                  </a:lnTo>
                  <a:lnTo>
                    <a:pt x="633929" y="176530"/>
                  </a:lnTo>
                  <a:lnTo>
                    <a:pt x="679932" y="168910"/>
                  </a:lnTo>
                  <a:lnTo>
                    <a:pt x="692681" y="166546"/>
                  </a:lnTo>
                  <a:close/>
                </a:path>
                <a:path w="5344795" h="471169">
                  <a:moveTo>
                    <a:pt x="3932124" y="110490"/>
                  </a:moveTo>
                  <a:lnTo>
                    <a:pt x="2146811" y="110490"/>
                  </a:lnTo>
                  <a:lnTo>
                    <a:pt x="2298197" y="129540"/>
                  </a:lnTo>
                  <a:lnTo>
                    <a:pt x="2336044" y="132080"/>
                  </a:lnTo>
                  <a:lnTo>
                    <a:pt x="2787593" y="132080"/>
                  </a:lnTo>
                  <a:lnTo>
                    <a:pt x="2881556" y="142240"/>
                  </a:lnTo>
                  <a:lnTo>
                    <a:pt x="2907657" y="143510"/>
                  </a:lnTo>
                  <a:lnTo>
                    <a:pt x="3162143" y="143510"/>
                  </a:lnTo>
                  <a:lnTo>
                    <a:pt x="3203904" y="151130"/>
                  </a:lnTo>
                  <a:lnTo>
                    <a:pt x="3428373" y="134620"/>
                  </a:lnTo>
                  <a:lnTo>
                    <a:pt x="3535388" y="120650"/>
                  </a:lnTo>
                  <a:lnTo>
                    <a:pt x="3819890" y="120650"/>
                  </a:lnTo>
                  <a:lnTo>
                    <a:pt x="3932124" y="110490"/>
                  </a:lnTo>
                  <a:close/>
                </a:path>
                <a:path w="5344795" h="471169">
                  <a:moveTo>
                    <a:pt x="5153653" y="110490"/>
                  </a:moveTo>
                  <a:lnTo>
                    <a:pt x="3932124" y="110490"/>
                  </a:lnTo>
                  <a:lnTo>
                    <a:pt x="3819890" y="120650"/>
                  </a:lnTo>
                  <a:lnTo>
                    <a:pt x="3535388" y="120650"/>
                  </a:lnTo>
                  <a:lnTo>
                    <a:pt x="3428373" y="134620"/>
                  </a:lnTo>
                  <a:lnTo>
                    <a:pt x="3203904" y="151130"/>
                  </a:lnTo>
                  <a:lnTo>
                    <a:pt x="5041941" y="151130"/>
                  </a:lnTo>
                  <a:lnTo>
                    <a:pt x="5054469" y="143510"/>
                  </a:lnTo>
                  <a:lnTo>
                    <a:pt x="5088401" y="127000"/>
                  </a:lnTo>
                  <a:lnTo>
                    <a:pt x="5121027" y="116840"/>
                  </a:lnTo>
                  <a:lnTo>
                    <a:pt x="5153653" y="110490"/>
                  </a:lnTo>
                  <a:close/>
                </a:path>
                <a:path w="5344795" h="471169">
                  <a:moveTo>
                    <a:pt x="4721681" y="99060"/>
                  </a:moveTo>
                  <a:lnTo>
                    <a:pt x="4083510" y="99060"/>
                  </a:lnTo>
                  <a:lnTo>
                    <a:pt x="4057409" y="105410"/>
                  </a:lnTo>
                  <a:lnTo>
                    <a:pt x="4031308" y="110490"/>
                  </a:lnTo>
                  <a:lnTo>
                    <a:pt x="4836525" y="110490"/>
                  </a:lnTo>
                  <a:lnTo>
                    <a:pt x="4799984" y="109220"/>
                  </a:lnTo>
                  <a:lnTo>
                    <a:pt x="4721681" y="99060"/>
                  </a:lnTo>
                  <a:close/>
                </a:path>
              </a:pathLst>
            </a:custGeom>
            <a:solidFill>
              <a:srgbClr val="D93025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24851" y="852932"/>
            <a:ext cx="385635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55" dirty="0"/>
              <a:t>Diuréticos</a:t>
            </a:r>
            <a:r>
              <a:rPr sz="3600" spc="-195" dirty="0"/>
              <a:t> </a:t>
            </a:r>
            <a:r>
              <a:rPr sz="3600" spc="-135" dirty="0"/>
              <a:t>de</a:t>
            </a:r>
            <a:r>
              <a:rPr sz="3600" spc="-200" dirty="0"/>
              <a:t> </a:t>
            </a:r>
            <a:r>
              <a:rPr sz="3600" spc="-140" dirty="0"/>
              <a:t>asa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131252" y="1958340"/>
            <a:ext cx="5675630" cy="132080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105"/>
              </a:spcBef>
            </a:pPr>
            <a:r>
              <a:rPr sz="2000" spc="8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Efectos</a:t>
            </a:r>
            <a:r>
              <a:rPr sz="20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en</a:t>
            </a:r>
            <a:r>
              <a:rPr sz="2000" spc="-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14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la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4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excrecion</a:t>
            </a:r>
            <a:r>
              <a:rPr sz="2000" spc="-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4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urinaria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63500">
              <a:lnSpc>
                <a:spcPct val="100000"/>
              </a:lnSpc>
              <a:spcBef>
                <a:spcPts val="1010"/>
              </a:spcBef>
              <a:tabLst>
                <a:tab pos="405765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↑</a:t>
            </a:r>
            <a:r>
              <a:rPr sz="20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8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Na</a:t>
            </a:r>
            <a:r>
              <a:rPr sz="1950" spc="127" baseline="26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+</a:t>
            </a:r>
            <a:r>
              <a:rPr sz="1950" spc="262" baseline="26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y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Cl</a:t>
            </a:r>
            <a:r>
              <a:rPr sz="1950" spc="150" baseline="26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-</a:t>
            </a:r>
            <a:r>
              <a:rPr sz="1950" spc="225" baseline="26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9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(hasta</a:t>
            </a:r>
            <a:r>
              <a:rPr sz="20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-13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25%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2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de</a:t>
            </a:r>
            <a:r>
              <a:rPr sz="20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14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la</a:t>
            </a:r>
            <a:r>
              <a:rPr sz="20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21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carga</a:t>
            </a:r>
            <a:r>
              <a:rPr sz="20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filtrada)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63500">
              <a:lnSpc>
                <a:spcPct val="100000"/>
              </a:lnSpc>
              <a:spcBef>
                <a:spcPts val="985"/>
              </a:spcBef>
              <a:tabLst>
                <a:tab pos="405765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↑</a:t>
            </a:r>
            <a:r>
              <a:rPr sz="20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4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Ca</a:t>
            </a:r>
            <a:r>
              <a:rPr sz="1950" spc="209" baseline="26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2+</a:t>
            </a:r>
            <a:r>
              <a:rPr sz="1950" spc="254" baseline="26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y</a:t>
            </a:r>
            <a:r>
              <a:rPr sz="20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Mg</a:t>
            </a:r>
            <a:r>
              <a:rPr sz="1950" spc="112" baseline="26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2+</a:t>
            </a:r>
            <a:endParaRPr sz="1950" baseline="26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94752" y="3490162"/>
            <a:ext cx="191770" cy="169545"/>
          </a:xfrm>
          <a:prstGeom prst="rect">
            <a:avLst/>
          </a:prstGeom>
          <a:solidFill>
            <a:srgbClr val="D93025">
              <a:alpha val="39999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35"/>
              </a:lnSpc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endParaRPr sz="16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99552" y="3381755"/>
            <a:ext cx="5245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↑</a:t>
            </a:r>
            <a:r>
              <a:rPr sz="2000" spc="-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K</a:t>
            </a:r>
            <a:r>
              <a:rPr sz="1950" spc="-37" baseline="26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+</a:t>
            </a:r>
            <a:endParaRPr sz="1950" baseline="26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56652" y="3814572"/>
            <a:ext cx="29991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80365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↑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4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HCO</a:t>
            </a:r>
            <a:r>
              <a:rPr sz="1950" spc="209" baseline="-17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3</a:t>
            </a:r>
            <a:r>
              <a:rPr sz="1950" spc="209" baseline="26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-</a:t>
            </a:r>
            <a:r>
              <a:rPr sz="1950" spc="232" baseline="26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(furosemida)</a:t>
            </a:r>
            <a:endParaRPr sz="2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82052" y="4244340"/>
            <a:ext cx="17926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000" spc="204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Acido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8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urico</a:t>
            </a:r>
            <a:endParaRPr sz="2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82052" y="4985003"/>
            <a:ext cx="7144384" cy="885190"/>
          </a:xfrm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2000" spc="8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Efectos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en</a:t>
            </a:r>
            <a:r>
              <a:rPr sz="2000" spc="-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14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la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hemodinamia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renal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↑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FSR,</a:t>
            </a:r>
            <a:r>
              <a:rPr sz="20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bloquean</a:t>
            </a:r>
            <a:r>
              <a:rPr sz="20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14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la</a:t>
            </a:r>
            <a:r>
              <a:rPr sz="20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0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retroalimentacion</a:t>
            </a:r>
            <a:r>
              <a:rPr sz="20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tubulo-</a:t>
            </a:r>
            <a:r>
              <a:rPr sz="2000" spc="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glomerular</a:t>
            </a:r>
            <a:endParaRPr sz="2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15362" y="3428996"/>
            <a:ext cx="2771775" cy="369570"/>
          </a:xfrm>
          <a:prstGeom prst="rect">
            <a:avLst/>
          </a:prstGeom>
          <a:solidFill>
            <a:srgbClr val="0F6FC6"/>
          </a:solidFill>
        </p:spPr>
        <p:txBody>
          <a:bodyPr vert="horz" wrap="square" lIns="0" tIns="4572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60"/>
              </a:spcBef>
            </a:pPr>
            <a:r>
              <a:rPr sz="1800" spc="12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ACCIONES</a:t>
            </a:r>
            <a:r>
              <a:rPr sz="1800" spc="-4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VASCUARES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843962" y="3997998"/>
            <a:ext cx="2203450" cy="369570"/>
          </a:xfrm>
          <a:prstGeom prst="rect">
            <a:avLst/>
          </a:prstGeom>
          <a:solidFill>
            <a:srgbClr val="0F6FC6"/>
          </a:solidFill>
        </p:spPr>
        <p:txBody>
          <a:bodyPr vert="horz" wrap="square" lIns="0" tIns="4635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65"/>
              </a:spcBef>
            </a:pPr>
            <a:r>
              <a:rPr sz="18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OTROS</a:t>
            </a:r>
            <a:r>
              <a:rPr sz="1800" spc="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1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ORGANOS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331277" y="2162555"/>
            <a:ext cx="3721735" cy="194310"/>
          </a:xfrm>
          <a:custGeom>
            <a:avLst/>
            <a:gdLst/>
            <a:ahLst/>
            <a:cxnLst/>
            <a:rect l="l" t="t" r="r" b="b"/>
            <a:pathLst>
              <a:path w="3721735" h="194310">
                <a:moveTo>
                  <a:pt x="3721529" y="0"/>
                </a:moveTo>
                <a:lnTo>
                  <a:pt x="0" y="0"/>
                </a:lnTo>
                <a:lnTo>
                  <a:pt x="0" y="193802"/>
                </a:lnTo>
                <a:lnTo>
                  <a:pt x="3721529" y="193802"/>
                </a:lnTo>
                <a:lnTo>
                  <a:pt x="3721529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194752" y="2595371"/>
            <a:ext cx="5548630" cy="243840"/>
          </a:xfrm>
          <a:custGeom>
            <a:avLst/>
            <a:gdLst/>
            <a:ahLst/>
            <a:cxnLst/>
            <a:rect l="l" t="t" r="r" b="b"/>
            <a:pathLst>
              <a:path w="5548630" h="243839">
                <a:moveTo>
                  <a:pt x="5548310" y="0"/>
                </a:moveTo>
                <a:lnTo>
                  <a:pt x="0" y="0"/>
                </a:lnTo>
                <a:lnTo>
                  <a:pt x="0" y="243331"/>
                </a:lnTo>
                <a:lnTo>
                  <a:pt x="5548310" y="243331"/>
                </a:lnTo>
                <a:lnTo>
                  <a:pt x="5548310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194752" y="3017926"/>
            <a:ext cx="1991360" cy="250825"/>
          </a:xfrm>
          <a:custGeom>
            <a:avLst/>
            <a:gdLst/>
            <a:ahLst/>
            <a:cxnLst/>
            <a:rect l="l" t="t" r="r" b="b"/>
            <a:pathLst>
              <a:path w="1991360" h="250825">
                <a:moveTo>
                  <a:pt x="1990761" y="0"/>
                </a:moveTo>
                <a:lnTo>
                  <a:pt x="0" y="0"/>
                </a:lnTo>
                <a:lnTo>
                  <a:pt x="0" y="250545"/>
                </a:lnTo>
                <a:lnTo>
                  <a:pt x="1990761" y="250545"/>
                </a:lnTo>
                <a:lnTo>
                  <a:pt x="1990761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7652" y="3466083"/>
            <a:ext cx="448309" cy="235585"/>
          </a:xfrm>
          <a:custGeom>
            <a:avLst/>
            <a:gdLst/>
            <a:ahLst/>
            <a:cxnLst/>
            <a:rect l="l" t="t" r="r" b="b"/>
            <a:pathLst>
              <a:path w="448310" h="235585">
                <a:moveTo>
                  <a:pt x="447713" y="0"/>
                </a:moveTo>
                <a:lnTo>
                  <a:pt x="0" y="0"/>
                </a:lnTo>
                <a:lnTo>
                  <a:pt x="0" y="235204"/>
                </a:lnTo>
                <a:lnTo>
                  <a:pt x="447713" y="235204"/>
                </a:lnTo>
                <a:lnTo>
                  <a:pt x="447713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194752" y="3890771"/>
            <a:ext cx="2922905" cy="243840"/>
          </a:xfrm>
          <a:custGeom>
            <a:avLst/>
            <a:gdLst/>
            <a:ahLst/>
            <a:cxnLst/>
            <a:rect l="l" t="t" r="r" b="b"/>
            <a:pathLst>
              <a:path w="2922904" h="243839">
                <a:moveTo>
                  <a:pt x="2922701" y="0"/>
                </a:moveTo>
                <a:lnTo>
                  <a:pt x="0" y="0"/>
                </a:lnTo>
                <a:lnTo>
                  <a:pt x="0" y="243331"/>
                </a:lnTo>
                <a:lnTo>
                  <a:pt x="2922701" y="243331"/>
                </a:lnTo>
                <a:lnTo>
                  <a:pt x="2922701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194752" y="4320540"/>
            <a:ext cx="1767205" cy="201930"/>
          </a:xfrm>
          <a:custGeom>
            <a:avLst/>
            <a:gdLst/>
            <a:ahLst/>
            <a:cxnLst/>
            <a:rect l="l" t="t" r="r" b="b"/>
            <a:pathLst>
              <a:path w="1767205" h="201929">
                <a:moveTo>
                  <a:pt x="1766620" y="0"/>
                </a:moveTo>
                <a:lnTo>
                  <a:pt x="0" y="0"/>
                </a:lnTo>
                <a:lnTo>
                  <a:pt x="0" y="201676"/>
                </a:lnTo>
                <a:lnTo>
                  <a:pt x="1766620" y="201676"/>
                </a:lnTo>
                <a:lnTo>
                  <a:pt x="1766620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194752" y="5186171"/>
            <a:ext cx="4081779" cy="194310"/>
          </a:xfrm>
          <a:custGeom>
            <a:avLst/>
            <a:gdLst/>
            <a:ahLst/>
            <a:cxnLst/>
            <a:rect l="l" t="t" r="r" b="b"/>
            <a:pathLst>
              <a:path w="4081779" h="194310">
                <a:moveTo>
                  <a:pt x="4081471" y="0"/>
                </a:moveTo>
                <a:lnTo>
                  <a:pt x="0" y="0"/>
                </a:lnTo>
                <a:lnTo>
                  <a:pt x="0" y="193802"/>
                </a:lnTo>
                <a:lnTo>
                  <a:pt x="4081471" y="193802"/>
                </a:lnTo>
                <a:lnTo>
                  <a:pt x="4081471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194752" y="5615940"/>
            <a:ext cx="7123430" cy="243840"/>
          </a:xfrm>
          <a:custGeom>
            <a:avLst/>
            <a:gdLst/>
            <a:ahLst/>
            <a:cxnLst/>
            <a:rect l="l" t="t" r="r" b="b"/>
            <a:pathLst>
              <a:path w="7123430" h="243839">
                <a:moveTo>
                  <a:pt x="7123187" y="0"/>
                </a:moveTo>
                <a:lnTo>
                  <a:pt x="0" y="0"/>
                </a:lnTo>
                <a:lnTo>
                  <a:pt x="0" y="243331"/>
                </a:lnTo>
                <a:lnTo>
                  <a:pt x="7123187" y="243331"/>
                </a:lnTo>
                <a:lnTo>
                  <a:pt x="7123187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Cuadro de texto 18"/>
          <p:cNvSpPr txBox="1"/>
          <p:nvPr/>
        </p:nvSpPr>
        <p:spPr>
          <a:xfrm>
            <a:off x="289560" y="2915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s-ES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24851" y="852932"/>
            <a:ext cx="385635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55" dirty="0"/>
              <a:t>Diuréticos</a:t>
            </a:r>
            <a:r>
              <a:rPr sz="3600" spc="-195" dirty="0"/>
              <a:t> </a:t>
            </a:r>
            <a:r>
              <a:rPr sz="3600" spc="-135" dirty="0"/>
              <a:t>de</a:t>
            </a:r>
            <a:r>
              <a:rPr sz="3600" spc="-200" dirty="0"/>
              <a:t> </a:t>
            </a:r>
            <a:r>
              <a:rPr sz="3600" spc="-140" dirty="0"/>
              <a:t>asa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530189" y="1752619"/>
            <a:ext cx="10306685" cy="4762500"/>
            <a:chOff x="530189" y="1722139"/>
            <a:chExt cx="10306685" cy="476250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00327" y="2051304"/>
              <a:ext cx="8951976" cy="386486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30189" y="1722139"/>
              <a:ext cx="10306685" cy="4762500"/>
            </a:xfrm>
            <a:custGeom>
              <a:avLst/>
              <a:gdLst/>
              <a:ahLst/>
              <a:cxnLst/>
              <a:rect l="l" t="t" r="r" b="b"/>
              <a:pathLst>
                <a:path w="10306685" h="4762500">
                  <a:moveTo>
                    <a:pt x="8454242" y="4699000"/>
                  </a:moveTo>
                  <a:lnTo>
                    <a:pt x="4439798" y="4699000"/>
                  </a:lnTo>
                  <a:lnTo>
                    <a:pt x="4610947" y="4724400"/>
                  </a:lnTo>
                  <a:lnTo>
                    <a:pt x="4834951" y="4724400"/>
                  </a:lnTo>
                  <a:lnTo>
                    <a:pt x="5119359" y="4749800"/>
                  </a:lnTo>
                  <a:lnTo>
                    <a:pt x="5363498" y="4762500"/>
                  </a:lnTo>
                  <a:lnTo>
                    <a:pt x="6976827" y="4762500"/>
                  </a:lnTo>
                  <a:lnTo>
                    <a:pt x="7439934" y="4737100"/>
                  </a:lnTo>
                  <a:lnTo>
                    <a:pt x="8031405" y="4737100"/>
                  </a:lnTo>
                  <a:lnTo>
                    <a:pt x="8137114" y="4724400"/>
                  </a:lnTo>
                  <a:lnTo>
                    <a:pt x="8348533" y="4711700"/>
                  </a:lnTo>
                  <a:lnTo>
                    <a:pt x="8454242" y="4699000"/>
                  </a:lnTo>
                  <a:close/>
                </a:path>
                <a:path w="10306685" h="4762500">
                  <a:moveTo>
                    <a:pt x="65439" y="4140200"/>
                  </a:moveTo>
                  <a:lnTo>
                    <a:pt x="67956" y="4305300"/>
                  </a:lnTo>
                  <a:lnTo>
                    <a:pt x="110743" y="4305300"/>
                  </a:lnTo>
                  <a:lnTo>
                    <a:pt x="113260" y="4318000"/>
                  </a:lnTo>
                  <a:lnTo>
                    <a:pt x="135912" y="4330700"/>
                  </a:lnTo>
                  <a:lnTo>
                    <a:pt x="166114" y="4330700"/>
                  </a:lnTo>
                  <a:lnTo>
                    <a:pt x="166114" y="4343400"/>
                  </a:lnTo>
                  <a:lnTo>
                    <a:pt x="203868" y="4343400"/>
                  </a:lnTo>
                  <a:lnTo>
                    <a:pt x="463108" y="4394200"/>
                  </a:lnTo>
                  <a:lnTo>
                    <a:pt x="581402" y="4419600"/>
                  </a:lnTo>
                  <a:lnTo>
                    <a:pt x="669493" y="4419600"/>
                  </a:lnTo>
                  <a:lnTo>
                    <a:pt x="727381" y="4432300"/>
                  </a:lnTo>
                  <a:lnTo>
                    <a:pt x="979071" y="4432300"/>
                  </a:lnTo>
                  <a:lnTo>
                    <a:pt x="1439662" y="4445000"/>
                  </a:lnTo>
                  <a:lnTo>
                    <a:pt x="1545372" y="4445000"/>
                  </a:lnTo>
                  <a:lnTo>
                    <a:pt x="2771098" y="4546600"/>
                  </a:lnTo>
                  <a:lnTo>
                    <a:pt x="2977484" y="4559300"/>
                  </a:lnTo>
                  <a:lnTo>
                    <a:pt x="3105845" y="4584700"/>
                  </a:lnTo>
                  <a:lnTo>
                    <a:pt x="3677180" y="4648200"/>
                  </a:lnTo>
                  <a:lnTo>
                    <a:pt x="4167974" y="4686300"/>
                  </a:lnTo>
                  <a:lnTo>
                    <a:pt x="4384427" y="4699000"/>
                  </a:lnTo>
                  <a:lnTo>
                    <a:pt x="8897215" y="4699000"/>
                  </a:lnTo>
                  <a:lnTo>
                    <a:pt x="9000408" y="4686300"/>
                  </a:lnTo>
                  <a:lnTo>
                    <a:pt x="9219378" y="4686300"/>
                  </a:lnTo>
                  <a:lnTo>
                    <a:pt x="9403112" y="4673600"/>
                  </a:lnTo>
                  <a:lnTo>
                    <a:pt x="9554124" y="4660900"/>
                  </a:lnTo>
                  <a:lnTo>
                    <a:pt x="9657316" y="4660900"/>
                  </a:lnTo>
                  <a:lnTo>
                    <a:pt x="9818398" y="4648200"/>
                  </a:lnTo>
                  <a:lnTo>
                    <a:pt x="9868736" y="4635500"/>
                  </a:lnTo>
                  <a:lnTo>
                    <a:pt x="10002131" y="4635500"/>
                  </a:lnTo>
                  <a:lnTo>
                    <a:pt x="10153145" y="4622800"/>
                  </a:lnTo>
                  <a:lnTo>
                    <a:pt x="10203482" y="4610100"/>
                  </a:lnTo>
                  <a:lnTo>
                    <a:pt x="5517028" y="4610100"/>
                  </a:lnTo>
                  <a:lnTo>
                    <a:pt x="5272889" y="4597400"/>
                  </a:lnTo>
                  <a:lnTo>
                    <a:pt x="4985964" y="4572000"/>
                  </a:lnTo>
                  <a:lnTo>
                    <a:pt x="4764478" y="4572000"/>
                  </a:lnTo>
                  <a:lnTo>
                    <a:pt x="4590812" y="4546600"/>
                  </a:lnTo>
                  <a:lnTo>
                    <a:pt x="4535441" y="4546600"/>
                  </a:lnTo>
                  <a:lnTo>
                    <a:pt x="4318988" y="4533900"/>
                  </a:lnTo>
                  <a:lnTo>
                    <a:pt x="3830710" y="4495800"/>
                  </a:lnTo>
                  <a:lnTo>
                    <a:pt x="3707383" y="4483100"/>
                  </a:lnTo>
                  <a:lnTo>
                    <a:pt x="3259375" y="4432300"/>
                  </a:lnTo>
                  <a:lnTo>
                    <a:pt x="3131014" y="4406900"/>
                  </a:lnTo>
                  <a:lnTo>
                    <a:pt x="2922112" y="4394200"/>
                  </a:lnTo>
                  <a:lnTo>
                    <a:pt x="1698902" y="4292600"/>
                  </a:lnTo>
                  <a:lnTo>
                    <a:pt x="218969" y="4292600"/>
                  </a:lnTo>
                  <a:lnTo>
                    <a:pt x="65439" y="4140200"/>
                  </a:lnTo>
                  <a:close/>
                </a:path>
                <a:path w="10306685" h="4762500">
                  <a:moveTo>
                    <a:pt x="9997097" y="165100"/>
                  </a:moveTo>
                  <a:lnTo>
                    <a:pt x="9843567" y="165100"/>
                  </a:lnTo>
                  <a:lnTo>
                    <a:pt x="9846085" y="215900"/>
                  </a:lnTo>
                  <a:lnTo>
                    <a:pt x="9846085" y="241300"/>
                  </a:lnTo>
                  <a:lnTo>
                    <a:pt x="9841049" y="292100"/>
                  </a:lnTo>
                  <a:lnTo>
                    <a:pt x="9823432" y="368300"/>
                  </a:lnTo>
                  <a:lnTo>
                    <a:pt x="9823432" y="431800"/>
                  </a:lnTo>
                  <a:lnTo>
                    <a:pt x="9805813" y="571500"/>
                  </a:lnTo>
                  <a:lnTo>
                    <a:pt x="9785679" y="685800"/>
                  </a:lnTo>
                  <a:lnTo>
                    <a:pt x="9778128" y="749300"/>
                  </a:lnTo>
                  <a:lnTo>
                    <a:pt x="9765542" y="812800"/>
                  </a:lnTo>
                  <a:lnTo>
                    <a:pt x="9755476" y="889000"/>
                  </a:lnTo>
                  <a:lnTo>
                    <a:pt x="9747925" y="990600"/>
                  </a:lnTo>
                  <a:lnTo>
                    <a:pt x="9745408" y="1282700"/>
                  </a:lnTo>
                  <a:lnTo>
                    <a:pt x="9747925" y="1409700"/>
                  </a:lnTo>
                  <a:lnTo>
                    <a:pt x="9770578" y="1752600"/>
                  </a:lnTo>
                  <a:lnTo>
                    <a:pt x="9790712" y="1955800"/>
                  </a:lnTo>
                  <a:lnTo>
                    <a:pt x="9828466" y="2273300"/>
                  </a:lnTo>
                  <a:lnTo>
                    <a:pt x="9856151" y="2527300"/>
                  </a:lnTo>
                  <a:lnTo>
                    <a:pt x="9888871" y="2933700"/>
                  </a:lnTo>
                  <a:lnTo>
                    <a:pt x="9924108" y="3327400"/>
                  </a:lnTo>
                  <a:lnTo>
                    <a:pt x="9939209" y="3467100"/>
                  </a:lnTo>
                  <a:lnTo>
                    <a:pt x="10017232" y="4064000"/>
                  </a:lnTo>
                  <a:lnTo>
                    <a:pt x="10029818" y="4152900"/>
                  </a:lnTo>
                  <a:lnTo>
                    <a:pt x="10065054" y="4330700"/>
                  </a:lnTo>
                  <a:lnTo>
                    <a:pt x="10095256" y="4457700"/>
                  </a:lnTo>
                  <a:lnTo>
                    <a:pt x="10052469" y="4457700"/>
                  </a:lnTo>
                  <a:lnTo>
                    <a:pt x="10002131" y="4470400"/>
                  </a:lnTo>
                  <a:lnTo>
                    <a:pt x="9848601" y="4483100"/>
                  </a:lnTo>
                  <a:lnTo>
                    <a:pt x="9715206" y="4483100"/>
                  </a:lnTo>
                  <a:lnTo>
                    <a:pt x="9667385" y="4495800"/>
                  </a:lnTo>
                  <a:lnTo>
                    <a:pt x="9503786" y="4508500"/>
                  </a:lnTo>
                  <a:lnTo>
                    <a:pt x="9403112" y="4508500"/>
                  </a:lnTo>
                  <a:lnTo>
                    <a:pt x="9252098" y="4521200"/>
                  </a:lnTo>
                  <a:lnTo>
                    <a:pt x="9065847" y="4533900"/>
                  </a:lnTo>
                  <a:lnTo>
                    <a:pt x="8849394" y="4533900"/>
                  </a:lnTo>
                  <a:lnTo>
                    <a:pt x="8746201" y="4546600"/>
                  </a:lnTo>
                  <a:lnTo>
                    <a:pt x="8300712" y="4546600"/>
                  </a:lnTo>
                  <a:lnTo>
                    <a:pt x="8195002" y="4559300"/>
                  </a:lnTo>
                  <a:lnTo>
                    <a:pt x="7986101" y="4572000"/>
                  </a:lnTo>
                  <a:lnTo>
                    <a:pt x="7880391" y="4584700"/>
                  </a:lnTo>
                  <a:lnTo>
                    <a:pt x="7288921" y="4584700"/>
                  </a:lnTo>
                  <a:lnTo>
                    <a:pt x="6825812" y="4610100"/>
                  </a:lnTo>
                  <a:lnTo>
                    <a:pt x="10278989" y="4610100"/>
                  </a:lnTo>
                  <a:lnTo>
                    <a:pt x="10299124" y="4597400"/>
                  </a:lnTo>
                  <a:lnTo>
                    <a:pt x="10306675" y="4584700"/>
                  </a:lnTo>
                  <a:lnTo>
                    <a:pt x="10306675" y="4432300"/>
                  </a:lnTo>
                  <a:lnTo>
                    <a:pt x="10294091" y="4419600"/>
                  </a:lnTo>
                  <a:lnTo>
                    <a:pt x="10273956" y="4394200"/>
                  </a:lnTo>
                  <a:lnTo>
                    <a:pt x="10251303" y="4330700"/>
                  </a:lnTo>
                  <a:lnTo>
                    <a:pt x="10228652" y="4229100"/>
                  </a:lnTo>
                  <a:lnTo>
                    <a:pt x="10183348" y="4000500"/>
                  </a:lnTo>
                  <a:lnTo>
                    <a:pt x="10168246" y="3911600"/>
                  </a:lnTo>
                  <a:lnTo>
                    <a:pt x="10092739" y="3314700"/>
                  </a:lnTo>
                  <a:lnTo>
                    <a:pt x="10077638" y="3175000"/>
                  </a:lnTo>
                  <a:lnTo>
                    <a:pt x="10042401" y="2781300"/>
                  </a:lnTo>
                  <a:lnTo>
                    <a:pt x="10009681" y="2374900"/>
                  </a:lnTo>
                  <a:lnTo>
                    <a:pt x="9981996" y="2120900"/>
                  </a:lnTo>
                  <a:lnTo>
                    <a:pt x="9941726" y="1803400"/>
                  </a:lnTo>
                  <a:lnTo>
                    <a:pt x="9924108" y="1600200"/>
                  </a:lnTo>
                  <a:lnTo>
                    <a:pt x="9909006" y="1409700"/>
                  </a:lnTo>
                  <a:lnTo>
                    <a:pt x="9901455" y="1257300"/>
                  </a:lnTo>
                  <a:lnTo>
                    <a:pt x="9898938" y="1143000"/>
                  </a:lnTo>
                  <a:lnTo>
                    <a:pt x="9903973" y="1066800"/>
                  </a:lnTo>
                  <a:lnTo>
                    <a:pt x="9916556" y="965200"/>
                  </a:lnTo>
                  <a:lnTo>
                    <a:pt x="9931658" y="901700"/>
                  </a:lnTo>
                  <a:lnTo>
                    <a:pt x="9939209" y="838200"/>
                  </a:lnTo>
                  <a:lnTo>
                    <a:pt x="9959344" y="723900"/>
                  </a:lnTo>
                  <a:lnTo>
                    <a:pt x="9976962" y="584200"/>
                  </a:lnTo>
                  <a:lnTo>
                    <a:pt x="9976962" y="520700"/>
                  </a:lnTo>
                  <a:lnTo>
                    <a:pt x="9994581" y="444500"/>
                  </a:lnTo>
                  <a:lnTo>
                    <a:pt x="9997097" y="393700"/>
                  </a:lnTo>
                  <a:lnTo>
                    <a:pt x="9997097" y="165100"/>
                  </a:lnTo>
                  <a:close/>
                </a:path>
                <a:path w="10306685" h="4762500">
                  <a:moveTo>
                    <a:pt x="442973" y="136749"/>
                  </a:moveTo>
                  <a:lnTo>
                    <a:pt x="314611" y="342900"/>
                  </a:lnTo>
                  <a:lnTo>
                    <a:pt x="276858" y="431800"/>
                  </a:lnTo>
                  <a:lnTo>
                    <a:pt x="221486" y="571500"/>
                  </a:lnTo>
                  <a:lnTo>
                    <a:pt x="171148" y="749300"/>
                  </a:lnTo>
                  <a:lnTo>
                    <a:pt x="105709" y="1028700"/>
                  </a:lnTo>
                  <a:lnTo>
                    <a:pt x="100675" y="1079500"/>
                  </a:lnTo>
                  <a:lnTo>
                    <a:pt x="98158" y="1168400"/>
                  </a:lnTo>
                  <a:lnTo>
                    <a:pt x="72989" y="1295400"/>
                  </a:lnTo>
                  <a:lnTo>
                    <a:pt x="67956" y="1333500"/>
                  </a:lnTo>
                  <a:lnTo>
                    <a:pt x="62922" y="1397000"/>
                  </a:lnTo>
                  <a:lnTo>
                    <a:pt x="47820" y="1485900"/>
                  </a:lnTo>
                  <a:lnTo>
                    <a:pt x="35236" y="1612900"/>
                  </a:lnTo>
                  <a:lnTo>
                    <a:pt x="32719" y="1651000"/>
                  </a:lnTo>
                  <a:lnTo>
                    <a:pt x="32719" y="1727200"/>
                  </a:lnTo>
                  <a:lnTo>
                    <a:pt x="12584" y="1930400"/>
                  </a:lnTo>
                  <a:lnTo>
                    <a:pt x="10067" y="1993900"/>
                  </a:lnTo>
                  <a:lnTo>
                    <a:pt x="7550" y="2044700"/>
                  </a:lnTo>
                  <a:lnTo>
                    <a:pt x="2516" y="2120900"/>
                  </a:lnTo>
                  <a:lnTo>
                    <a:pt x="0" y="2324100"/>
                  </a:lnTo>
                  <a:lnTo>
                    <a:pt x="0" y="3022600"/>
                  </a:lnTo>
                  <a:lnTo>
                    <a:pt x="5033" y="3124200"/>
                  </a:lnTo>
                  <a:lnTo>
                    <a:pt x="17618" y="3289300"/>
                  </a:lnTo>
                  <a:lnTo>
                    <a:pt x="32719" y="3467100"/>
                  </a:lnTo>
                  <a:lnTo>
                    <a:pt x="32719" y="3517900"/>
                  </a:lnTo>
                  <a:lnTo>
                    <a:pt x="45304" y="3594100"/>
                  </a:lnTo>
                  <a:lnTo>
                    <a:pt x="55371" y="3670300"/>
                  </a:lnTo>
                  <a:lnTo>
                    <a:pt x="55371" y="4267200"/>
                  </a:lnTo>
                  <a:lnTo>
                    <a:pt x="65439" y="4279900"/>
                  </a:lnTo>
                  <a:lnTo>
                    <a:pt x="65439" y="4292600"/>
                  </a:lnTo>
                  <a:lnTo>
                    <a:pt x="67762" y="4292600"/>
                  </a:lnTo>
                  <a:lnTo>
                    <a:pt x="65439" y="4140200"/>
                  </a:lnTo>
                  <a:lnTo>
                    <a:pt x="218969" y="4140200"/>
                  </a:lnTo>
                  <a:lnTo>
                    <a:pt x="218969" y="4127500"/>
                  </a:lnTo>
                  <a:lnTo>
                    <a:pt x="208902" y="4114800"/>
                  </a:lnTo>
                  <a:lnTo>
                    <a:pt x="206385" y="3543300"/>
                  </a:lnTo>
                  <a:lnTo>
                    <a:pt x="206385" y="3517900"/>
                  </a:lnTo>
                  <a:lnTo>
                    <a:pt x="201351" y="3479800"/>
                  </a:lnTo>
                  <a:lnTo>
                    <a:pt x="188767" y="3390900"/>
                  </a:lnTo>
                  <a:lnTo>
                    <a:pt x="186250" y="3340100"/>
                  </a:lnTo>
                  <a:lnTo>
                    <a:pt x="173665" y="3200400"/>
                  </a:lnTo>
                  <a:lnTo>
                    <a:pt x="163598" y="3073400"/>
                  </a:lnTo>
                  <a:lnTo>
                    <a:pt x="153530" y="2908300"/>
                  </a:lnTo>
                  <a:lnTo>
                    <a:pt x="153530" y="2273300"/>
                  </a:lnTo>
                  <a:lnTo>
                    <a:pt x="163598" y="2171700"/>
                  </a:lnTo>
                  <a:lnTo>
                    <a:pt x="163598" y="2082800"/>
                  </a:lnTo>
                  <a:lnTo>
                    <a:pt x="183733" y="1879600"/>
                  </a:lnTo>
                  <a:lnTo>
                    <a:pt x="186250" y="1803400"/>
                  </a:lnTo>
                  <a:lnTo>
                    <a:pt x="188767" y="1765300"/>
                  </a:lnTo>
                  <a:lnTo>
                    <a:pt x="198834" y="1638300"/>
                  </a:lnTo>
                  <a:lnTo>
                    <a:pt x="213935" y="1549400"/>
                  </a:lnTo>
                  <a:lnTo>
                    <a:pt x="218969" y="1485900"/>
                  </a:lnTo>
                  <a:lnTo>
                    <a:pt x="224003" y="1447800"/>
                  </a:lnTo>
                  <a:lnTo>
                    <a:pt x="241621" y="1371600"/>
                  </a:lnTo>
                  <a:lnTo>
                    <a:pt x="249172" y="1320800"/>
                  </a:lnTo>
                  <a:lnTo>
                    <a:pt x="251689" y="1231900"/>
                  </a:lnTo>
                  <a:lnTo>
                    <a:pt x="259239" y="1181100"/>
                  </a:lnTo>
                  <a:lnTo>
                    <a:pt x="289442" y="1041400"/>
                  </a:lnTo>
                  <a:lnTo>
                    <a:pt x="324679" y="901700"/>
                  </a:lnTo>
                  <a:lnTo>
                    <a:pt x="375016" y="723900"/>
                  </a:lnTo>
                  <a:lnTo>
                    <a:pt x="427871" y="584200"/>
                  </a:lnTo>
                  <a:lnTo>
                    <a:pt x="465625" y="495300"/>
                  </a:lnTo>
                  <a:lnTo>
                    <a:pt x="563339" y="304800"/>
                  </a:lnTo>
                  <a:lnTo>
                    <a:pt x="405219" y="304800"/>
                  </a:lnTo>
                  <a:lnTo>
                    <a:pt x="405219" y="292100"/>
                  </a:lnTo>
                  <a:lnTo>
                    <a:pt x="536098" y="292100"/>
                  </a:lnTo>
                  <a:lnTo>
                    <a:pt x="570760" y="290333"/>
                  </a:lnTo>
                  <a:lnTo>
                    <a:pt x="576368" y="279400"/>
                  </a:lnTo>
                  <a:lnTo>
                    <a:pt x="566300" y="279400"/>
                  </a:lnTo>
                  <a:lnTo>
                    <a:pt x="455557" y="266700"/>
                  </a:lnTo>
                  <a:lnTo>
                    <a:pt x="442973" y="266700"/>
                  </a:lnTo>
                  <a:lnTo>
                    <a:pt x="442973" y="136749"/>
                  </a:lnTo>
                  <a:close/>
                </a:path>
                <a:path w="10306685" h="4762500">
                  <a:moveTo>
                    <a:pt x="218969" y="4140200"/>
                  </a:moveTo>
                  <a:lnTo>
                    <a:pt x="65439" y="4140200"/>
                  </a:lnTo>
                  <a:lnTo>
                    <a:pt x="218969" y="4292600"/>
                  </a:lnTo>
                  <a:lnTo>
                    <a:pt x="1593193" y="4292600"/>
                  </a:lnTo>
                  <a:lnTo>
                    <a:pt x="963969" y="4279900"/>
                  </a:lnTo>
                  <a:lnTo>
                    <a:pt x="878395" y="4279900"/>
                  </a:lnTo>
                  <a:lnTo>
                    <a:pt x="820507" y="4267200"/>
                  </a:lnTo>
                  <a:lnTo>
                    <a:pt x="732415" y="4267200"/>
                  </a:lnTo>
                  <a:lnTo>
                    <a:pt x="614121" y="4241800"/>
                  </a:lnTo>
                  <a:lnTo>
                    <a:pt x="357398" y="4191000"/>
                  </a:lnTo>
                  <a:lnTo>
                    <a:pt x="317128" y="4191000"/>
                  </a:lnTo>
                  <a:lnTo>
                    <a:pt x="317128" y="4178300"/>
                  </a:lnTo>
                  <a:lnTo>
                    <a:pt x="289442" y="4178300"/>
                  </a:lnTo>
                  <a:lnTo>
                    <a:pt x="274341" y="4165600"/>
                  </a:lnTo>
                  <a:lnTo>
                    <a:pt x="264273" y="4165600"/>
                  </a:lnTo>
                  <a:lnTo>
                    <a:pt x="261756" y="4152900"/>
                  </a:lnTo>
                  <a:lnTo>
                    <a:pt x="218969" y="4152900"/>
                  </a:lnTo>
                  <a:lnTo>
                    <a:pt x="218969" y="4140200"/>
                  </a:lnTo>
                  <a:close/>
                </a:path>
                <a:path w="10306685" h="4762500">
                  <a:moveTo>
                    <a:pt x="762618" y="289397"/>
                  </a:moveTo>
                  <a:lnTo>
                    <a:pt x="762618" y="330200"/>
                  </a:lnTo>
                  <a:lnTo>
                    <a:pt x="928733" y="330200"/>
                  </a:lnTo>
                  <a:lnTo>
                    <a:pt x="1151478" y="292100"/>
                  </a:lnTo>
                  <a:lnTo>
                    <a:pt x="787787" y="292100"/>
                  </a:lnTo>
                  <a:lnTo>
                    <a:pt x="762618" y="289397"/>
                  </a:lnTo>
                  <a:close/>
                </a:path>
                <a:path w="10306685" h="4762500">
                  <a:moveTo>
                    <a:pt x="1849916" y="266700"/>
                  </a:moveTo>
                  <a:lnTo>
                    <a:pt x="1427078" y="266700"/>
                  </a:lnTo>
                  <a:lnTo>
                    <a:pt x="1344020" y="279400"/>
                  </a:lnTo>
                  <a:lnTo>
                    <a:pt x="1225726" y="279400"/>
                  </a:lnTo>
                  <a:lnTo>
                    <a:pt x="928733" y="330200"/>
                  </a:lnTo>
                  <a:lnTo>
                    <a:pt x="1673733" y="330200"/>
                  </a:lnTo>
                  <a:lnTo>
                    <a:pt x="1749240" y="317500"/>
                  </a:lnTo>
                  <a:lnTo>
                    <a:pt x="1849916" y="317500"/>
                  </a:lnTo>
                  <a:lnTo>
                    <a:pt x="1849916" y="292100"/>
                  </a:lnTo>
                  <a:lnTo>
                    <a:pt x="1706453" y="292100"/>
                  </a:lnTo>
                  <a:lnTo>
                    <a:pt x="1849916" y="276190"/>
                  </a:lnTo>
                  <a:lnTo>
                    <a:pt x="1849916" y="266700"/>
                  </a:lnTo>
                  <a:close/>
                </a:path>
                <a:path w="10306685" h="4762500">
                  <a:moveTo>
                    <a:pt x="417294" y="138058"/>
                  </a:moveTo>
                  <a:lnTo>
                    <a:pt x="385084" y="139700"/>
                  </a:lnTo>
                  <a:lnTo>
                    <a:pt x="254206" y="139700"/>
                  </a:lnTo>
                  <a:lnTo>
                    <a:pt x="254206" y="304800"/>
                  </a:lnTo>
                  <a:lnTo>
                    <a:pt x="333710" y="304800"/>
                  </a:lnTo>
                  <a:lnTo>
                    <a:pt x="417294" y="138058"/>
                  </a:lnTo>
                  <a:close/>
                </a:path>
                <a:path w="10306685" h="4762500">
                  <a:moveTo>
                    <a:pt x="570760" y="290333"/>
                  </a:moveTo>
                  <a:lnTo>
                    <a:pt x="536098" y="292100"/>
                  </a:lnTo>
                  <a:lnTo>
                    <a:pt x="405219" y="292100"/>
                  </a:lnTo>
                  <a:lnTo>
                    <a:pt x="405219" y="304800"/>
                  </a:lnTo>
                  <a:lnTo>
                    <a:pt x="563339" y="304800"/>
                  </a:lnTo>
                  <a:lnTo>
                    <a:pt x="570760" y="290333"/>
                  </a:lnTo>
                  <a:close/>
                </a:path>
                <a:path w="10306685" h="4762500">
                  <a:moveTo>
                    <a:pt x="1225726" y="279400"/>
                  </a:moveTo>
                  <a:lnTo>
                    <a:pt x="785270" y="279400"/>
                  </a:lnTo>
                  <a:lnTo>
                    <a:pt x="762618" y="280554"/>
                  </a:lnTo>
                  <a:lnTo>
                    <a:pt x="762618" y="289397"/>
                  </a:lnTo>
                  <a:lnTo>
                    <a:pt x="787787" y="292100"/>
                  </a:lnTo>
                  <a:lnTo>
                    <a:pt x="1151478" y="292100"/>
                  </a:lnTo>
                  <a:lnTo>
                    <a:pt x="1225726" y="279400"/>
                  </a:lnTo>
                  <a:close/>
                </a:path>
                <a:path w="10306685" h="4762500">
                  <a:moveTo>
                    <a:pt x="1849916" y="276190"/>
                  </a:moveTo>
                  <a:lnTo>
                    <a:pt x="1706453" y="292100"/>
                  </a:lnTo>
                  <a:lnTo>
                    <a:pt x="1849916" y="292100"/>
                  </a:lnTo>
                  <a:lnTo>
                    <a:pt x="1849916" y="276190"/>
                  </a:lnTo>
                  <a:close/>
                </a:path>
                <a:path w="10306685" h="4762500">
                  <a:moveTo>
                    <a:pt x="762618" y="242751"/>
                  </a:moveTo>
                  <a:lnTo>
                    <a:pt x="684594" y="254000"/>
                  </a:lnTo>
                  <a:lnTo>
                    <a:pt x="606571" y="254000"/>
                  </a:lnTo>
                  <a:lnTo>
                    <a:pt x="604054" y="266700"/>
                  </a:lnTo>
                  <a:lnTo>
                    <a:pt x="583919" y="266700"/>
                  </a:lnTo>
                  <a:lnTo>
                    <a:pt x="576368" y="279400"/>
                  </a:lnTo>
                  <a:lnTo>
                    <a:pt x="570760" y="290333"/>
                  </a:lnTo>
                  <a:lnTo>
                    <a:pt x="706764" y="283401"/>
                  </a:lnTo>
                  <a:lnTo>
                    <a:pt x="669493" y="279400"/>
                  </a:lnTo>
                  <a:lnTo>
                    <a:pt x="762618" y="279400"/>
                  </a:lnTo>
                  <a:lnTo>
                    <a:pt x="762618" y="242751"/>
                  </a:lnTo>
                  <a:close/>
                </a:path>
                <a:path w="10306685" h="4762500">
                  <a:moveTo>
                    <a:pt x="762618" y="280554"/>
                  </a:moveTo>
                  <a:lnTo>
                    <a:pt x="706764" y="283401"/>
                  </a:lnTo>
                  <a:lnTo>
                    <a:pt x="762618" y="289397"/>
                  </a:lnTo>
                  <a:lnTo>
                    <a:pt x="762618" y="280554"/>
                  </a:lnTo>
                  <a:close/>
                </a:path>
                <a:path w="10306685" h="4762500">
                  <a:moveTo>
                    <a:pt x="762618" y="279400"/>
                  </a:moveTo>
                  <a:lnTo>
                    <a:pt x="669493" y="279400"/>
                  </a:lnTo>
                  <a:lnTo>
                    <a:pt x="706764" y="283401"/>
                  </a:lnTo>
                  <a:lnTo>
                    <a:pt x="762618" y="280554"/>
                  </a:lnTo>
                  <a:lnTo>
                    <a:pt x="762618" y="279400"/>
                  </a:lnTo>
                  <a:close/>
                </a:path>
                <a:path w="10306685" h="4762500">
                  <a:moveTo>
                    <a:pt x="1948075" y="101600"/>
                  </a:moveTo>
                  <a:lnTo>
                    <a:pt x="1905287" y="101600"/>
                  </a:lnTo>
                  <a:lnTo>
                    <a:pt x="1771892" y="114300"/>
                  </a:lnTo>
                  <a:lnTo>
                    <a:pt x="1273547" y="114300"/>
                  </a:lnTo>
                  <a:lnTo>
                    <a:pt x="1220693" y="122381"/>
                  </a:lnTo>
                  <a:lnTo>
                    <a:pt x="1220693" y="190500"/>
                  </a:lnTo>
                  <a:lnTo>
                    <a:pt x="1193007" y="190500"/>
                  </a:lnTo>
                  <a:lnTo>
                    <a:pt x="1125051" y="215900"/>
                  </a:lnTo>
                  <a:lnTo>
                    <a:pt x="1054578" y="215900"/>
                  </a:lnTo>
                  <a:lnTo>
                    <a:pt x="931250" y="241300"/>
                  </a:lnTo>
                  <a:lnTo>
                    <a:pt x="772686" y="241300"/>
                  </a:lnTo>
                  <a:lnTo>
                    <a:pt x="762618" y="242751"/>
                  </a:lnTo>
                  <a:lnTo>
                    <a:pt x="762618" y="280554"/>
                  </a:lnTo>
                  <a:lnTo>
                    <a:pt x="785270" y="279400"/>
                  </a:lnTo>
                  <a:lnTo>
                    <a:pt x="1109949" y="279400"/>
                  </a:lnTo>
                  <a:lnTo>
                    <a:pt x="1260963" y="266700"/>
                  </a:lnTo>
                  <a:lnTo>
                    <a:pt x="1578091" y="254000"/>
                  </a:lnTo>
                  <a:lnTo>
                    <a:pt x="1849916" y="229061"/>
                  </a:lnTo>
                  <a:lnTo>
                    <a:pt x="1849916" y="177800"/>
                  </a:lnTo>
                  <a:lnTo>
                    <a:pt x="1522720" y="177800"/>
                  </a:lnTo>
                  <a:lnTo>
                    <a:pt x="1598227" y="165100"/>
                  </a:lnTo>
                  <a:lnTo>
                    <a:pt x="2153201" y="165100"/>
                  </a:lnTo>
                  <a:lnTo>
                    <a:pt x="2128452" y="139700"/>
                  </a:lnTo>
                  <a:lnTo>
                    <a:pt x="1552922" y="139700"/>
                  </a:lnTo>
                  <a:lnTo>
                    <a:pt x="1781960" y="114300"/>
                  </a:lnTo>
                  <a:lnTo>
                    <a:pt x="1948075" y="101600"/>
                  </a:lnTo>
                  <a:close/>
                </a:path>
                <a:path w="10306685" h="4762500">
                  <a:moveTo>
                    <a:pt x="583919" y="266700"/>
                  </a:moveTo>
                  <a:lnTo>
                    <a:pt x="455557" y="266700"/>
                  </a:lnTo>
                  <a:lnTo>
                    <a:pt x="566300" y="279400"/>
                  </a:lnTo>
                  <a:lnTo>
                    <a:pt x="576368" y="279400"/>
                  </a:lnTo>
                  <a:lnTo>
                    <a:pt x="583919" y="266700"/>
                  </a:lnTo>
                  <a:close/>
                </a:path>
                <a:path w="10306685" h="4762500">
                  <a:moveTo>
                    <a:pt x="1849916" y="229061"/>
                  </a:moveTo>
                  <a:lnTo>
                    <a:pt x="1578091" y="254000"/>
                  </a:lnTo>
                  <a:lnTo>
                    <a:pt x="1260963" y="266700"/>
                  </a:lnTo>
                  <a:lnTo>
                    <a:pt x="1109949" y="279400"/>
                  </a:lnTo>
                  <a:lnTo>
                    <a:pt x="1344020" y="279400"/>
                  </a:lnTo>
                  <a:lnTo>
                    <a:pt x="1427078" y="266700"/>
                  </a:lnTo>
                  <a:lnTo>
                    <a:pt x="1849916" y="266700"/>
                  </a:lnTo>
                  <a:lnTo>
                    <a:pt x="1849916" y="229061"/>
                  </a:lnTo>
                  <a:close/>
                </a:path>
                <a:path w="10306685" h="4762500">
                  <a:moveTo>
                    <a:pt x="2197216" y="210271"/>
                  </a:moveTo>
                  <a:lnTo>
                    <a:pt x="1854950" y="228600"/>
                  </a:lnTo>
                  <a:lnTo>
                    <a:pt x="1849916" y="229061"/>
                  </a:lnTo>
                  <a:lnTo>
                    <a:pt x="1849916" y="276190"/>
                  </a:lnTo>
                  <a:lnTo>
                    <a:pt x="1935490" y="266700"/>
                  </a:lnTo>
                  <a:lnTo>
                    <a:pt x="1925422" y="266700"/>
                  </a:lnTo>
                  <a:lnTo>
                    <a:pt x="2058818" y="254000"/>
                  </a:lnTo>
                  <a:lnTo>
                    <a:pt x="2131808" y="254000"/>
                  </a:lnTo>
                  <a:lnTo>
                    <a:pt x="2202281" y="241300"/>
                  </a:lnTo>
                  <a:lnTo>
                    <a:pt x="2227450" y="241300"/>
                  </a:lnTo>
                  <a:lnTo>
                    <a:pt x="2197216" y="210271"/>
                  </a:lnTo>
                  <a:close/>
                </a:path>
                <a:path w="10306685" h="4762500">
                  <a:moveTo>
                    <a:pt x="628924" y="127271"/>
                  </a:moveTo>
                  <a:lnTo>
                    <a:pt x="442973" y="136749"/>
                  </a:lnTo>
                  <a:lnTo>
                    <a:pt x="442973" y="266700"/>
                  </a:lnTo>
                  <a:lnTo>
                    <a:pt x="604054" y="266700"/>
                  </a:lnTo>
                  <a:lnTo>
                    <a:pt x="606571" y="254000"/>
                  </a:lnTo>
                  <a:lnTo>
                    <a:pt x="684594" y="254000"/>
                  </a:lnTo>
                  <a:lnTo>
                    <a:pt x="762618" y="242751"/>
                  </a:lnTo>
                  <a:lnTo>
                    <a:pt x="762618" y="241300"/>
                  </a:lnTo>
                  <a:lnTo>
                    <a:pt x="714797" y="241300"/>
                  </a:lnTo>
                  <a:lnTo>
                    <a:pt x="628924" y="127271"/>
                  </a:lnTo>
                  <a:close/>
                </a:path>
                <a:path w="10306685" h="4762500">
                  <a:moveTo>
                    <a:pt x="2101605" y="254000"/>
                  </a:moveTo>
                  <a:lnTo>
                    <a:pt x="2058818" y="254000"/>
                  </a:lnTo>
                  <a:lnTo>
                    <a:pt x="1925422" y="266700"/>
                  </a:lnTo>
                  <a:lnTo>
                    <a:pt x="1935490" y="266700"/>
                  </a:lnTo>
                  <a:lnTo>
                    <a:pt x="2101605" y="254000"/>
                  </a:lnTo>
                  <a:close/>
                </a:path>
                <a:path w="10306685" h="4762500">
                  <a:moveTo>
                    <a:pt x="2229966" y="241300"/>
                  </a:moveTo>
                  <a:lnTo>
                    <a:pt x="2202281" y="241300"/>
                  </a:lnTo>
                  <a:lnTo>
                    <a:pt x="2131808" y="254000"/>
                  </a:lnTo>
                  <a:lnTo>
                    <a:pt x="2222416" y="254000"/>
                  </a:lnTo>
                  <a:lnTo>
                    <a:pt x="2229966" y="241300"/>
                  </a:lnTo>
                  <a:close/>
                </a:path>
                <a:path w="10306685" h="4762500">
                  <a:moveTo>
                    <a:pt x="1193007" y="190500"/>
                  </a:moveTo>
                  <a:lnTo>
                    <a:pt x="1004240" y="190500"/>
                  </a:lnTo>
                  <a:lnTo>
                    <a:pt x="951385" y="203200"/>
                  </a:lnTo>
                  <a:lnTo>
                    <a:pt x="762618" y="233598"/>
                  </a:lnTo>
                  <a:lnTo>
                    <a:pt x="762618" y="242751"/>
                  </a:lnTo>
                  <a:lnTo>
                    <a:pt x="772686" y="241300"/>
                  </a:lnTo>
                  <a:lnTo>
                    <a:pt x="931250" y="241300"/>
                  </a:lnTo>
                  <a:lnTo>
                    <a:pt x="1054578" y="215900"/>
                  </a:lnTo>
                  <a:lnTo>
                    <a:pt x="1125051" y="215900"/>
                  </a:lnTo>
                  <a:lnTo>
                    <a:pt x="1193007" y="190500"/>
                  </a:lnTo>
                  <a:close/>
                </a:path>
                <a:path w="10306685" h="4762500">
                  <a:moveTo>
                    <a:pt x="820507" y="127000"/>
                  </a:moveTo>
                  <a:lnTo>
                    <a:pt x="634256" y="127000"/>
                  </a:lnTo>
                  <a:lnTo>
                    <a:pt x="628924" y="127271"/>
                  </a:lnTo>
                  <a:lnTo>
                    <a:pt x="714797" y="241300"/>
                  </a:lnTo>
                  <a:lnTo>
                    <a:pt x="762618" y="233598"/>
                  </a:lnTo>
                  <a:lnTo>
                    <a:pt x="762618" y="177800"/>
                  </a:lnTo>
                  <a:lnTo>
                    <a:pt x="800372" y="165100"/>
                  </a:lnTo>
                  <a:lnTo>
                    <a:pt x="1001020" y="137234"/>
                  </a:lnTo>
                  <a:lnTo>
                    <a:pt x="820507" y="127000"/>
                  </a:lnTo>
                  <a:close/>
                </a:path>
                <a:path w="10306685" h="4762500">
                  <a:moveTo>
                    <a:pt x="762618" y="233598"/>
                  </a:moveTo>
                  <a:lnTo>
                    <a:pt x="714797" y="241300"/>
                  </a:lnTo>
                  <a:lnTo>
                    <a:pt x="762618" y="241300"/>
                  </a:lnTo>
                  <a:lnTo>
                    <a:pt x="762618" y="233598"/>
                  </a:lnTo>
                  <a:close/>
                </a:path>
                <a:path w="10306685" h="4762500">
                  <a:moveTo>
                    <a:pt x="2235000" y="208306"/>
                  </a:moveTo>
                  <a:lnTo>
                    <a:pt x="2197216" y="210271"/>
                  </a:lnTo>
                  <a:lnTo>
                    <a:pt x="2227450" y="241300"/>
                  </a:lnTo>
                  <a:lnTo>
                    <a:pt x="2235000" y="241300"/>
                  </a:lnTo>
                  <a:lnTo>
                    <a:pt x="2235000" y="208306"/>
                  </a:lnTo>
                  <a:close/>
                </a:path>
                <a:path w="10306685" h="4762500">
                  <a:moveTo>
                    <a:pt x="1001020" y="137234"/>
                  </a:moveTo>
                  <a:lnTo>
                    <a:pt x="800372" y="165100"/>
                  </a:lnTo>
                  <a:lnTo>
                    <a:pt x="762618" y="177800"/>
                  </a:lnTo>
                  <a:lnTo>
                    <a:pt x="762618" y="233598"/>
                  </a:lnTo>
                  <a:lnTo>
                    <a:pt x="951385" y="203200"/>
                  </a:lnTo>
                  <a:lnTo>
                    <a:pt x="1004240" y="190500"/>
                  </a:lnTo>
                  <a:lnTo>
                    <a:pt x="1220693" y="190500"/>
                  </a:lnTo>
                  <a:lnTo>
                    <a:pt x="1220693" y="139700"/>
                  </a:lnTo>
                  <a:lnTo>
                    <a:pt x="1044510" y="139700"/>
                  </a:lnTo>
                  <a:lnTo>
                    <a:pt x="1001020" y="137234"/>
                  </a:lnTo>
                  <a:close/>
                </a:path>
                <a:path w="10306685" h="4762500">
                  <a:moveTo>
                    <a:pt x="2153201" y="165100"/>
                  </a:moveTo>
                  <a:lnTo>
                    <a:pt x="1849916" y="165100"/>
                  </a:lnTo>
                  <a:lnTo>
                    <a:pt x="1849916" y="229061"/>
                  </a:lnTo>
                  <a:lnTo>
                    <a:pt x="1854950" y="228600"/>
                  </a:lnTo>
                  <a:lnTo>
                    <a:pt x="2197216" y="210271"/>
                  </a:lnTo>
                  <a:lnTo>
                    <a:pt x="2153201" y="165100"/>
                  </a:lnTo>
                  <a:close/>
                </a:path>
                <a:path w="10306685" h="4762500">
                  <a:moveTo>
                    <a:pt x="5982653" y="190500"/>
                  </a:moveTo>
                  <a:lnTo>
                    <a:pt x="4107569" y="190500"/>
                  </a:lnTo>
                  <a:lnTo>
                    <a:pt x="4203211" y="203200"/>
                  </a:lnTo>
                  <a:lnTo>
                    <a:pt x="4324021" y="215900"/>
                  </a:lnTo>
                  <a:lnTo>
                    <a:pt x="4407079" y="215900"/>
                  </a:lnTo>
                  <a:lnTo>
                    <a:pt x="4495169" y="228600"/>
                  </a:lnTo>
                  <a:lnTo>
                    <a:pt x="5101741" y="228600"/>
                  </a:lnTo>
                  <a:lnTo>
                    <a:pt x="5982653" y="190500"/>
                  </a:lnTo>
                  <a:close/>
                </a:path>
                <a:path w="10306685" h="4762500">
                  <a:moveTo>
                    <a:pt x="2235000" y="88900"/>
                  </a:moveTo>
                  <a:lnTo>
                    <a:pt x="2078953" y="88900"/>
                  </a:lnTo>
                  <a:lnTo>
                    <a:pt x="2197216" y="210271"/>
                  </a:lnTo>
                  <a:lnTo>
                    <a:pt x="2235000" y="208306"/>
                  </a:lnTo>
                  <a:lnTo>
                    <a:pt x="2235000" y="88900"/>
                  </a:lnTo>
                  <a:close/>
                </a:path>
                <a:path w="10306685" h="4762500">
                  <a:moveTo>
                    <a:pt x="9997097" y="88900"/>
                  </a:moveTo>
                  <a:lnTo>
                    <a:pt x="2235000" y="88900"/>
                  </a:lnTo>
                  <a:lnTo>
                    <a:pt x="2235000" y="208306"/>
                  </a:lnTo>
                  <a:lnTo>
                    <a:pt x="2333159" y="203200"/>
                  </a:lnTo>
                  <a:lnTo>
                    <a:pt x="2411183" y="190500"/>
                  </a:lnTo>
                  <a:lnTo>
                    <a:pt x="5982653" y="190500"/>
                  </a:lnTo>
                  <a:lnTo>
                    <a:pt x="6314883" y="165100"/>
                  </a:lnTo>
                  <a:lnTo>
                    <a:pt x="6410525" y="165100"/>
                  </a:lnTo>
                  <a:lnTo>
                    <a:pt x="6493582" y="152400"/>
                  </a:lnTo>
                  <a:lnTo>
                    <a:pt x="9997097" y="152400"/>
                  </a:lnTo>
                  <a:lnTo>
                    <a:pt x="9997097" y="88900"/>
                  </a:lnTo>
                  <a:close/>
                </a:path>
                <a:path w="10306685" h="4762500">
                  <a:moveTo>
                    <a:pt x="3506031" y="190500"/>
                  </a:moveTo>
                  <a:lnTo>
                    <a:pt x="2740896" y="190500"/>
                  </a:lnTo>
                  <a:lnTo>
                    <a:pt x="2980001" y="203200"/>
                  </a:lnTo>
                  <a:lnTo>
                    <a:pt x="3186386" y="203200"/>
                  </a:lnTo>
                  <a:lnTo>
                    <a:pt x="3506031" y="190500"/>
                  </a:lnTo>
                  <a:close/>
                </a:path>
                <a:path w="10306685" h="4762500">
                  <a:moveTo>
                    <a:pt x="9997097" y="152400"/>
                  </a:moveTo>
                  <a:lnTo>
                    <a:pt x="6543920" y="152400"/>
                  </a:lnTo>
                  <a:lnTo>
                    <a:pt x="6710036" y="165100"/>
                  </a:lnTo>
                  <a:lnTo>
                    <a:pt x="6979343" y="190500"/>
                  </a:lnTo>
                  <a:lnTo>
                    <a:pt x="7668972" y="190500"/>
                  </a:lnTo>
                  <a:lnTo>
                    <a:pt x="8557435" y="177800"/>
                  </a:lnTo>
                  <a:lnTo>
                    <a:pt x="9315020" y="177800"/>
                  </a:lnTo>
                  <a:lnTo>
                    <a:pt x="9843567" y="165100"/>
                  </a:lnTo>
                  <a:lnTo>
                    <a:pt x="9997097" y="165100"/>
                  </a:lnTo>
                  <a:lnTo>
                    <a:pt x="9997097" y="152400"/>
                  </a:lnTo>
                  <a:close/>
                </a:path>
                <a:path w="10306685" h="4762500">
                  <a:moveTo>
                    <a:pt x="1849916" y="165100"/>
                  </a:moveTo>
                  <a:lnTo>
                    <a:pt x="1598227" y="165100"/>
                  </a:lnTo>
                  <a:lnTo>
                    <a:pt x="1522720" y="177800"/>
                  </a:lnTo>
                  <a:lnTo>
                    <a:pt x="1849916" y="177800"/>
                  </a:lnTo>
                  <a:lnTo>
                    <a:pt x="1849916" y="165100"/>
                  </a:lnTo>
                  <a:close/>
                </a:path>
                <a:path w="10306685" h="4762500">
                  <a:moveTo>
                    <a:pt x="1220693" y="122381"/>
                  </a:moveTo>
                  <a:lnTo>
                    <a:pt x="1190490" y="127000"/>
                  </a:lnTo>
                  <a:lnTo>
                    <a:pt x="1074713" y="127000"/>
                  </a:lnTo>
                  <a:lnTo>
                    <a:pt x="1001020" y="137234"/>
                  </a:lnTo>
                  <a:lnTo>
                    <a:pt x="1044510" y="139700"/>
                  </a:lnTo>
                  <a:lnTo>
                    <a:pt x="1220693" y="139700"/>
                  </a:lnTo>
                  <a:lnTo>
                    <a:pt x="1220693" y="122381"/>
                  </a:lnTo>
                  <a:close/>
                </a:path>
                <a:path w="10306685" h="4762500">
                  <a:moveTo>
                    <a:pt x="2078953" y="88900"/>
                  </a:moveTo>
                  <a:lnTo>
                    <a:pt x="2071402" y="101600"/>
                  </a:lnTo>
                  <a:lnTo>
                    <a:pt x="1948075" y="101600"/>
                  </a:lnTo>
                  <a:lnTo>
                    <a:pt x="1781960" y="114300"/>
                  </a:lnTo>
                  <a:lnTo>
                    <a:pt x="1552922" y="139700"/>
                  </a:lnTo>
                  <a:lnTo>
                    <a:pt x="2128452" y="139700"/>
                  </a:lnTo>
                  <a:lnTo>
                    <a:pt x="2078953" y="88900"/>
                  </a:lnTo>
                  <a:close/>
                </a:path>
                <a:path w="10306685" h="4762500">
                  <a:moveTo>
                    <a:pt x="442973" y="114300"/>
                  </a:moveTo>
                  <a:lnTo>
                    <a:pt x="432905" y="114300"/>
                  </a:lnTo>
                  <a:lnTo>
                    <a:pt x="422838" y="127000"/>
                  </a:lnTo>
                  <a:lnTo>
                    <a:pt x="417294" y="138058"/>
                  </a:lnTo>
                  <a:lnTo>
                    <a:pt x="442973" y="136749"/>
                  </a:lnTo>
                  <a:lnTo>
                    <a:pt x="442973" y="114300"/>
                  </a:lnTo>
                  <a:close/>
                </a:path>
                <a:path w="10306685" h="4762500">
                  <a:moveTo>
                    <a:pt x="1074713" y="127000"/>
                  </a:moveTo>
                  <a:lnTo>
                    <a:pt x="820507" y="127000"/>
                  </a:lnTo>
                  <a:lnTo>
                    <a:pt x="1001020" y="137234"/>
                  </a:lnTo>
                  <a:lnTo>
                    <a:pt x="1074713" y="127000"/>
                  </a:lnTo>
                  <a:close/>
                </a:path>
                <a:path w="10306685" h="4762500">
                  <a:moveTo>
                    <a:pt x="619155" y="114300"/>
                  </a:moveTo>
                  <a:lnTo>
                    <a:pt x="442973" y="114300"/>
                  </a:lnTo>
                  <a:lnTo>
                    <a:pt x="442973" y="136749"/>
                  </a:lnTo>
                  <a:lnTo>
                    <a:pt x="628924" y="127271"/>
                  </a:lnTo>
                  <a:lnTo>
                    <a:pt x="619155" y="114300"/>
                  </a:lnTo>
                  <a:close/>
                </a:path>
                <a:path w="10306685" h="4762500">
                  <a:moveTo>
                    <a:pt x="619155" y="114300"/>
                  </a:moveTo>
                  <a:lnTo>
                    <a:pt x="628924" y="127271"/>
                  </a:lnTo>
                  <a:lnTo>
                    <a:pt x="634256" y="127000"/>
                  </a:lnTo>
                  <a:lnTo>
                    <a:pt x="719831" y="127000"/>
                  </a:lnTo>
                  <a:lnTo>
                    <a:pt x="619155" y="114300"/>
                  </a:lnTo>
                  <a:close/>
                </a:path>
                <a:path w="10306685" h="4762500">
                  <a:moveTo>
                    <a:pt x="1039476" y="38100"/>
                  </a:moveTo>
                  <a:lnTo>
                    <a:pt x="853226" y="38100"/>
                  </a:lnTo>
                  <a:lnTo>
                    <a:pt x="797854" y="50800"/>
                  </a:lnTo>
                  <a:lnTo>
                    <a:pt x="453040" y="113854"/>
                  </a:lnTo>
                  <a:lnTo>
                    <a:pt x="453040" y="114300"/>
                  </a:lnTo>
                  <a:lnTo>
                    <a:pt x="619155" y="114300"/>
                  </a:lnTo>
                  <a:lnTo>
                    <a:pt x="719831" y="127000"/>
                  </a:lnTo>
                  <a:lnTo>
                    <a:pt x="958936" y="127000"/>
                  </a:lnTo>
                  <a:lnTo>
                    <a:pt x="1109949" y="114300"/>
                  </a:lnTo>
                  <a:lnTo>
                    <a:pt x="1220693" y="109829"/>
                  </a:lnTo>
                  <a:lnTo>
                    <a:pt x="1220693" y="101600"/>
                  </a:lnTo>
                  <a:lnTo>
                    <a:pt x="531064" y="101600"/>
                  </a:lnTo>
                  <a:lnTo>
                    <a:pt x="621672" y="88900"/>
                  </a:lnTo>
                  <a:lnTo>
                    <a:pt x="699696" y="88900"/>
                  </a:lnTo>
                  <a:lnTo>
                    <a:pt x="780236" y="76200"/>
                  </a:lnTo>
                  <a:lnTo>
                    <a:pt x="903564" y="63500"/>
                  </a:lnTo>
                  <a:lnTo>
                    <a:pt x="971520" y="63500"/>
                  </a:lnTo>
                  <a:lnTo>
                    <a:pt x="1039476" y="38100"/>
                  </a:lnTo>
                  <a:close/>
                </a:path>
                <a:path w="10306685" h="4762500">
                  <a:moveTo>
                    <a:pt x="1220693" y="109829"/>
                  </a:moveTo>
                  <a:lnTo>
                    <a:pt x="1109949" y="114300"/>
                  </a:lnTo>
                  <a:lnTo>
                    <a:pt x="958936" y="127000"/>
                  </a:lnTo>
                  <a:lnTo>
                    <a:pt x="1190490" y="127000"/>
                  </a:lnTo>
                  <a:lnTo>
                    <a:pt x="1220693" y="122381"/>
                  </a:lnTo>
                  <a:lnTo>
                    <a:pt x="1220693" y="109829"/>
                  </a:lnTo>
                  <a:close/>
                </a:path>
                <a:path w="10306685" h="4762500">
                  <a:moveTo>
                    <a:pt x="2891909" y="38100"/>
                  </a:moveTo>
                  <a:lnTo>
                    <a:pt x="2257653" y="38100"/>
                  </a:lnTo>
                  <a:lnTo>
                    <a:pt x="2182145" y="50800"/>
                  </a:lnTo>
                  <a:lnTo>
                    <a:pt x="1703936" y="76200"/>
                  </a:lnTo>
                  <a:lnTo>
                    <a:pt x="1424561" y="101600"/>
                  </a:lnTo>
                  <a:lnTo>
                    <a:pt x="1220693" y="109829"/>
                  </a:lnTo>
                  <a:lnTo>
                    <a:pt x="1220693" y="122381"/>
                  </a:lnTo>
                  <a:lnTo>
                    <a:pt x="1273547" y="114300"/>
                  </a:lnTo>
                  <a:lnTo>
                    <a:pt x="1771892" y="114300"/>
                  </a:lnTo>
                  <a:lnTo>
                    <a:pt x="1905287" y="101600"/>
                  </a:lnTo>
                  <a:lnTo>
                    <a:pt x="1978277" y="101600"/>
                  </a:lnTo>
                  <a:lnTo>
                    <a:pt x="2048750" y="88900"/>
                  </a:lnTo>
                  <a:lnTo>
                    <a:pt x="9997097" y="88900"/>
                  </a:lnTo>
                  <a:lnTo>
                    <a:pt x="9997097" y="76200"/>
                  </a:lnTo>
                  <a:lnTo>
                    <a:pt x="4648700" y="76200"/>
                  </a:lnTo>
                  <a:lnTo>
                    <a:pt x="4560609" y="63500"/>
                  </a:lnTo>
                  <a:lnTo>
                    <a:pt x="4477551" y="63500"/>
                  </a:lnTo>
                  <a:lnTo>
                    <a:pt x="4354224" y="50800"/>
                  </a:lnTo>
                  <a:lnTo>
                    <a:pt x="3090744" y="50800"/>
                  </a:lnTo>
                  <a:lnTo>
                    <a:pt x="2891909" y="38100"/>
                  </a:lnTo>
                  <a:close/>
                </a:path>
                <a:path w="10306685" h="4762500">
                  <a:moveTo>
                    <a:pt x="453040" y="113854"/>
                  </a:moveTo>
                  <a:lnTo>
                    <a:pt x="450523" y="114300"/>
                  </a:lnTo>
                  <a:lnTo>
                    <a:pt x="453040" y="114300"/>
                  </a:lnTo>
                  <a:lnTo>
                    <a:pt x="453040" y="113854"/>
                  </a:lnTo>
                  <a:close/>
                </a:path>
                <a:path w="10306685" h="4762500">
                  <a:moveTo>
                    <a:pt x="522255" y="101600"/>
                  </a:moveTo>
                  <a:lnTo>
                    <a:pt x="453040" y="101600"/>
                  </a:lnTo>
                  <a:lnTo>
                    <a:pt x="453040" y="113854"/>
                  </a:lnTo>
                  <a:lnTo>
                    <a:pt x="522255" y="101600"/>
                  </a:lnTo>
                  <a:close/>
                </a:path>
                <a:path w="10306685" h="4762500">
                  <a:moveTo>
                    <a:pt x="1220693" y="38100"/>
                  </a:moveTo>
                  <a:lnTo>
                    <a:pt x="1039476" y="38100"/>
                  </a:lnTo>
                  <a:lnTo>
                    <a:pt x="971520" y="63500"/>
                  </a:lnTo>
                  <a:lnTo>
                    <a:pt x="903564" y="63500"/>
                  </a:lnTo>
                  <a:lnTo>
                    <a:pt x="780236" y="76200"/>
                  </a:lnTo>
                  <a:lnTo>
                    <a:pt x="699696" y="88900"/>
                  </a:lnTo>
                  <a:lnTo>
                    <a:pt x="621672" y="88900"/>
                  </a:lnTo>
                  <a:lnTo>
                    <a:pt x="531064" y="101600"/>
                  </a:lnTo>
                  <a:lnTo>
                    <a:pt x="1220693" y="101600"/>
                  </a:lnTo>
                  <a:lnTo>
                    <a:pt x="1220693" y="38100"/>
                  </a:lnTo>
                  <a:close/>
                </a:path>
                <a:path w="10306685" h="4762500">
                  <a:moveTo>
                    <a:pt x="2078953" y="88900"/>
                  </a:moveTo>
                  <a:lnTo>
                    <a:pt x="2048750" y="88900"/>
                  </a:lnTo>
                  <a:lnTo>
                    <a:pt x="1978277" y="101600"/>
                  </a:lnTo>
                  <a:lnTo>
                    <a:pt x="2071402" y="101600"/>
                  </a:lnTo>
                  <a:lnTo>
                    <a:pt x="2078953" y="88900"/>
                  </a:lnTo>
                  <a:close/>
                </a:path>
                <a:path w="10306685" h="4762500">
                  <a:moveTo>
                    <a:pt x="6694934" y="0"/>
                  </a:moveTo>
                  <a:lnTo>
                    <a:pt x="6340052" y="0"/>
                  </a:lnTo>
                  <a:lnTo>
                    <a:pt x="6256994" y="12700"/>
                  </a:lnTo>
                  <a:lnTo>
                    <a:pt x="6163869" y="12700"/>
                  </a:lnTo>
                  <a:lnTo>
                    <a:pt x="5831640" y="38100"/>
                  </a:lnTo>
                  <a:lnTo>
                    <a:pt x="4948211" y="76200"/>
                  </a:lnTo>
                  <a:lnTo>
                    <a:pt x="9997097" y="76200"/>
                  </a:lnTo>
                  <a:lnTo>
                    <a:pt x="9997097" y="38100"/>
                  </a:lnTo>
                  <a:lnTo>
                    <a:pt x="7132874" y="38100"/>
                  </a:lnTo>
                  <a:lnTo>
                    <a:pt x="6974309" y="25400"/>
                  </a:lnTo>
                  <a:lnTo>
                    <a:pt x="6863566" y="12700"/>
                  </a:lnTo>
                  <a:lnTo>
                    <a:pt x="6694934" y="0"/>
                  </a:lnTo>
                  <a:close/>
                </a:path>
                <a:path w="10306685" h="4762500">
                  <a:moveTo>
                    <a:pt x="4258582" y="38100"/>
                  </a:moveTo>
                  <a:lnTo>
                    <a:pt x="3352501" y="38100"/>
                  </a:lnTo>
                  <a:lnTo>
                    <a:pt x="3090744" y="50800"/>
                  </a:lnTo>
                  <a:lnTo>
                    <a:pt x="4354224" y="50800"/>
                  </a:lnTo>
                  <a:lnTo>
                    <a:pt x="4258582" y="38100"/>
                  </a:lnTo>
                  <a:close/>
                </a:path>
                <a:path w="10306685" h="4762500">
                  <a:moveTo>
                    <a:pt x="9997097" y="25400"/>
                  </a:moveTo>
                  <a:lnTo>
                    <a:pt x="8403905" y="25400"/>
                  </a:lnTo>
                  <a:lnTo>
                    <a:pt x="7515441" y="38100"/>
                  </a:lnTo>
                  <a:lnTo>
                    <a:pt x="9997097" y="38100"/>
                  </a:lnTo>
                  <a:lnTo>
                    <a:pt x="9997097" y="25400"/>
                  </a:lnTo>
                  <a:close/>
                </a:path>
              </a:pathLst>
            </a:custGeom>
            <a:solidFill>
              <a:srgbClr val="D93025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24851" y="852932"/>
            <a:ext cx="385635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55" dirty="0"/>
              <a:t>Diuréticos</a:t>
            </a:r>
            <a:r>
              <a:rPr sz="3600" spc="-195" dirty="0"/>
              <a:t> </a:t>
            </a:r>
            <a:r>
              <a:rPr sz="3600" spc="-135" dirty="0"/>
              <a:t>de</a:t>
            </a:r>
            <a:r>
              <a:rPr sz="3600" spc="-200" dirty="0"/>
              <a:t> </a:t>
            </a:r>
            <a:r>
              <a:rPr sz="3600" spc="-140" dirty="0"/>
              <a:t>asa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182052" y="2086356"/>
            <a:ext cx="26517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Reacciones</a:t>
            </a:r>
            <a:r>
              <a:rPr sz="2000" spc="-3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9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adversas</a:t>
            </a:r>
            <a:endParaRPr sz="2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66010" y="2605913"/>
            <a:ext cx="1985010" cy="1191260"/>
          </a:xfrm>
          <a:custGeom>
            <a:avLst/>
            <a:gdLst/>
            <a:ahLst/>
            <a:cxnLst/>
            <a:rect l="l" t="t" r="r" b="b"/>
            <a:pathLst>
              <a:path w="1985010" h="1191260">
                <a:moveTo>
                  <a:pt x="1984883" y="0"/>
                </a:moveTo>
                <a:lnTo>
                  <a:pt x="0" y="0"/>
                </a:lnTo>
                <a:lnTo>
                  <a:pt x="0" y="1190929"/>
                </a:lnTo>
                <a:lnTo>
                  <a:pt x="1984883" y="1190929"/>
                </a:lnTo>
                <a:lnTo>
                  <a:pt x="1984883" y="0"/>
                </a:lnTo>
                <a:close/>
              </a:path>
            </a:pathLst>
          </a:custGeom>
          <a:solidFill>
            <a:srgbClr val="0F6F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166010" y="2605913"/>
            <a:ext cx="1985010" cy="1191260"/>
          </a:xfrm>
          <a:prstGeom prst="rect">
            <a:avLst/>
          </a:prstGeom>
          <a:ln w="19050">
            <a:solidFill>
              <a:srgbClr val="FFFFFF"/>
            </a:solidFill>
          </a:ln>
        </p:spPr>
        <p:txBody>
          <a:bodyPr vert="horz" wrap="square" lIns="0" tIns="22415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765"/>
              </a:spcBef>
            </a:pP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319405">
              <a:lnSpc>
                <a:spcPct val="100000"/>
              </a:lnSpc>
              <a:spcBef>
                <a:spcPts val="5"/>
              </a:spcBef>
            </a:pPr>
            <a:r>
              <a:rPr sz="1600" spc="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Hiponatremia</a:t>
            </a:r>
            <a:endParaRPr sz="16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349381" y="2605913"/>
            <a:ext cx="1985010" cy="1191260"/>
          </a:xfrm>
          <a:custGeom>
            <a:avLst/>
            <a:gdLst/>
            <a:ahLst/>
            <a:cxnLst/>
            <a:rect l="l" t="t" r="r" b="b"/>
            <a:pathLst>
              <a:path w="1985010" h="1191260">
                <a:moveTo>
                  <a:pt x="1984883" y="0"/>
                </a:moveTo>
                <a:lnTo>
                  <a:pt x="0" y="0"/>
                </a:lnTo>
                <a:lnTo>
                  <a:pt x="0" y="1190929"/>
                </a:lnTo>
                <a:lnTo>
                  <a:pt x="1984883" y="1190929"/>
                </a:lnTo>
                <a:lnTo>
                  <a:pt x="1984883" y="0"/>
                </a:lnTo>
                <a:close/>
              </a:path>
            </a:pathLst>
          </a:custGeom>
          <a:solidFill>
            <a:srgbClr val="0F6F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349381" y="2605913"/>
            <a:ext cx="1985010" cy="1191260"/>
          </a:xfrm>
          <a:prstGeom prst="rect">
            <a:avLst/>
          </a:prstGeom>
          <a:ln w="19050">
            <a:solidFill>
              <a:srgbClr val="FFFFFF"/>
            </a:solidFill>
          </a:ln>
        </p:spPr>
        <p:txBody>
          <a:bodyPr vert="horz" wrap="square" lIns="0" tIns="132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40"/>
              </a:spcBef>
            </a:pP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74320" marR="266700" indent="300990">
              <a:lnSpc>
                <a:spcPts val="1800"/>
              </a:lnSpc>
            </a:pPr>
            <a:r>
              <a:rPr sz="1600" spc="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Alcalosis </a:t>
            </a:r>
            <a:r>
              <a:rPr sz="1600" spc="10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hipoclorémica</a:t>
            </a:r>
            <a:endParaRPr sz="16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532753" y="2605913"/>
            <a:ext cx="1985010" cy="1191260"/>
          </a:xfrm>
          <a:custGeom>
            <a:avLst/>
            <a:gdLst/>
            <a:ahLst/>
            <a:cxnLst/>
            <a:rect l="l" t="t" r="r" b="b"/>
            <a:pathLst>
              <a:path w="1985009" h="1191260">
                <a:moveTo>
                  <a:pt x="1984882" y="0"/>
                </a:moveTo>
                <a:lnTo>
                  <a:pt x="0" y="0"/>
                </a:lnTo>
                <a:lnTo>
                  <a:pt x="0" y="1190929"/>
                </a:lnTo>
                <a:lnTo>
                  <a:pt x="1984882" y="1190929"/>
                </a:lnTo>
                <a:lnTo>
                  <a:pt x="1984882" y="0"/>
                </a:lnTo>
                <a:close/>
              </a:path>
            </a:pathLst>
          </a:custGeom>
          <a:solidFill>
            <a:srgbClr val="0F6F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532753" y="2605913"/>
            <a:ext cx="1985010" cy="1191260"/>
          </a:xfrm>
          <a:prstGeom prst="rect">
            <a:avLst/>
          </a:prstGeom>
          <a:ln w="19050">
            <a:solidFill>
              <a:srgbClr val="FFFFFF"/>
            </a:solidFill>
          </a:ln>
        </p:spPr>
        <p:txBody>
          <a:bodyPr vert="horz" wrap="square" lIns="0" tIns="22415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765"/>
              </a:spcBef>
            </a:pP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339725">
              <a:lnSpc>
                <a:spcPct val="100000"/>
              </a:lnSpc>
              <a:spcBef>
                <a:spcPts val="5"/>
              </a:spcBef>
            </a:pPr>
            <a:r>
              <a:rPr sz="1600" spc="9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Hipocaliemia</a:t>
            </a:r>
            <a:endParaRPr sz="16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716124" y="2605913"/>
            <a:ext cx="1985010" cy="1191260"/>
          </a:xfrm>
          <a:custGeom>
            <a:avLst/>
            <a:gdLst/>
            <a:ahLst/>
            <a:cxnLst/>
            <a:rect l="l" t="t" r="r" b="b"/>
            <a:pathLst>
              <a:path w="1985009" h="1191260">
                <a:moveTo>
                  <a:pt x="1984870" y="0"/>
                </a:moveTo>
                <a:lnTo>
                  <a:pt x="0" y="0"/>
                </a:lnTo>
                <a:lnTo>
                  <a:pt x="0" y="1190929"/>
                </a:lnTo>
                <a:lnTo>
                  <a:pt x="1984870" y="1190929"/>
                </a:lnTo>
                <a:lnTo>
                  <a:pt x="1984870" y="0"/>
                </a:lnTo>
                <a:close/>
              </a:path>
            </a:pathLst>
          </a:custGeom>
          <a:solidFill>
            <a:srgbClr val="0F6F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8716124" y="2605913"/>
            <a:ext cx="1985010" cy="1191260"/>
          </a:xfrm>
          <a:prstGeom prst="rect">
            <a:avLst/>
          </a:prstGeom>
          <a:ln w="19050">
            <a:solidFill>
              <a:srgbClr val="FFFFFF"/>
            </a:solidFill>
          </a:ln>
        </p:spPr>
        <p:txBody>
          <a:bodyPr vert="horz" wrap="square" lIns="0" tIns="22415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765"/>
              </a:spcBef>
            </a:pP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14935">
              <a:lnSpc>
                <a:spcPct val="100000"/>
              </a:lnSpc>
              <a:spcBef>
                <a:spcPts val="5"/>
              </a:spcBef>
            </a:pPr>
            <a:r>
              <a:rPr sz="1600" spc="10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Hipomagnesemia</a:t>
            </a:r>
            <a:endParaRPr sz="16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166010" y="3995330"/>
            <a:ext cx="1985010" cy="1191260"/>
          </a:xfrm>
          <a:custGeom>
            <a:avLst/>
            <a:gdLst/>
            <a:ahLst/>
            <a:cxnLst/>
            <a:rect l="l" t="t" r="r" b="b"/>
            <a:pathLst>
              <a:path w="1985010" h="1191260">
                <a:moveTo>
                  <a:pt x="1984883" y="0"/>
                </a:moveTo>
                <a:lnTo>
                  <a:pt x="0" y="0"/>
                </a:lnTo>
                <a:lnTo>
                  <a:pt x="0" y="1190917"/>
                </a:lnTo>
                <a:lnTo>
                  <a:pt x="1984883" y="1190917"/>
                </a:lnTo>
                <a:lnTo>
                  <a:pt x="1984883" y="0"/>
                </a:lnTo>
                <a:close/>
              </a:path>
            </a:pathLst>
          </a:custGeom>
          <a:solidFill>
            <a:srgbClr val="0F6F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166010" y="3995330"/>
            <a:ext cx="1985010" cy="1191260"/>
          </a:xfrm>
          <a:prstGeom prst="rect">
            <a:avLst/>
          </a:prstGeom>
          <a:ln w="19050">
            <a:solidFill>
              <a:srgbClr val="FFFFFF"/>
            </a:solidFill>
          </a:ln>
        </p:spPr>
        <p:txBody>
          <a:bodyPr vert="horz" wrap="square" lIns="0" tIns="2247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770"/>
              </a:spcBef>
            </a:pP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94640">
              <a:lnSpc>
                <a:spcPct val="100000"/>
              </a:lnSpc>
            </a:pPr>
            <a:r>
              <a:rPr sz="1600" spc="1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Hipocalcemia</a:t>
            </a:r>
            <a:endParaRPr sz="16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349381" y="3995330"/>
            <a:ext cx="1985010" cy="1191260"/>
          </a:xfrm>
          <a:custGeom>
            <a:avLst/>
            <a:gdLst/>
            <a:ahLst/>
            <a:cxnLst/>
            <a:rect l="l" t="t" r="r" b="b"/>
            <a:pathLst>
              <a:path w="1985010" h="1191260">
                <a:moveTo>
                  <a:pt x="1984883" y="0"/>
                </a:moveTo>
                <a:lnTo>
                  <a:pt x="0" y="0"/>
                </a:lnTo>
                <a:lnTo>
                  <a:pt x="0" y="1190917"/>
                </a:lnTo>
                <a:lnTo>
                  <a:pt x="1984883" y="1190917"/>
                </a:lnTo>
                <a:lnTo>
                  <a:pt x="1984883" y="0"/>
                </a:lnTo>
                <a:close/>
              </a:path>
            </a:pathLst>
          </a:custGeom>
          <a:solidFill>
            <a:srgbClr val="0F6F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349381" y="3995330"/>
            <a:ext cx="1985010" cy="1191260"/>
          </a:xfrm>
          <a:prstGeom prst="rect">
            <a:avLst/>
          </a:prstGeom>
          <a:ln w="19050">
            <a:solidFill>
              <a:srgbClr val="FFFFFF"/>
            </a:solidFill>
          </a:ln>
        </p:spPr>
        <p:txBody>
          <a:bodyPr vert="horz" wrap="square" lIns="0" tIns="2247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770"/>
              </a:spcBef>
            </a:pP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338455">
              <a:lnSpc>
                <a:spcPct val="100000"/>
              </a:lnSpc>
            </a:pPr>
            <a:r>
              <a:rPr sz="1600" spc="10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Ototoxicidad</a:t>
            </a:r>
            <a:endParaRPr sz="16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532753" y="3995330"/>
            <a:ext cx="1985010" cy="1191260"/>
          </a:xfrm>
          <a:custGeom>
            <a:avLst/>
            <a:gdLst/>
            <a:ahLst/>
            <a:cxnLst/>
            <a:rect l="l" t="t" r="r" b="b"/>
            <a:pathLst>
              <a:path w="1985009" h="1191260">
                <a:moveTo>
                  <a:pt x="1984882" y="0"/>
                </a:moveTo>
                <a:lnTo>
                  <a:pt x="0" y="0"/>
                </a:lnTo>
                <a:lnTo>
                  <a:pt x="0" y="1190917"/>
                </a:lnTo>
                <a:lnTo>
                  <a:pt x="1984882" y="1190917"/>
                </a:lnTo>
                <a:lnTo>
                  <a:pt x="1984882" y="0"/>
                </a:lnTo>
                <a:close/>
              </a:path>
            </a:pathLst>
          </a:custGeom>
          <a:solidFill>
            <a:srgbClr val="0F6F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532753" y="3995330"/>
            <a:ext cx="1985010" cy="1191260"/>
          </a:xfrm>
          <a:prstGeom prst="rect">
            <a:avLst/>
          </a:prstGeom>
          <a:ln w="19050">
            <a:solidFill>
              <a:srgbClr val="FFFFFF"/>
            </a:solidFill>
          </a:ln>
        </p:spPr>
        <p:txBody>
          <a:bodyPr vert="horz" wrap="square" lIns="0" tIns="2247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770"/>
              </a:spcBef>
            </a:pP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307340">
              <a:lnSpc>
                <a:spcPct val="100000"/>
              </a:lnSpc>
            </a:pPr>
            <a:r>
              <a:rPr sz="1600" spc="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Hiperuricemia</a:t>
            </a:r>
            <a:endParaRPr sz="16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716124" y="3995330"/>
            <a:ext cx="1985010" cy="1191260"/>
          </a:xfrm>
          <a:custGeom>
            <a:avLst/>
            <a:gdLst/>
            <a:ahLst/>
            <a:cxnLst/>
            <a:rect l="l" t="t" r="r" b="b"/>
            <a:pathLst>
              <a:path w="1985009" h="1191260">
                <a:moveTo>
                  <a:pt x="1984870" y="0"/>
                </a:moveTo>
                <a:lnTo>
                  <a:pt x="0" y="0"/>
                </a:lnTo>
                <a:lnTo>
                  <a:pt x="0" y="1190917"/>
                </a:lnTo>
                <a:lnTo>
                  <a:pt x="1984870" y="1190917"/>
                </a:lnTo>
                <a:lnTo>
                  <a:pt x="1984870" y="0"/>
                </a:lnTo>
                <a:close/>
              </a:path>
            </a:pathLst>
          </a:custGeom>
          <a:solidFill>
            <a:srgbClr val="0F6F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8716124" y="3995330"/>
            <a:ext cx="1985010" cy="1191260"/>
          </a:xfrm>
          <a:prstGeom prst="rect">
            <a:avLst/>
          </a:prstGeom>
          <a:ln w="19050">
            <a:solidFill>
              <a:srgbClr val="FFFFFF"/>
            </a:solidFill>
          </a:ln>
        </p:spPr>
        <p:txBody>
          <a:bodyPr vert="horz" wrap="square" lIns="0" tIns="2247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770"/>
              </a:spcBef>
            </a:pP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311150">
              <a:lnSpc>
                <a:spcPct val="100000"/>
              </a:lnSpc>
            </a:pPr>
            <a:r>
              <a:rPr sz="1600" spc="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Hiperglicemia</a:t>
            </a:r>
            <a:endParaRPr sz="16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166010" y="5384736"/>
            <a:ext cx="1985010" cy="1191260"/>
          </a:xfrm>
          <a:custGeom>
            <a:avLst/>
            <a:gdLst/>
            <a:ahLst/>
            <a:cxnLst/>
            <a:rect l="l" t="t" r="r" b="b"/>
            <a:pathLst>
              <a:path w="1985010" h="1191259">
                <a:moveTo>
                  <a:pt x="1984883" y="0"/>
                </a:moveTo>
                <a:lnTo>
                  <a:pt x="0" y="0"/>
                </a:lnTo>
                <a:lnTo>
                  <a:pt x="0" y="1190933"/>
                </a:lnTo>
                <a:lnTo>
                  <a:pt x="1984883" y="1190933"/>
                </a:lnTo>
                <a:lnTo>
                  <a:pt x="1984883" y="0"/>
                </a:lnTo>
                <a:close/>
              </a:path>
            </a:pathLst>
          </a:custGeom>
          <a:solidFill>
            <a:srgbClr val="0F6F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2166010" y="5384736"/>
            <a:ext cx="1985010" cy="1191260"/>
          </a:xfrm>
          <a:prstGeom prst="rect">
            <a:avLst/>
          </a:prstGeom>
          <a:ln w="19050">
            <a:solidFill>
              <a:srgbClr val="FFFFFF"/>
            </a:solidFill>
          </a:ln>
        </p:spPr>
        <p:txBody>
          <a:bodyPr vert="horz" wrap="square" lIns="0" tIns="2254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775"/>
              </a:spcBef>
            </a:pP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366395">
              <a:lnSpc>
                <a:spcPct val="100000"/>
              </a:lnSpc>
            </a:pPr>
            <a:r>
              <a:rPr sz="1600" spc="3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Dislipidemias</a:t>
            </a:r>
            <a:endParaRPr sz="16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349381" y="5384736"/>
            <a:ext cx="1985010" cy="1191260"/>
          </a:xfrm>
          <a:custGeom>
            <a:avLst/>
            <a:gdLst/>
            <a:ahLst/>
            <a:cxnLst/>
            <a:rect l="l" t="t" r="r" b="b"/>
            <a:pathLst>
              <a:path w="1985010" h="1191259">
                <a:moveTo>
                  <a:pt x="1984883" y="0"/>
                </a:moveTo>
                <a:lnTo>
                  <a:pt x="0" y="0"/>
                </a:lnTo>
                <a:lnTo>
                  <a:pt x="0" y="1190933"/>
                </a:lnTo>
                <a:lnTo>
                  <a:pt x="1984883" y="1190933"/>
                </a:lnTo>
                <a:lnTo>
                  <a:pt x="1984883" y="0"/>
                </a:lnTo>
                <a:close/>
              </a:path>
            </a:pathLst>
          </a:custGeom>
          <a:solidFill>
            <a:srgbClr val="0F6F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349381" y="5384736"/>
            <a:ext cx="1985010" cy="1191260"/>
          </a:xfrm>
          <a:prstGeom prst="rect">
            <a:avLst/>
          </a:prstGeom>
          <a:ln w="19050">
            <a:solidFill>
              <a:srgbClr val="FFFFFF"/>
            </a:solidFill>
          </a:ln>
        </p:spPr>
        <p:txBody>
          <a:bodyPr vert="horz" wrap="square" lIns="0" tIns="2254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775"/>
              </a:spcBef>
            </a:pP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62230">
              <a:lnSpc>
                <a:spcPct val="100000"/>
              </a:lnSpc>
            </a:pPr>
            <a:r>
              <a:rPr sz="1600" spc="8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Toxicidad</a:t>
            </a:r>
            <a:r>
              <a:rPr sz="16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spc="1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cutánea</a:t>
            </a:r>
            <a:endParaRPr sz="16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532753" y="5384736"/>
            <a:ext cx="1985010" cy="1191260"/>
          </a:xfrm>
          <a:custGeom>
            <a:avLst/>
            <a:gdLst/>
            <a:ahLst/>
            <a:cxnLst/>
            <a:rect l="l" t="t" r="r" b="b"/>
            <a:pathLst>
              <a:path w="1985009" h="1191259">
                <a:moveTo>
                  <a:pt x="1984882" y="0"/>
                </a:moveTo>
                <a:lnTo>
                  <a:pt x="0" y="0"/>
                </a:lnTo>
                <a:lnTo>
                  <a:pt x="0" y="1190933"/>
                </a:lnTo>
                <a:lnTo>
                  <a:pt x="1984882" y="1190933"/>
                </a:lnTo>
                <a:lnTo>
                  <a:pt x="1984882" y="0"/>
                </a:lnTo>
                <a:close/>
              </a:path>
            </a:pathLst>
          </a:custGeom>
          <a:solidFill>
            <a:srgbClr val="0F6F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6532753" y="5384736"/>
            <a:ext cx="1985010" cy="1191260"/>
          </a:xfrm>
          <a:prstGeom prst="rect">
            <a:avLst/>
          </a:prstGeom>
          <a:ln w="19050">
            <a:solidFill>
              <a:srgbClr val="FFFFFF"/>
            </a:solidFill>
          </a:ln>
        </p:spPr>
        <p:txBody>
          <a:bodyPr vert="horz" wrap="square" lIns="0" tIns="132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45"/>
              </a:spcBef>
            </a:pP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340360" marR="207010" indent="-125730">
              <a:lnSpc>
                <a:spcPts val="1800"/>
              </a:lnSpc>
            </a:pPr>
            <a:r>
              <a:rPr sz="1600" spc="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Depresión</a:t>
            </a:r>
            <a:r>
              <a:rPr sz="1600" spc="-3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spc="19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de</a:t>
            </a:r>
            <a:r>
              <a:rPr sz="1600" spc="-3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spc="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la </a:t>
            </a:r>
            <a:r>
              <a:rPr sz="1600" spc="13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medula</a:t>
            </a:r>
            <a:r>
              <a:rPr sz="1600" spc="-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spc="10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ósea</a:t>
            </a:r>
            <a:endParaRPr sz="16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716124" y="5384736"/>
            <a:ext cx="1985010" cy="1191260"/>
          </a:xfrm>
          <a:custGeom>
            <a:avLst/>
            <a:gdLst/>
            <a:ahLst/>
            <a:cxnLst/>
            <a:rect l="l" t="t" r="r" b="b"/>
            <a:pathLst>
              <a:path w="1985009" h="1191259">
                <a:moveTo>
                  <a:pt x="1984870" y="0"/>
                </a:moveTo>
                <a:lnTo>
                  <a:pt x="0" y="0"/>
                </a:lnTo>
                <a:lnTo>
                  <a:pt x="0" y="1190933"/>
                </a:lnTo>
                <a:lnTo>
                  <a:pt x="1984870" y="1190933"/>
                </a:lnTo>
                <a:lnTo>
                  <a:pt x="1984870" y="0"/>
                </a:lnTo>
                <a:close/>
              </a:path>
            </a:pathLst>
          </a:custGeom>
          <a:solidFill>
            <a:srgbClr val="0F6F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8716124" y="5384736"/>
            <a:ext cx="1985010" cy="1191260"/>
          </a:xfrm>
          <a:prstGeom prst="rect">
            <a:avLst/>
          </a:prstGeom>
          <a:ln w="19050">
            <a:solidFill>
              <a:srgbClr val="FFFFFF"/>
            </a:solidFill>
          </a:ln>
        </p:spPr>
        <p:txBody>
          <a:bodyPr vert="horz" wrap="square" lIns="0" tIns="2254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775"/>
              </a:spcBef>
            </a:pP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8905">
              <a:lnSpc>
                <a:spcPct val="100000"/>
              </a:lnSpc>
            </a:pPr>
            <a:r>
              <a:rPr sz="1600" spc="4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Gastrointestinales</a:t>
            </a:r>
            <a:endParaRPr sz="16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194752" y="2162555"/>
            <a:ext cx="2527935" cy="194310"/>
          </a:xfrm>
          <a:custGeom>
            <a:avLst/>
            <a:gdLst/>
            <a:ahLst/>
            <a:cxnLst/>
            <a:rect l="l" t="t" r="r" b="b"/>
            <a:pathLst>
              <a:path w="2527935" h="194310">
                <a:moveTo>
                  <a:pt x="2527781" y="0"/>
                </a:moveTo>
                <a:lnTo>
                  <a:pt x="0" y="0"/>
                </a:lnTo>
                <a:lnTo>
                  <a:pt x="0" y="193802"/>
                </a:lnTo>
                <a:lnTo>
                  <a:pt x="2527781" y="193802"/>
                </a:lnTo>
                <a:lnTo>
                  <a:pt x="2527781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485694" y="3115055"/>
            <a:ext cx="1345565" cy="191770"/>
          </a:xfrm>
          <a:custGeom>
            <a:avLst/>
            <a:gdLst/>
            <a:ahLst/>
            <a:cxnLst/>
            <a:rect l="l" t="t" r="r" b="b"/>
            <a:pathLst>
              <a:path w="1345564" h="191770">
                <a:moveTo>
                  <a:pt x="1345530" y="0"/>
                </a:moveTo>
                <a:lnTo>
                  <a:pt x="0" y="0"/>
                </a:lnTo>
                <a:lnTo>
                  <a:pt x="0" y="191618"/>
                </a:lnTo>
                <a:lnTo>
                  <a:pt x="1345530" y="191618"/>
                </a:lnTo>
                <a:lnTo>
                  <a:pt x="1345530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925200" y="3002279"/>
            <a:ext cx="889635" cy="155575"/>
          </a:xfrm>
          <a:custGeom>
            <a:avLst/>
            <a:gdLst/>
            <a:ahLst/>
            <a:cxnLst/>
            <a:rect l="l" t="t" r="r" b="b"/>
            <a:pathLst>
              <a:path w="889635" h="155575">
                <a:moveTo>
                  <a:pt x="889467" y="0"/>
                </a:moveTo>
                <a:lnTo>
                  <a:pt x="0" y="0"/>
                </a:lnTo>
                <a:lnTo>
                  <a:pt x="0" y="155041"/>
                </a:lnTo>
                <a:lnTo>
                  <a:pt x="889467" y="155041"/>
                </a:lnTo>
                <a:lnTo>
                  <a:pt x="889467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623955" y="3224783"/>
            <a:ext cx="1436370" cy="198120"/>
          </a:xfrm>
          <a:custGeom>
            <a:avLst/>
            <a:gdLst/>
            <a:ahLst/>
            <a:cxnLst/>
            <a:rect l="l" t="t" r="r" b="b"/>
            <a:pathLst>
              <a:path w="1436370" h="198120">
                <a:moveTo>
                  <a:pt x="1435791" y="0"/>
                </a:moveTo>
                <a:lnTo>
                  <a:pt x="0" y="0"/>
                </a:lnTo>
                <a:lnTo>
                  <a:pt x="0" y="197713"/>
                </a:lnTo>
                <a:lnTo>
                  <a:pt x="1435791" y="197713"/>
                </a:lnTo>
                <a:lnTo>
                  <a:pt x="1435791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872986" y="3115055"/>
            <a:ext cx="1304925" cy="191770"/>
          </a:xfrm>
          <a:custGeom>
            <a:avLst/>
            <a:gdLst/>
            <a:ahLst/>
            <a:cxnLst/>
            <a:rect l="l" t="t" r="r" b="b"/>
            <a:pathLst>
              <a:path w="1304925" h="191770">
                <a:moveTo>
                  <a:pt x="1304463" y="0"/>
                </a:moveTo>
                <a:lnTo>
                  <a:pt x="0" y="0"/>
                </a:lnTo>
                <a:lnTo>
                  <a:pt x="0" y="191618"/>
                </a:lnTo>
                <a:lnTo>
                  <a:pt x="1304463" y="191618"/>
                </a:lnTo>
                <a:lnTo>
                  <a:pt x="1304463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8831339" y="3115055"/>
            <a:ext cx="1754505" cy="194945"/>
          </a:xfrm>
          <a:custGeom>
            <a:avLst/>
            <a:gdLst/>
            <a:ahLst/>
            <a:cxnLst/>
            <a:rect l="l" t="t" r="r" b="b"/>
            <a:pathLst>
              <a:path w="1754504" h="194945">
                <a:moveTo>
                  <a:pt x="1754389" y="0"/>
                </a:moveTo>
                <a:lnTo>
                  <a:pt x="0" y="0"/>
                </a:lnTo>
                <a:lnTo>
                  <a:pt x="0" y="194462"/>
                </a:lnTo>
                <a:lnTo>
                  <a:pt x="1754389" y="194462"/>
                </a:lnTo>
                <a:lnTo>
                  <a:pt x="1754389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460841" y="4504944"/>
            <a:ext cx="1395730" cy="191770"/>
          </a:xfrm>
          <a:custGeom>
            <a:avLst/>
            <a:gdLst/>
            <a:ahLst/>
            <a:cxnLst/>
            <a:rect l="l" t="t" r="r" b="b"/>
            <a:pathLst>
              <a:path w="1395729" h="191770">
                <a:moveTo>
                  <a:pt x="1395273" y="0"/>
                </a:moveTo>
                <a:lnTo>
                  <a:pt x="0" y="0"/>
                </a:lnTo>
                <a:lnTo>
                  <a:pt x="0" y="191616"/>
                </a:lnTo>
                <a:lnTo>
                  <a:pt x="1395273" y="191616"/>
                </a:lnTo>
                <a:lnTo>
                  <a:pt x="1395273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687989" y="4504944"/>
            <a:ext cx="1308100" cy="156210"/>
          </a:xfrm>
          <a:custGeom>
            <a:avLst/>
            <a:gdLst/>
            <a:ahLst/>
            <a:cxnLst/>
            <a:rect l="l" t="t" r="r" b="b"/>
            <a:pathLst>
              <a:path w="1308100" h="156210">
                <a:moveTo>
                  <a:pt x="1307654" y="0"/>
                </a:moveTo>
                <a:lnTo>
                  <a:pt x="0" y="0"/>
                </a:lnTo>
                <a:lnTo>
                  <a:pt x="0" y="155854"/>
                </a:lnTo>
                <a:lnTo>
                  <a:pt x="1307654" y="155854"/>
                </a:lnTo>
                <a:lnTo>
                  <a:pt x="1307654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840346" y="4504944"/>
            <a:ext cx="1370330" cy="191770"/>
          </a:xfrm>
          <a:custGeom>
            <a:avLst/>
            <a:gdLst/>
            <a:ahLst/>
            <a:cxnLst/>
            <a:rect l="l" t="t" r="r" b="b"/>
            <a:pathLst>
              <a:path w="1370329" h="191770">
                <a:moveTo>
                  <a:pt x="1369731" y="0"/>
                </a:moveTo>
                <a:lnTo>
                  <a:pt x="0" y="0"/>
                </a:lnTo>
                <a:lnTo>
                  <a:pt x="0" y="191616"/>
                </a:lnTo>
                <a:lnTo>
                  <a:pt x="1369731" y="191616"/>
                </a:lnTo>
                <a:lnTo>
                  <a:pt x="1369731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9027324" y="4504943"/>
            <a:ext cx="1362710" cy="194945"/>
          </a:xfrm>
          <a:custGeom>
            <a:avLst/>
            <a:gdLst/>
            <a:ahLst/>
            <a:cxnLst/>
            <a:rect l="l" t="t" r="r" b="b"/>
            <a:pathLst>
              <a:path w="1362709" h="194945">
                <a:moveTo>
                  <a:pt x="1362496" y="0"/>
                </a:moveTo>
                <a:lnTo>
                  <a:pt x="0" y="0"/>
                </a:lnTo>
                <a:lnTo>
                  <a:pt x="0" y="194462"/>
                </a:lnTo>
                <a:lnTo>
                  <a:pt x="1362496" y="194462"/>
                </a:lnTo>
                <a:lnTo>
                  <a:pt x="1362496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532850" y="5894832"/>
            <a:ext cx="1251585" cy="191770"/>
          </a:xfrm>
          <a:custGeom>
            <a:avLst/>
            <a:gdLst/>
            <a:ahLst/>
            <a:cxnLst/>
            <a:rect l="l" t="t" r="r" b="b"/>
            <a:pathLst>
              <a:path w="1251585" h="191770">
                <a:moveTo>
                  <a:pt x="1251183" y="0"/>
                </a:moveTo>
                <a:lnTo>
                  <a:pt x="0" y="0"/>
                </a:lnTo>
                <a:lnTo>
                  <a:pt x="0" y="191617"/>
                </a:lnTo>
                <a:lnTo>
                  <a:pt x="1251183" y="191617"/>
                </a:lnTo>
                <a:lnTo>
                  <a:pt x="1251183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411701" y="5888735"/>
            <a:ext cx="1860550" cy="161290"/>
          </a:xfrm>
          <a:custGeom>
            <a:avLst/>
            <a:gdLst/>
            <a:ahLst/>
            <a:cxnLst/>
            <a:rect l="l" t="t" r="r" b="b"/>
            <a:pathLst>
              <a:path w="1860550" h="161289">
                <a:moveTo>
                  <a:pt x="1860296" y="0"/>
                </a:moveTo>
                <a:lnTo>
                  <a:pt x="0" y="0"/>
                </a:lnTo>
                <a:lnTo>
                  <a:pt x="0" y="161137"/>
                </a:lnTo>
                <a:lnTo>
                  <a:pt x="1860296" y="161137"/>
                </a:lnTo>
                <a:lnTo>
                  <a:pt x="1860296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6748030" y="5775972"/>
            <a:ext cx="1610995" cy="389890"/>
          </a:xfrm>
          <a:custGeom>
            <a:avLst/>
            <a:gdLst/>
            <a:ahLst/>
            <a:cxnLst/>
            <a:rect l="l" t="t" r="r" b="b"/>
            <a:pathLst>
              <a:path w="1610995" h="389889">
                <a:moveTo>
                  <a:pt x="1428991" y="228600"/>
                </a:moveTo>
                <a:lnTo>
                  <a:pt x="125425" y="228600"/>
                </a:lnTo>
                <a:lnTo>
                  <a:pt x="125425" y="389724"/>
                </a:lnTo>
                <a:lnTo>
                  <a:pt x="1428991" y="389724"/>
                </a:lnTo>
                <a:lnTo>
                  <a:pt x="1428991" y="228600"/>
                </a:lnTo>
                <a:close/>
              </a:path>
              <a:path w="1610995" h="389889">
                <a:moveTo>
                  <a:pt x="1610614" y="0"/>
                </a:moveTo>
                <a:lnTo>
                  <a:pt x="0" y="0"/>
                </a:lnTo>
                <a:lnTo>
                  <a:pt x="0" y="197713"/>
                </a:lnTo>
                <a:lnTo>
                  <a:pt x="1610614" y="197713"/>
                </a:lnTo>
                <a:lnTo>
                  <a:pt x="1610614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8845411" y="5894832"/>
            <a:ext cx="1726564" cy="156210"/>
          </a:xfrm>
          <a:custGeom>
            <a:avLst/>
            <a:gdLst/>
            <a:ahLst/>
            <a:cxnLst/>
            <a:rect l="l" t="t" r="r" b="b"/>
            <a:pathLst>
              <a:path w="1726565" h="156210">
                <a:moveTo>
                  <a:pt x="1726266" y="0"/>
                </a:moveTo>
                <a:lnTo>
                  <a:pt x="0" y="0"/>
                </a:lnTo>
                <a:lnTo>
                  <a:pt x="0" y="155854"/>
                </a:lnTo>
                <a:lnTo>
                  <a:pt x="1726266" y="155854"/>
                </a:lnTo>
                <a:lnTo>
                  <a:pt x="1726266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24851" y="852932"/>
            <a:ext cx="385635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55" dirty="0"/>
              <a:t>Diuréticos</a:t>
            </a:r>
            <a:r>
              <a:rPr sz="3600" spc="-195" dirty="0"/>
              <a:t> </a:t>
            </a:r>
            <a:r>
              <a:rPr sz="3600" spc="-135" dirty="0"/>
              <a:t>de</a:t>
            </a:r>
            <a:r>
              <a:rPr sz="3600" spc="-200" dirty="0"/>
              <a:t> </a:t>
            </a:r>
            <a:r>
              <a:rPr sz="3600" spc="-140" dirty="0"/>
              <a:t>asa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182052" y="1958340"/>
            <a:ext cx="6082665" cy="261620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2000" spc="114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Indicaciones</a:t>
            </a:r>
            <a:r>
              <a:rPr sz="2000" spc="-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14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terapeuticas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000" spc="19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Edema</a:t>
            </a:r>
            <a:r>
              <a:rPr sz="20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2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pulmonar</a:t>
            </a:r>
            <a:r>
              <a:rPr sz="20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21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agudo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000" spc="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Insuficiencia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2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cardiaca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crónica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000" spc="19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Edema</a:t>
            </a:r>
            <a:r>
              <a:rPr sz="2000" spc="-8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4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del</a:t>
            </a:r>
            <a:r>
              <a:rPr sz="2000" spc="-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8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síndrome</a:t>
            </a:r>
            <a:r>
              <a:rPr sz="20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9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nefrótico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000" spc="19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Edema</a:t>
            </a:r>
            <a:r>
              <a:rPr sz="2000" spc="-4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y</a:t>
            </a:r>
            <a:r>
              <a:rPr sz="2000" spc="-3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ascitis</a:t>
            </a:r>
            <a:r>
              <a:rPr sz="2000" spc="-4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2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de</a:t>
            </a:r>
            <a:r>
              <a:rPr sz="2000" spc="-3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14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la</a:t>
            </a:r>
            <a:r>
              <a:rPr sz="2000" spc="-4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cirrosis</a:t>
            </a:r>
            <a:r>
              <a:rPr sz="2000" spc="-4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hepática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000" spc="19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Edema</a:t>
            </a:r>
            <a:r>
              <a:rPr sz="20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8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asociado</a:t>
            </a:r>
            <a:r>
              <a:rPr sz="20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31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a</a:t>
            </a:r>
            <a:r>
              <a:rPr sz="20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enfermedad</a:t>
            </a:r>
            <a:r>
              <a:rPr sz="20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9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renal</a:t>
            </a:r>
            <a:r>
              <a:rPr sz="20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crónica</a:t>
            </a:r>
            <a:endParaRPr sz="2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51902" y="2162555"/>
            <a:ext cx="3151505" cy="240029"/>
          </a:xfrm>
          <a:custGeom>
            <a:avLst/>
            <a:gdLst/>
            <a:ahLst/>
            <a:cxnLst/>
            <a:rect l="l" t="t" r="r" b="b"/>
            <a:pathLst>
              <a:path w="3151504" h="240030">
                <a:moveTo>
                  <a:pt x="3151249" y="0"/>
                </a:moveTo>
                <a:lnTo>
                  <a:pt x="0" y="0"/>
                </a:lnTo>
                <a:lnTo>
                  <a:pt x="0" y="239522"/>
                </a:lnTo>
                <a:lnTo>
                  <a:pt x="3151249" y="239522"/>
                </a:lnTo>
                <a:lnTo>
                  <a:pt x="3151249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7652" y="2598927"/>
            <a:ext cx="1130935" cy="236220"/>
          </a:xfrm>
          <a:custGeom>
            <a:avLst/>
            <a:gdLst/>
            <a:ahLst/>
            <a:cxnLst/>
            <a:rect l="l" t="t" r="r" b="b"/>
            <a:pathLst>
              <a:path w="1130935" h="236219">
                <a:moveTo>
                  <a:pt x="1130502" y="0"/>
                </a:moveTo>
                <a:lnTo>
                  <a:pt x="0" y="0"/>
                </a:lnTo>
                <a:lnTo>
                  <a:pt x="0" y="235965"/>
                </a:lnTo>
                <a:lnTo>
                  <a:pt x="1130502" y="235965"/>
                </a:lnTo>
                <a:lnTo>
                  <a:pt x="1130502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537652" y="3461511"/>
            <a:ext cx="958215" cy="190500"/>
          </a:xfrm>
          <a:custGeom>
            <a:avLst/>
            <a:gdLst/>
            <a:ahLst/>
            <a:cxnLst/>
            <a:rect l="l" t="t" r="r" b="b"/>
            <a:pathLst>
              <a:path w="958214" h="190500">
                <a:moveTo>
                  <a:pt x="957783" y="0"/>
                </a:moveTo>
                <a:lnTo>
                  <a:pt x="0" y="0"/>
                </a:lnTo>
                <a:lnTo>
                  <a:pt x="0" y="190245"/>
                </a:lnTo>
                <a:lnTo>
                  <a:pt x="957783" y="190245"/>
                </a:lnTo>
                <a:lnTo>
                  <a:pt x="957783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37652" y="3890771"/>
            <a:ext cx="2128520" cy="240029"/>
          </a:xfrm>
          <a:custGeom>
            <a:avLst/>
            <a:gdLst/>
            <a:ahLst/>
            <a:cxnLst/>
            <a:rect l="l" t="t" r="r" b="b"/>
            <a:pathLst>
              <a:path w="2128520" h="240029">
                <a:moveTo>
                  <a:pt x="2128214" y="0"/>
                </a:moveTo>
                <a:lnTo>
                  <a:pt x="0" y="0"/>
                </a:lnTo>
                <a:lnTo>
                  <a:pt x="0" y="239521"/>
                </a:lnTo>
                <a:lnTo>
                  <a:pt x="2128214" y="239521"/>
                </a:lnTo>
                <a:lnTo>
                  <a:pt x="2128214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674177" y="4324095"/>
            <a:ext cx="821690" cy="190500"/>
          </a:xfrm>
          <a:custGeom>
            <a:avLst/>
            <a:gdLst/>
            <a:ahLst/>
            <a:cxnLst/>
            <a:rect l="l" t="t" r="r" b="b"/>
            <a:pathLst>
              <a:path w="821689" h="190500">
                <a:moveTo>
                  <a:pt x="821258" y="0"/>
                </a:moveTo>
                <a:lnTo>
                  <a:pt x="0" y="0"/>
                </a:lnTo>
                <a:lnTo>
                  <a:pt x="0" y="190246"/>
                </a:lnTo>
                <a:lnTo>
                  <a:pt x="821258" y="190246"/>
                </a:lnTo>
                <a:lnTo>
                  <a:pt x="821258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37652" y="3017519"/>
            <a:ext cx="3755390" cy="201930"/>
          </a:xfrm>
          <a:custGeom>
            <a:avLst/>
            <a:gdLst/>
            <a:ahLst/>
            <a:cxnLst/>
            <a:rect l="l" t="t" r="r" b="b"/>
            <a:pathLst>
              <a:path w="3755390" h="201930">
                <a:moveTo>
                  <a:pt x="3754828" y="0"/>
                </a:moveTo>
                <a:lnTo>
                  <a:pt x="0" y="0"/>
                </a:lnTo>
                <a:lnTo>
                  <a:pt x="0" y="201422"/>
                </a:lnTo>
                <a:lnTo>
                  <a:pt x="3754828" y="201422"/>
                </a:lnTo>
                <a:lnTo>
                  <a:pt x="3754828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24851" y="852932"/>
            <a:ext cx="385635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55" dirty="0"/>
              <a:t>Diuréticos</a:t>
            </a:r>
            <a:r>
              <a:rPr sz="3600" spc="-195" dirty="0"/>
              <a:t> </a:t>
            </a:r>
            <a:r>
              <a:rPr sz="3600" spc="-135" dirty="0"/>
              <a:t>de</a:t>
            </a:r>
            <a:r>
              <a:rPr sz="3600" spc="-200" dirty="0"/>
              <a:t> </a:t>
            </a:r>
            <a:r>
              <a:rPr sz="3600" spc="-140" dirty="0"/>
              <a:t>asa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182052" y="2086356"/>
            <a:ext cx="17024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9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Interacciones</a:t>
            </a:r>
            <a:endParaRPr sz="2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6111" y="2950324"/>
            <a:ext cx="2089150" cy="1200785"/>
          </a:xfrm>
          <a:custGeom>
            <a:avLst/>
            <a:gdLst/>
            <a:ahLst/>
            <a:cxnLst/>
            <a:rect l="l" t="t" r="r" b="b"/>
            <a:pathLst>
              <a:path w="2089150" h="1200785">
                <a:moveTo>
                  <a:pt x="2089036" y="0"/>
                </a:moveTo>
                <a:lnTo>
                  <a:pt x="0" y="0"/>
                </a:lnTo>
                <a:lnTo>
                  <a:pt x="0" y="1200340"/>
                </a:lnTo>
                <a:lnTo>
                  <a:pt x="2089036" y="1200340"/>
                </a:lnTo>
                <a:lnTo>
                  <a:pt x="2089036" y="0"/>
                </a:lnTo>
                <a:close/>
              </a:path>
            </a:pathLst>
          </a:custGeom>
          <a:solidFill>
            <a:srgbClr val="0F6F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39761" y="2943974"/>
            <a:ext cx="2101850" cy="1213485"/>
          </a:xfrm>
          <a:prstGeom prst="rect">
            <a:avLst/>
          </a:prstGeom>
          <a:ln w="3175">
            <a:solidFill>
              <a:srgbClr val="0F6FC6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107315" marR="100330" algn="ctr">
              <a:lnSpc>
                <a:spcPct val="99000"/>
              </a:lnSpc>
              <a:spcBef>
                <a:spcPts val="435"/>
              </a:spcBef>
            </a:pPr>
            <a:r>
              <a:rPr sz="1800" spc="8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Aminogluco</a:t>
            </a:r>
            <a:r>
              <a:rPr sz="1800" spc="85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́</a:t>
            </a:r>
            <a:r>
              <a:rPr sz="1800" spc="8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sidos </a:t>
            </a:r>
            <a:r>
              <a:rPr sz="1800" spc="12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Carboplatino </a:t>
            </a:r>
            <a:r>
              <a:rPr sz="1800" spc="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Cisplatino </a:t>
            </a:r>
            <a:r>
              <a:rPr sz="1800" spc="8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Paclitaxel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79152" y="3398011"/>
            <a:ext cx="17545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4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OTOTOXICIDAD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847975" y="3356305"/>
            <a:ext cx="462280" cy="388620"/>
            <a:chOff x="2847975" y="3356305"/>
            <a:chExt cx="462280" cy="388620"/>
          </a:xfrm>
        </p:grpSpPr>
        <p:sp>
          <p:nvSpPr>
            <p:cNvPr id="8" name="object 8"/>
            <p:cNvSpPr/>
            <p:nvPr/>
          </p:nvSpPr>
          <p:spPr>
            <a:xfrm>
              <a:off x="2857500" y="3365830"/>
              <a:ext cx="443230" cy="369570"/>
            </a:xfrm>
            <a:custGeom>
              <a:avLst/>
              <a:gdLst/>
              <a:ahLst/>
              <a:cxnLst/>
              <a:rect l="l" t="t" r="r" b="b"/>
              <a:pathLst>
                <a:path w="443229" h="369570">
                  <a:moveTo>
                    <a:pt x="258241" y="0"/>
                  </a:moveTo>
                  <a:lnTo>
                    <a:pt x="258241" y="92328"/>
                  </a:lnTo>
                  <a:lnTo>
                    <a:pt x="0" y="92328"/>
                  </a:lnTo>
                  <a:lnTo>
                    <a:pt x="0" y="276999"/>
                  </a:lnTo>
                  <a:lnTo>
                    <a:pt x="258241" y="276999"/>
                  </a:lnTo>
                  <a:lnTo>
                    <a:pt x="258241" y="369328"/>
                  </a:lnTo>
                  <a:lnTo>
                    <a:pt x="442912" y="184657"/>
                  </a:lnTo>
                  <a:lnTo>
                    <a:pt x="2582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857500" y="3365830"/>
              <a:ext cx="443230" cy="369570"/>
            </a:xfrm>
            <a:custGeom>
              <a:avLst/>
              <a:gdLst/>
              <a:ahLst/>
              <a:cxnLst/>
              <a:rect l="l" t="t" r="r" b="b"/>
              <a:pathLst>
                <a:path w="443229" h="369570">
                  <a:moveTo>
                    <a:pt x="0" y="92333"/>
                  </a:moveTo>
                  <a:lnTo>
                    <a:pt x="258247" y="92333"/>
                  </a:lnTo>
                  <a:lnTo>
                    <a:pt x="258247" y="0"/>
                  </a:lnTo>
                  <a:lnTo>
                    <a:pt x="442913" y="184666"/>
                  </a:lnTo>
                  <a:lnTo>
                    <a:pt x="258247" y="369332"/>
                  </a:lnTo>
                  <a:lnTo>
                    <a:pt x="258247" y="276999"/>
                  </a:lnTo>
                  <a:lnTo>
                    <a:pt x="0" y="276999"/>
                  </a:lnTo>
                  <a:lnTo>
                    <a:pt x="0" y="92333"/>
                  </a:lnTo>
                  <a:close/>
                </a:path>
              </a:pathLst>
            </a:custGeom>
            <a:ln w="19050">
              <a:solidFill>
                <a:srgbClr val="08509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/>
          <p:nvPr/>
        </p:nvSpPr>
        <p:spPr>
          <a:xfrm>
            <a:off x="1240824" y="4553191"/>
            <a:ext cx="1494790" cy="646430"/>
          </a:xfrm>
          <a:custGeom>
            <a:avLst/>
            <a:gdLst/>
            <a:ahLst/>
            <a:cxnLst/>
            <a:rect l="l" t="t" r="r" b="b"/>
            <a:pathLst>
              <a:path w="1494789" h="646429">
                <a:moveTo>
                  <a:pt x="1494323" y="0"/>
                </a:moveTo>
                <a:lnTo>
                  <a:pt x="0" y="0"/>
                </a:lnTo>
                <a:lnTo>
                  <a:pt x="0" y="646341"/>
                </a:lnTo>
                <a:lnTo>
                  <a:pt x="1494323" y="646341"/>
                </a:lnTo>
                <a:lnTo>
                  <a:pt x="1494323" y="0"/>
                </a:lnTo>
                <a:close/>
              </a:path>
            </a:pathLst>
          </a:custGeom>
          <a:solidFill>
            <a:srgbClr val="0F6F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240824" y="4553191"/>
            <a:ext cx="1494790" cy="646430"/>
          </a:xfrm>
          <a:prstGeom prst="rect">
            <a:avLst/>
          </a:prstGeom>
          <a:ln w="12700">
            <a:solidFill>
              <a:srgbClr val="085091"/>
            </a:solidFill>
          </a:ln>
        </p:spPr>
        <p:txBody>
          <a:bodyPr vert="horz" wrap="square" lIns="0" tIns="46355" rIns="0" bIns="0" rtlCol="0">
            <a:spAutoFit/>
          </a:bodyPr>
          <a:lstStyle/>
          <a:p>
            <a:pPr algn="ctr">
              <a:lnSpc>
                <a:spcPts val="2125"/>
              </a:lnSpc>
              <a:spcBef>
                <a:spcPts val="365"/>
              </a:spcBef>
            </a:pPr>
            <a:r>
              <a:rPr sz="1800" spc="-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AINES</a:t>
            </a:r>
            <a:endParaRPr sz="1800">
              <a:latin typeface="Tahoma" panose="020B0604030504040204"/>
              <a:cs typeface="Tahoma" panose="020B0604030504040204"/>
            </a:endParaRPr>
          </a:p>
          <a:p>
            <a:pPr algn="ctr">
              <a:lnSpc>
                <a:spcPts val="2125"/>
              </a:lnSpc>
            </a:pPr>
            <a:r>
              <a:rPr sz="1800" spc="1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Probenecid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41941" y="5232908"/>
            <a:ext cx="862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EFECTO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77666" y="5498083"/>
            <a:ext cx="11906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DIURETICO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912262" y="4642777"/>
            <a:ext cx="306070" cy="514350"/>
            <a:chOff x="2912262" y="4642777"/>
            <a:chExt cx="306070" cy="514350"/>
          </a:xfrm>
        </p:grpSpPr>
        <p:sp>
          <p:nvSpPr>
            <p:cNvPr id="15" name="object 15"/>
            <p:cNvSpPr/>
            <p:nvPr/>
          </p:nvSpPr>
          <p:spPr>
            <a:xfrm>
              <a:off x="2921787" y="4652302"/>
              <a:ext cx="287020" cy="495300"/>
            </a:xfrm>
            <a:custGeom>
              <a:avLst/>
              <a:gdLst/>
              <a:ahLst/>
              <a:cxnLst/>
              <a:rect l="l" t="t" r="r" b="b"/>
              <a:pathLst>
                <a:path w="287019" h="495300">
                  <a:moveTo>
                    <a:pt x="214883" y="0"/>
                  </a:moveTo>
                  <a:lnTo>
                    <a:pt x="71627" y="0"/>
                  </a:lnTo>
                  <a:lnTo>
                    <a:pt x="71627" y="351612"/>
                  </a:lnTo>
                  <a:lnTo>
                    <a:pt x="0" y="351612"/>
                  </a:lnTo>
                  <a:lnTo>
                    <a:pt x="143256" y="494868"/>
                  </a:lnTo>
                  <a:lnTo>
                    <a:pt x="286512" y="351612"/>
                  </a:lnTo>
                  <a:lnTo>
                    <a:pt x="214883" y="351612"/>
                  </a:lnTo>
                  <a:lnTo>
                    <a:pt x="2148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921787" y="4652302"/>
              <a:ext cx="287020" cy="495300"/>
            </a:xfrm>
            <a:custGeom>
              <a:avLst/>
              <a:gdLst/>
              <a:ahLst/>
              <a:cxnLst/>
              <a:rect l="l" t="t" r="r" b="b"/>
              <a:pathLst>
                <a:path w="287019" h="495300">
                  <a:moveTo>
                    <a:pt x="0" y="351615"/>
                  </a:moveTo>
                  <a:lnTo>
                    <a:pt x="71628" y="351615"/>
                  </a:lnTo>
                  <a:lnTo>
                    <a:pt x="71628" y="0"/>
                  </a:lnTo>
                  <a:lnTo>
                    <a:pt x="214884" y="0"/>
                  </a:lnTo>
                  <a:lnTo>
                    <a:pt x="214884" y="351615"/>
                  </a:lnTo>
                  <a:lnTo>
                    <a:pt x="286512" y="351615"/>
                  </a:lnTo>
                  <a:lnTo>
                    <a:pt x="143256" y="494871"/>
                  </a:lnTo>
                  <a:lnTo>
                    <a:pt x="0" y="351615"/>
                  </a:lnTo>
                  <a:close/>
                </a:path>
              </a:pathLst>
            </a:custGeom>
            <a:ln w="19050">
              <a:solidFill>
                <a:srgbClr val="08509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/>
          <p:nvPr/>
        </p:nvSpPr>
        <p:spPr>
          <a:xfrm>
            <a:off x="1378686" y="5843889"/>
            <a:ext cx="1356995" cy="646430"/>
          </a:xfrm>
          <a:custGeom>
            <a:avLst/>
            <a:gdLst/>
            <a:ahLst/>
            <a:cxnLst/>
            <a:rect l="l" t="t" r="r" b="b"/>
            <a:pathLst>
              <a:path w="1356995" h="646429">
                <a:moveTo>
                  <a:pt x="1356461" y="0"/>
                </a:moveTo>
                <a:lnTo>
                  <a:pt x="0" y="0"/>
                </a:lnTo>
                <a:lnTo>
                  <a:pt x="0" y="646330"/>
                </a:lnTo>
                <a:lnTo>
                  <a:pt x="1356461" y="646330"/>
                </a:lnTo>
                <a:lnTo>
                  <a:pt x="1356461" y="0"/>
                </a:lnTo>
                <a:close/>
              </a:path>
            </a:pathLst>
          </a:custGeom>
          <a:solidFill>
            <a:srgbClr val="0F6F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378686" y="5843889"/>
            <a:ext cx="1356995" cy="646430"/>
          </a:xfrm>
          <a:prstGeom prst="rect">
            <a:avLst/>
          </a:prstGeom>
          <a:ln w="12700">
            <a:solidFill>
              <a:srgbClr val="085091"/>
            </a:solidFill>
          </a:ln>
        </p:spPr>
        <p:txBody>
          <a:bodyPr vert="horz" wrap="square" lIns="0" tIns="59055" rIns="0" bIns="0" rtlCol="0">
            <a:spAutoFit/>
          </a:bodyPr>
          <a:lstStyle/>
          <a:p>
            <a:pPr marL="97790" marR="90170" indent="158750">
              <a:lnSpc>
                <a:spcPts val="2110"/>
              </a:lnSpc>
              <a:spcBef>
                <a:spcPts val="465"/>
              </a:spcBef>
            </a:pPr>
            <a:r>
              <a:rPr sz="1800" spc="-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Tiazidas </a:t>
            </a:r>
            <a:r>
              <a:rPr sz="1800" spc="9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Osmóticos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939694" y="5834364"/>
            <a:ext cx="306070" cy="514350"/>
            <a:chOff x="2939694" y="5834364"/>
            <a:chExt cx="306070" cy="514350"/>
          </a:xfrm>
        </p:grpSpPr>
        <p:sp>
          <p:nvSpPr>
            <p:cNvPr id="20" name="object 20"/>
            <p:cNvSpPr/>
            <p:nvPr/>
          </p:nvSpPr>
          <p:spPr>
            <a:xfrm>
              <a:off x="2949219" y="5843889"/>
              <a:ext cx="287020" cy="495300"/>
            </a:xfrm>
            <a:custGeom>
              <a:avLst/>
              <a:gdLst/>
              <a:ahLst/>
              <a:cxnLst/>
              <a:rect l="l" t="t" r="r" b="b"/>
              <a:pathLst>
                <a:path w="287019" h="495300">
                  <a:moveTo>
                    <a:pt x="143256" y="0"/>
                  </a:moveTo>
                  <a:lnTo>
                    <a:pt x="0" y="143256"/>
                  </a:lnTo>
                  <a:lnTo>
                    <a:pt x="71627" y="143256"/>
                  </a:lnTo>
                  <a:lnTo>
                    <a:pt x="71627" y="494870"/>
                  </a:lnTo>
                  <a:lnTo>
                    <a:pt x="214883" y="494870"/>
                  </a:lnTo>
                  <a:lnTo>
                    <a:pt x="214883" y="143256"/>
                  </a:lnTo>
                  <a:lnTo>
                    <a:pt x="286512" y="143256"/>
                  </a:lnTo>
                  <a:lnTo>
                    <a:pt x="1432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949219" y="5843889"/>
              <a:ext cx="287020" cy="495300"/>
            </a:xfrm>
            <a:custGeom>
              <a:avLst/>
              <a:gdLst/>
              <a:ahLst/>
              <a:cxnLst/>
              <a:rect l="l" t="t" r="r" b="b"/>
              <a:pathLst>
                <a:path w="287019" h="495300">
                  <a:moveTo>
                    <a:pt x="286512" y="143256"/>
                  </a:moveTo>
                  <a:lnTo>
                    <a:pt x="214884" y="143256"/>
                  </a:lnTo>
                  <a:lnTo>
                    <a:pt x="214884" y="494871"/>
                  </a:lnTo>
                  <a:lnTo>
                    <a:pt x="71628" y="494871"/>
                  </a:lnTo>
                  <a:lnTo>
                    <a:pt x="71628" y="143256"/>
                  </a:lnTo>
                  <a:lnTo>
                    <a:pt x="0" y="143256"/>
                  </a:lnTo>
                  <a:lnTo>
                    <a:pt x="143256" y="0"/>
                  </a:lnTo>
                  <a:lnTo>
                    <a:pt x="286512" y="143256"/>
                  </a:lnTo>
                  <a:close/>
                </a:path>
              </a:pathLst>
            </a:custGeom>
            <a:ln w="19050">
              <a:solidFill>
                <a:srgbClr val="08509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/>
          <p:nvPr/>
        </p:nvSpPr>
        <p:spPr>
          <a:xfrm>
            <a:off x="7613433" y="3428923"/>
            <a:ext cx="1755775" cy="369570"/>
          </a:xfrm>
          <a:custGeom>
            <a:avLst/>
            <a:gdLst/>
            <a:ahLst/>
            <a:cxnLst/>
            <a:rect l="l" t="t" r="r" b="b"/>
            <a:pathLst>
              <a:path w="1755775" h="369570">
                <a:moveTo>
                  <a:pt x="1755609" y="0"/>
                </a:moveTo>
                <a:lnTo>
                  <a:pt x="0" y="0"/>
                </a:lnTo>
                <a:lnTo>
                  <a:pt x="0" y="369328"/>
                </a:lnTo>
                <a:lnTo>
                  <a:pt x="1755609" y="369328"/>
                </a:lnTo>
                <a:lnTo>
                  <a:pt x="1755609" y="0"/>
                </a:lnTo>
                <a:close/>
              </a:path>
            </a:pathLst>
          </a:custGeom>
          <a:solidFill>
            <a:srgbClr val="0F6F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7613433" y="3428923"/>
            <a:ext cx="1755775" cy="369570"/>
          </a:xfrm>
          <a:prstGeom prst="rect">
            <a:avLst/>
          </a:prstGeom>
          <a:ln w="12700">
            <a:solidFill>
              <a:srgbClr val="085091"/>
            </a:solidFill>
          </a:ln>
        </p:spPr>
        <p:txBody>
          <a:bodyPr vert="horz" wrap="square" lIns="0" tIns="4572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60"/>
              </a:spcBef>
            </a:pPr>
            <a:r>
              <a:rPr sz="1800" spc="1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Anfotericina</a:t>
            </a:r>
            <a:r>
              <a:rPr sz="1800" spc="-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B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496387" y="2983484"/>
            <a:ext cx="20008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NEFROTOXICIDAD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579724" y="3971035"/>
            <a:ext cx="16338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HIPOCALIEMIA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478546" y="3096894"/>
            <a:ext cx="1022985" cy="1064260"/>
          </a:xfrm>
          <a:custGeom>
            <a:avLst/>
            <a:gdLst/>
            <a:ahLst/>
            <a:cxnLst/>
            <a:rect l="l" t="t" r="r" b="b"/>
            <a:pathLst>
              <a:path w="1022984" h="1064260">
                <a:moveTo>
                  <a:pt x="939101" y="38100"/>
                </a:moveTo>
                <a:lnTo>
                  <a:pt x="913701" y="25400"/>
                </a:lnTo>
                <a:lnTo>
                  <a:pt x="862901" y="0"/>
                </a:lnTo>
                <a:lnTo>
                  <a:pt x="862901" y="25400"/>
                </a:lnTo>
                <a:lnTo>
                  <a:pt x="5689" y="25400"/>
                </a:lnTo>
                <a:lnTo>
                  <a:pt x="0" y="31089"/>
                </a:lnTo>
                <a:lnTo>
                  <a:pt x="0" y="339039"/>
                </a:lnTo>
                <a:lnTo>
                  <a:pt x="5689" y="344728"/>
                </a:lnTo>
                <a:lnTo>
                  <a:pt x="19710" y="344728"/>
                </a:lnTo>
                <a:lnTo>
                  <a:pt x="25400" y="339039"/>
                </a:lnTo>
                <a:lnTo>
                  <a:pt x="25400" y="50800"/>
                </a:lnTo>
                <a:lnTo>
                  <a:pt x="862901" y="50800"/>
                </a:lnTo>
                <a:lnTo>
                  <a:pt x="862901" y="76200"/>
                </a:lnTo>
                <a:lnTo>
                  <a:pt x="913701" y="50800"/>
                </a:lnTo>
                <a:lnTo>
                  <a:pt x="939101" y="38100"/>
                </a:lnTo>
                <a:close/>
              </a:path>
              <a:path w="1022984" h="1064260">
                <a:moveTo>
                  <a:pt x="1022438" y="1025918"/>
                </a:moveTo>
                <a:lnTo>
                  <a:pt x="997038" y="1013218"/>
                </a:lnTo>
                <a:lnTo>
                  <a:pt x="946238" y="987818"/>
                </a:lnTo>
                <a:lnTo>
                  <a:pt x="946238" y="1013218"/>
                </a:lnTo>
                <a:lnTo>
                  <a:pt x="25400" y="1013218"/>
                </a:lnTo>
                <a:lnTo>
                  <a:pt x="25400" y="694347"/>
                </a:lnTo>
                <a:lnTo>
                  <a:pt x="19710" y="688657"/>
                </a:lnTo>
                <a:lnTo>
                  <a:pt x="5689" y="688657"/>
                </a:lnTo>
                <a:lnTo>
                  <a:pt x="0" y="694347"/>
                </a:lnTo>
                <a:lnTo>
                  <a:pt x="0" y="1032941"/>
                </a:lnTo>
                <a:lnTo>
                  <a:pt x="5689" y="1038618"/>
                </a:lnTo>
                <a:lnTo>
                  <a:pt x="946238" y="1038618"/>
                </a:lnTo>
                <a:lnTo>
                  <a:pt x="946238" y="1064018"/>
                </a:lnTo>
                <a:lnTo>
                  <a:pt x="997038" y="1038618"/>
                </a:lnTo>
                <a:lnTo>
                  <a:pt x="1022438" y="102591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715250" y="4751260"/>
            <a:ext cx="1323340" cy="369570"/>
          </a:xfrm>
          <a:custGeom>
            <a:avLst/>
            <a:gdLst/>
            <a:ahLst/>
            <a:cxnLst/>
            <a:rect l="l" t="t" r="r" b="b"/>
            <a:pathLst>
              <a:path w="1323340" h="369570">
                <a:moveTo>
                  <a:pt x="1322793" y="0"/>
                </a:moveTo>
                <a:lnTo>
                  <a:pt x="0" y="0"/>
                </a:lnTo>
                <a:lnTo>
                  <a:pt x="0" y="369341"/>
                </a:lnTo>
                <a:lnTo>
                  <a:pt x="1322793" y="369341"/>
                </a:lnTo>
                <a:lnTo>
                  <a:pt x="1322793" y="0"/>
                </a:lnTo>
                <a:close/>
              </a:path>
            </a:pathLst>
          </a:custGeom>
          <a:solidFill>
            <a:srgbClr val="0F6F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7708900" y="4744910"/>
            <a:ext cx="1336040" cy="382270"/>
          </a:xfrm>
          <a:prstGeom prst="rect">
            <a:avLst/>
          </a:prstGeom>
          <a:ln w="3175">
            <a:solidFill>
              <a:srgbClr val="0F6FC6"/>
            </a:solidFill>
          </a:ln>
        </p:spPr>
        <p:txBody>
          <a:bodyPr vert="horz" wrap="square" lIns="0" tIns="52704" rIns="0" bIns="0" rtlCol="0">
            <a:spAutoFit/>
          </a:bodyPr>
          <a:lstStyle/>
          <a:p>
            <a:pPr marL="104140">
              <a:lnSpc>
                <a:spcPct val="100000"/>
              </a:lnSpc>
              <a:spcBef>
                <a:spcPts val="415"/>
              </a:spcBef>
            </a:pPr>
            <a:r>
              <a:rPr sz="1800" spc="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Digitálicos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688576" y="4748276"/>
            <a:ext cx="1167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ARRITMIAS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9157398" y="4741735"/>
            <a:ext cx="462280" cy="388620"/>
            <a:chOff x="9157398" y="4741735"/>
            <a:chExt cx="462280" cy="388620"/>
          </a:xfrm>
        </p:grpSpPr>
        <p:sp>
          <p:nvSpPr>
            <p:cNvPr id="31" name="object 31"/>
            <p:cNvSpPr/>
            <p:nvPr/>
          </p:nvSpPr>
          <p:spPr>
            <a:xfrm>
              <a:off x="9166923" y="4751260"/>
              <a:ext cx="443230" cy="369570"/>
            </a:xfrm>
            <a:custGeom>
              <a:avLst/>
              <a:gdLst/>
              <a:ahLst/>
              <a:cxnLst/>
              <a:rect l="l" t="t" r="r" b="b"/>
              <a:pathLst>
                <a:path w="443229" h="369570">
                  <a:moveTo>
                    <a:pt x="258254" y="0"/>
                  </a:moveTo>
                  <a:lnTo>
                    <a:pt x="258254" y="92341"/>
                  </a:lnTo>
                  <a:lnTo>
                    <a:pt x="0" y="92341"/>
                  </a:lnTo>
                  <a:lnTo>
                    <a:pt x="0" y="276999"/>
                  </a:lnTo>
                  <a:lnTo>
                    <a:pt x="258254" y="276999"/>
                  </a:lnTo>
                  <a:lnTo>
                    <a:pt x="258254" y="369341"/>
                  </a:lnTo>
                  <a:lnTo>
                    <a:pt x="442912" y="184670"/>
                  </a:lnTo>
                  <a:lnTo>
                    <a:pt x="2582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9166923" y="4751260"/>
              <a:ext cx="443230" cy="369570"/>
            </a:xfrm>
            <a:custGeom>
              <a:avLst/>
              <a:gdLst/>
              <a:ahLst/>
              <a:cxnLst/>
              <a:rect l="l" t="t" r="r" b="b"/>
              <a:pathLst>
                <a:path w="443229" h="369570">
                  <a:moveTo>
                    <a:pt x="0" y="92333"/>
                  </a:moveTo>
                  <a:lnTo>
                    <a:pt x="258247" y="92333"/>
                  </a:lnTo>
                  <a:lnTo>
                    <a:pt x="258247" y="0"/>
                  </a:lnTo>
                  <a:lnTo>
                    <a:pt x="442913" y="184666"/>
                  </a:lnTo>
                  <a:lnTo>
                    <a:pt x="258247" y="369332"/>
                  </a:lnTo>
                  <a:lnTo>
                    <a:pt x="258247" y="276999"/>
                  </a:lnTo>
                  <a:lnTo>
                    <a:pt x="0" y="276999"/>
                  </a:lnTo>
                  <a:lnTo>
                    <a:pt x="0" y="92333"/>
                  </a:lnTo>
                  <a:close/>
                </a:path>
              </a:pathLst>
            </a:custGeom>
            <a:ln w="19050">
              <a:solidFill>
                <a:srgbClr val="08509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/>
          <p:nvPr/>
        </p:nvSpPr>
        <p:spPr>
          <a:xfrm>
            <a:off x="7715250" y="5700147"/>
            <a:ext cx="1459230" cy="646430"/>
          </a:xfrm>
          <a:custGeom>
            <a:avLst/>
            <a:gdLst/>
            <a:ahLst/>
            <a:cxnLst/>
            <a:rect l="l" t="t" r="r" b="b"/>
            <a:pathLst>
              <a:path w="1459229" h="646429">
                <a:moveTo>
                  <a:pt x="1459052" y="0"/>
                </a:moveTo>
                <a:lnTo>
                  <a:pt x="0" y="0"/>
                </a:lnTo>
                <a:lnTo>
                  <a:pt x="0" y="646330"/>
                </a:lnTo>
                <a:lnTo>
                  <a:pt x="1459052" y="646330"/>
                </a:lnTo>
                <a:lnTo>
                  <a:pt x="1459052" y="0"/>
                </a:lnTo>
                <a:close/>
              </a:path>
            </a:pathLst>
          </a:custGeom>
          <a:solidFill>
            <a:srgbClr val="0F6F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7715250" y="5700147"/>
            <a:ext cx="1459230" cy="646430"/>
          </a:xfrm>
          <a:prstGeom prst="rect">
            <a:avLst/>
          </a:prstGeom>
          <a:ln w="12700">
            <a:solidFill>
              <a:srgbClr val="085091"/>
            </a:solidFill>
          </a:ln>
        </p:spPr>
        <p:txBody>
          <a:bodyPr vert="horz" wrap="square" lIns="0" tIns="59055" rIns="0" bIns="0" rtlCol="0">
            <a:spAutoFit/>
          </a:bodyPr>
          <a:lstStyle/>
          <a:p>
            <a:pPr marL="517525" marR="91440" indent="-419100">
              <a:lnSpc>
                <a:spcPts val="2110"/>
              </a:lnSpc>
              <a:spcBef>
                <a:spcPts val="465"/>
              </a:spcBef>
            </a:pPr>
            <a:r>
              <a:rPr sz="1800" spc="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Propranolol </a:t>
            </a:r>
            <a:r>
              <a:rPr sz="1800" spc="-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Litio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0003675" y="5805830"/>
            <a:ext cx="847725" cy="172720"/>
          </a:xfrm>
          <a:prstGeom prst="rect">
            <a:avLst/>
          </a:prstGeom>
          <a:solidFill>
            <a:srgbClr val="D93025">
              <a:alpha val="39999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55"/>
              </a:lnSpc>
            </a:pPr>
            <a:r>
              <a:rPr sz="1800" spc="-4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NIVELES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708399" y="6030848"/>
            <a:ext cx="1451610" cy="215900"/>
          </a:xfrm>
          <a:prstGeom prst="rect">
            <a:avLst/>
          </a:prstGeom>
          <a:solidFill>
            <a:srgbClr val="D93025">
              <a:alpha val="39999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95"/>
              </a:lnSpc>
            </a:pPr>
            <a:r>
              <a:rPr sz="1800" spc="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PLASMÁTICO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9378860" y="5762099"/>
            <a:ext cx="306070" cy="514350"/>
            <a:chOff x="9378860" y="5762099"/>
            <a:chExt cx="306070" cy="514350"/>
          </a:xfrm>
        </p:grpSpPr>
        <p:sp>
          <p:nvSpPr>
            <p:cNvPr id="38" name="object 38"/>
            <p:cNvSpPr/>
            <p:nvPr/>
          </p:nvSpPr>
          <p:spPr>
            <a:xfrm>
              <a:off x="9388386" y="5771625"/>
              <a:ext cx="287020" cy="495300"/>
            </a:xfrm>
            <a:custGeom>
              <a:avLst/>
              <a:gdLst/>
              <a:ahLst/>
              <a:cxnLst/>
              <a:rect l="l" t="t" r="r" b="b"/>
              <a:pathLst>
                <a:path w="287020" h="495300">
                  <a:moveTo>
                    <a:pt x="143255" y="0"/>
                  </a:moveTo>
                  <a:lnTo>
                    <a:pt x="0" y="143255"/>
                  </a:lnTo>
                  <a:lnTo>
                    <a:pt x="71627" y="143255"/>
                  </a:lnTo>
                  <a:lnTo>
                    <a:pt x="71627" y="494870"/>
                  </a:lnTo>
                  <a:lnTo>
                    <a:pt x="214883" y="494870"/>
                  </a:lnTo>
                  <a:lnTo>
                    <a:pt x="214883" y="143255"/>
                  </a:lnTo>
                  <a:lnTo>
                    <a:pt x="286511" y="143255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9388385" y="5771624"/>
              <a:ext cx="287020" cy="495300"/>
            </a:xfrm>
            <a:custGeom>
              <a:avLst/>
              <a:gdLst/>
              <a:ahLst/>
              <a:cxnLst/>
              <a:rect l="l" t="t" r="r" b="b"/>
              <a:pathLst>
                <a:path w="287020" h="495300">
                  <a:moveTo>
                    <a:pt x="286512" y="143256"/>
                  </a:moveTo>
                  <a:lnTo>
                    <a:pt x="214884" y="143256"/>
                  </a:lnTo>
                  <a:lnTo>
                    <a:pt x="214884" y="494871"/>
                  </a:lnTo>
                  <a:lnTo>
                    <a:pt x="71628" y="494871"/>
                  </a:lnTo>
                  <a:lnTo>
                    <a:pt x="71628" y="143256"/>
                  </a:lnTo>
                  <a:lnTo>
                    <a:pt x="0" y="143256"/>
                  </a:lnTo>
                  <a:lnTo>
                    <a:pt x="143256" y="0"/>
                  </a:lnTo>
                  <a:lnTo>
                    <a:pt x="286512" y="143256"/>
                  </a:lnTo>
                  <a:close/>
                </a:path>
              </a:pathLst>
            </a:custGeom>
            <a:ln w="19050">
              <a:solidFill>
                <a:srgbClr val="08509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/>
          <p:nvPr/>
        </p:nvSpPr>
        <p:spPr>
          <a:xfrm>
            <a:off x="1194752" y="2162555"/>
            <a:ext cx="1746885" cy="194310"/>
          </a:xfrm>
          <a:custGeom>
            <a:avLst/>
            <a:gdLst/>
            <a:ahLst/>
            <a:cxnLst/>
            <a:rect l="l" t="t" r="r" b="b"/>
            <a:pathLst>
              <a:path w="1746885" h="194310">
                <a:moveTo>
                  <a:pt x="1746782" y="0"/>
                </a:moveTo>
                <a:lnTo>
                  <a:pt x="0" y="0"/>
                </a:lnTo>
                <a:lnTo>
                  <a:pt x="0" y="193802"/>
                </a:lnTo>
                <a:lnTo>
                  <a:pt x="1746782" y="193802"/>
                </a:lnTo>
                <a:lnTo>
                  <a:pt x="1746782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747652" y="3020872"/>
            <a:ext cx="1885950" cy="251460"/>
          </a:xfrm>
          <a:custGeom>
            <a:avLst/>
            <a:gdLst/>
            <a:ahLst/>
            <a:cxnLst/>
            <a:rect l="l" t="t" r="r" b="b"/>
            <a:pathLst>
              <a:path w="1885950" h="251460">
                <a:moveTo>
                  <a:pt x="1885753" y="0"/>
                </a:moveTo>
                <a:lnTo>
                  <a:pt x="0" y="0"/>
                </a:lnTo>
                <a:lnTo>
                  <a:pt x="0" y="251231"/>
                </a:lnTo>
                <a:lnTo>
                  <a:pt x="1885753" y="251231"/>
                </a:lnTo>
                <a:lnTo>
                  <a:pt x="1885753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948439" y="3318509"/>
            <a:ext cx="1485265" cy="215900"/>
          </a:xfrm>
          <a:custGeom>
            <a:avLst/>
            <a:gdLst/>
            <a:ahLst/>
            <a:cxnLst/>
            <a:rect l="l" t="t" r="r" b="b"/>
            <a:pathLst>
              <a:path w="1485264" h="215900">
                <a:moveTo>
                  <a:pt x="1484871" y="0"/>
                </a:moveTo>
                <a:lnTo>
                  <a:pt x="0" y="0"/>
                </a:lnTo>
                <a:lnTo>
                  <a:pt x="0" y="215569"/>
                </a:lnTo>
                <a:lnTo>
                  <a:pt x="1484871" y="215569"/>
                </a:lnTo>
                <a:lnTo>
                  <a:pt x="1484871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145289" y="3598926"/>
            <a:ext cx="1091565" cy="215900"/>
          </a:xfrm>
          <a:custGeom>
            <a:avLst/>
            <a:gdLst/>
            <a:ahLst/>
            <a:cxnLst/>
            <a:rect l="l" t="t" r="r" b="b"/>
            <a:pathLst>
              <a:path w="1091564" h="215900">
                <a:moveTo>
                  <a:pt x="1091222" y="0"/>
                </a:moveTo>
                <a:lnTo>
                  <a:pt x="0" y="0"/>
                </a:lnTo>
                <a:lnTo>
                  <a:pt x="0" y="215569"/>
                </a:lnTo>
                <a:lnTo>
                  <a:pt x="1091222" y="215569"/>
                </a:lnTo>
                <a:lnTo>
                  <a:pt x="1091222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124652" y="3867150"/>
            <a:ext cx="1132205" cy="174625"/>
          </a:xfrm>
          <a:custGeom>
            <a:avLst/>
            <a:gdLst/>
            <a:ahLst/>
            <a:cxnLst/>
            <a:rect l="l" t="t" r="r" b="b"/>
            <a:pathLst>
              <a:path w="1132205" h="174625">
                <a:moveTo>
                  <a:pt x="1131798" y="0"/>
                </a:moveTo>
                <a:lnTo>
                  <a:pt x="0" y="0"/>
                </a:lnTo>
                <a:lnTo>
                  <a:pt x="0" y="174421"/>
                </a:lnTo>
                <a:lnTo>
                  <a:pt x="1131798" y="174421"/>
                </a:lnTo>
                <a:lnTo>
                  <a:pt x="1131798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391852" y="3471062"/>
            <a:ext cx="1729105" cy="172720"/>
          </a:xfrm>
          <a:custGeom>
            <a:avLst/>
            <a:gdLst/>
            <a:ahLst/>
            <a:cxnLst/>
            <a:rect l="l" t="t" r="r" b="b"/>
            <a:pathLst>
              <a:path w="1729104" h="172720">
                <a:moveTo>
                  <a:pt x="1728697" y="0"/>
                </a:moveTo>
                <a:lnTo>
                  <a:pt x="0" y="0"/>
                </a:lnTo>
                <a:lnTo>
                  <a:pt x="0" y="172135"/>
                </a:lnTo>
                <a:lnTo>
                  <a:pt x="1728697" y="172135"/>
                </a:lnTo>
                <a:lnTo>
                  <a:pt x="1728697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673695" y="4659782"/>
            <a:ext cx="628650" cy="172720"/>
          </a:xfrm>
          <a:custGeom>
            <a:avLst/>
            <a:gdLst/>
            <a:ahLst/>
            <a:cxnLst/>
            <a:rect l="l" t="t" r="r" b="b"/>
            <a:pathLst>
              <a:path w="628650" h="172720">
                <a:moveTo>
                  <a:pt x="628284" y="0"/>
                </a:moveTo>
                <a:lnTo>
                  <a:pt x="0" y="0"/>
                </a:lnTo>
                <a:lnTo>
                  <a:pt x="0" y="172136"/>
                </a:lnTo>
                <a:lnTo>
                  <a:pt x="628284" y="172136"/>
                </a:lnTo>
                <a:lnTo>
                  <a:pt x="628284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339494" y="4921757"/>
            <a:ext cx="1296670" cy="174625"/>
          </a:xfrm>
          <a:custGeom>
            <a:avLst/>
            <a:gdLst/>
            <a:ahLst/>
            <a:cxnLst/>
            <a:rect l="l" t="t" r="r" b="b"/>
            <a:pathLst>
              <a:path w="1296670" h="174625">
                <a:moveTo>
                  <a:pt x="1296550" y="0"/>
                </a:moveTo>
                <a:lnTo>
                  <a:pt x="0" y="0"/>
                </a:lnTo>
                <a:lnTo>
                  <a:pt x="0" y="174421"/>
                </a:lnTo>
                <a:lnTo>
                  <a:pt x="1296550" y="174421"/>
                </a:lnTo>
                <a:lnTo>
                  <a:pt x="1296550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3454641" y="5305958"/>
            <a:ext cx="836930" cy="172720"/>
          </a:xfrm>
          <a:custGeom>
            <a:avLst/>
            <a:gdLst/>
            <a:ahLst/>
            <a:cxnLst/>
            <a:rect l="l" t="t" r="r" b="b"/>
            <a:pathLst>
              <a:path w="836929" h="172720">
                <a:moveTo>
                  <a:pt x="836790" y="0"/>
                </a:moveTo>
                <a:lnTo>
                  <a:pt x="0" y="0"/>
                </a:lnTo>
                <a:lnTo>
                  <a:pt x="0" y="172136"/>
                </a:lnTo>
                <a:lnTo>
                  <a:pt x="836790" y="172136"/>
                </a:lnTo>
                <a:lnTo>
                  <a:pt x="836790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3290367" y="5571134"/>
            <a:ext cx="1165860" cy="172720"/>
          </a:xfrm>
          <a:custGeom>
            <a:avLst/>
            <a:gdLst/>
            <a:ahLst/>
            <a:cxnLst/>
            <a:rect l="l" t="t" r="r" b="b"/>
            <a:pathLst>
              <a:path w="1165860" h="172720">
                <a:moveTo>
                  <a:pt x="1165356" y="0"/>
                </a:moveTo>
                <a:lnTo>
                  <a:pt x="0" y="0"/>
                </a:lnTo>
                <a:lnTo>
                  <a:pt x="0" y="172136"/>
                </a:lnTo>
                <a:lnTo>
                  <a:pt x="1165356" y="172136"/>
                </a:lnTo>
                <a:lnTo>
                  <a:pt x="1165356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635429" y="5945885"/>
            <a:ext cx="843280" cy="174625"/>
          </a:xfrm>
          <a:custGeom>
            <a:avLst/>
            <a:gdLst/>
            <a:ahLst/>
            <a:cxnLst/>
            <a:rect l="l" t="t" r="r" b="b"/>
            <a:pathLst>
              <a:path w="843280" h="174625">
                <a:moveTo>
                  <a:pt x="842894" y="0"/>
                </a:moveTo>
                <a:lnTo>
                  <a:pt x="0" y="0"/>
                </a:lnTo>
                <a:lnTo>
                  <a:pt x="0" y="174421"/>
                </a:lnTo>
                <a:lnTo>
                  <a:pt x="842894" y="174421"/>
                </a:lnTo>
                <a:lnTo>
                  <a:pt x="842894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476679" y="6207252"/>
            <a:ext cx="1160780" cy="182245"/>
          </a:xfrm>
          <a:custGeom>
            <a:avLst/>
            <a:gdLst/>
            <a:ahLst/>
            <a:cxnLst/>
            <a:rect l="l" t="t" r="r" b="b"/>
            <a:pathLst>
              <a:path w="1160780" h="182245">
                <a:moveTo>
                  <a:pt x="1160328" y="0"/>
                </a:moveTo>
                <a:lnTo>
                  <a:pt x="0" y="0"/>
                </a:lnTo>
                <a:lnTo>
                  <a:pt x="0" y="182193"/>
                </a:lnTo>
                <a:lnTo>
                  <a:pt x="1160328" y="182193"/>
                </a:lnTo>
                <a:lnTo>
                  <a:pt x="1160328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7704873" y="3531869"/>
            <a:ext cx="1555115" cy="174625"/>
          </a:xfrm>
          <a:custGeom>
            <a:avLst/>
            <a:gdLst/>
            <a:ahLst/>
            <a:cxnLst/>
            <a:rect l="l" t="t" r="r" b="b"/>
            <a:pathLst>
              <a:path w="1555115" h="174625">
                <a:moveTo>
                  <a:pt x="1555005" y="0"/>
                </a:moveTo>
                <a:lnTo>
                  <a:pt x="0" y="0"/>
                </a:lnTo>
                <a:lnTo>
                  <a:pt x="0" y="174421"/>
                </a:lnTo>
                <a:lnTo>
                  <a:pt x="1555005" y="174421"/>
                </a:lnTo>
                <a:lnTo>
                  <a:pt x="1555005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9509087" y="3056534"/>
            <a:ext cx="1975485" cy="172720"/>
          </a:xfrm>
          <a:custGeom>
            <a:avLst/>
            <a:gdLst/>
            <a:ahLst/>
            <a:cxnLst/>
            <a:rect l="l" t="t" r="r" b="b"/>
            <a:pathLst>
              <a:path w="1975484" h="172719">
                <a:moveTo>
                  <a:pt x="1974944" y="0"/>
                </a:moveTo>
                <a:lnTo>
                  <a:pt x="0" y="0"/>
                </a:lnTo>
                <a:lnTo>
                  <a:pt x="0" y="172135"/>
                </a:lnTo>
                <a:lnTo>
                  <a:pt x="1974944" y="172135"/>
                </a:lnTo>
                <a:lnTo>
                  <a:pt x="1974944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9592425" y="4044086"/>
            <a:ext cx="1608455" cy="172720"/>
          </a:xfrm>
          <a:custGeom>
            <a:avLst/>
            <a:gdLst/>
            <a:ahLst/>
            <a:cxnLst/>
            <a:rect l="l" t="t" r="r" b="b"/>
            <a:pathLst>
              <a:path w="1608454" h="172720">
                <a:moveTo>
                  <a:pt x="1608109" y="0"/>
                </a:moveTo>
                <a:lnTo>
                  <a:pt x="0" y="0"/>
                </a:lnTo>
                <a:lnTo>
                  <a:pt x="0" y="172136"/>
                </a:lnTo>
                <a:lnTo>
                  <a:pt x="1608109" y="172136"/>
                </a:lnTo>
                <a:lnTo>
                  <a:pt x="1608109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7813089" y="4847844"/>
            <a:ext cx="1127125" cy="226060"/>
          </a:xfrm>
          <a:custGeom>
            <a:avLst/>
            <a:gdLst/>
            <a:ahLst/>
            <a:cxnLst/>
            <a:rect l="l" t="t" r="r" b="b"/>
            <a:pathLst>
              <a:path w="1127125" h="226060">
                <a:moveTo>
                  <a:pt x="1126770" y="0"/>
                </a:moveTo>
                <a:lnTo>
                  <a:pt x="0" y="0"/>
                </a:lnTo>
                <a:lnTo>
                  <a:pt x="0" y="225628"/>
                </a:lnTo>
                <a:lnTo>
                  <a:pt x="1126770" y="225628"/>
                </a:lnTo>
                <a:lnTo>
                  <a:pt x="1126770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9701276" y="4821325"/>
            <a:ext cx="1141095" cy="172720"/>
          </a:xfrm>
          <a:custGeom>
            <a:avLst/>
            <a:gdLst/>
            <a:ahLst/>
            <a:cxnLst/>
            <a:rect l="l" t="t" r="r" b="b"/>
            <a:pathLst>
              <a:path w="1141095" h="172720">
                <a:moveTo>
                  <a:pt x="1140897" y="0"/>
                </a:moveTo>
                <a:lnTo>
                  <a:pt x="0" y="0"/>
                </a:lnTo>
                <a:lnTo>
                  <a:pt x="0" y="172136"/>
                </a:lnTo>
                <a:lnTo>
                  <a:pt x="1140897" y="172136"/>
                </a:lnTo>
                <a:lnTo>
                  <a:pt x="1140897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7813739" y="5805830"/>
            <a:ext cx="1261745" cy="212725"/>
          </a:xfrm>
          <a:custGeom>
            <a:avLst/>
            <a:gdLst/>
            <a:ahLst/>
            <a:cxnLst/>
            <a:rect l="l" t="t" r="r" b="b"/>
            <a:pathLst>
              <a:path w="1261745" h="212725">
                <a:moveTo>
                  <a:pt x="1261185" y="0"/>
                </a:moveTo>
                <a:lnTo>
                  <a:pt x="0" y="0"/>
                </a:lnTo>
                <a:lnTo>
                  <a:pt x="0" y="212368"/>
                </a:lnTo>
                <a:lnTo>
                  <a:pt x="1261185" y="212368"/>
                </a:lnTo>
                <a:lnTo>
                  <a:pt x="1261185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8232838" y="6070853"/>
            <a:ext cx="424815" cy="174625"/>
          </a:xfrm>
          <a:custGeom>
            <a:avLst/>
            <a:gdLst/>
            <a:ahLst/>
            <a:cxnLst/>
            <a:rect l="l" t="t" r="r" b="b"/>
            <a:pathLst>
              <a:path w="424815" h="174625">
                <a:moveTo>
                  <a:pt x="424327" y="0"/>
                </a:moveTo>
                <a:lnTo>
                  <a:pt x="0" y="0"/>
                </a:lnTo>
                <a:lnTo>
                  <a:pt x="0" y="174421"/>
                </a:lnTo>
                <a:lnTo>
                  <a:pt x="424327" y="174421"/>
                </a:lnTo>
                <a:lnTo>
                  <a:pt x="424327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55" dirty="0"/>
              <a:t>Diuréticos</a:t>
            </a:r>
            <a:r>
              <a:rPr sz="3600" spc="-204" dirty="0"/>
              <a:t> </a:t>
            </a:r>
            <a:r>
              <a:rPr sz="3600" spc="-295" dirty="0"/>
              <a:t>tiazídicos</a:t>
            </a:r>
            <a:r>
              <a:rPr sz="3600" spc="-204" dirty="0"/>
              <a:t> </a:t>
            </a:r>
            <a:r>
              <a:rPr sz="3600" spc="-260" dirty="0"/>
              <a:t>y</a:t>
            </a:r>
            <a:r>
              <a:rPr sz="3600" spc="-210" dirty="0"/>
              <a:t> </a:t>
            </a:r>
            <a:r>
              <a:rPr sz="3600" spc="-365" dirty="0"/>
              <a:t>semenjantes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182052" y="2086356"/>
            <a:ext cx="28270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Mecanismo</a:t>
            </a:r>
            <a:r>
              <a:rPr sz="2000" spc="-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2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de</a:t>
            </a:r>
            <a:r>
              <a:rPr sz="20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204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acción</a:t>
            </a:r>
            <a:endParaRPr sz="2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4281" y="947940"/>
            <a:ext cx="7980680" cy="469900"/>
          </a:xfrm>
          <a:custGeom>
            <a:avLst/>
            <a:gdLst/>
            <a:ahLst/>
            <a:cxnLst/>
            <a:rect l="l" t="t" r="r" b="b"/>
            <a:pathLst>
              <a:path w="7980680" h="469900">
                <a:moveTo>
                  <a:pt x="7980350" y="169354"/>
                </a:moveTo>
                <a:lnTo>
                  <a:pt x="7865986" y="169354"/>
                </a:lnTo>
                <a:lnTo>
                  <a:pt x="7865986" y="0"/>
                </a:lnTo>
                <a:lnTo>
                  <a:pt x="163258" y="0"/>
                </a:lnTo>
                <a:lnTo>
                  <a:pt x="163258" y="235331"/>
                </a:lnTo>
                <a:lnTo>
                  <a:pt x="0" y="235508"/>
                </a:lnTo>
                <a:lnTo>
                  <a:pt x="0" y="387921"/>
                </a:lnTo>
                <a:lnTo>
                  <a:pt x="163258" y="387807"/>
                </a:lnTo>
                <a:lnTo>
                  <a:pt x="163258" y="469531"/>
                </a:lnTo>
                <a:lnTo>
                  <a:pt x="7865986" y="469531"/>
                </a:lnTo>
                <a:lnTo>
                  <a:pt x="7865986" y="321767"/>
                </a:lnTo>
                <a:lnTo>
                  <a:pt x="7980350" y="321767"/>
                </a:lnTo>
                <a:lnTo>
                  <a:pt x="7980350" y="257543"/>
                </a:lnTo>
                <a:lnTo>
                  <a:pt x="7980350" y="169354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94752" y="2154935"/>
            <a:ext cx="2801620" cy="201930"/>
          </a:xfrm>
          <a:custGeom>
            <a:avLst/>
            <a:gdLst/>
            <a:ahLst/>
            <a:cxnLst/>
            <a:rect l="l" t="t" r="r" b="b"/>
            <a:pathLst>
              <a:path w="2801620" h="201930">
                <a:moveTo>
                  <a:pt x="2801314" y="0"/>
                </a:moveTo>
                <a:lnTo>
                  <a:pt x="0" y="0"/>
                </a:lnTo>
                <a:lnTo>
                  <a:pt x="0" y="201421"/>
                </a:lnTo>
                <a:lnTo>
                  <a:pt x="2801314" y="201421"/>
                </a:lnTo>
                <a:lnTo>
                  <a:pt x="2801314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4754879" y="2051304"/>
            <a:ext cx="5108575" cy="4666615"/>
            <a:chOff x="4754879" y="2051304"/>
            <a:chExt cx="5108575" cy="4666615"/>
          </a:xfrm>
        </p:grpSpPr>
        <p:pic>
          <p:nvPicPr>
            <p:cNvPr id="7" name="object 7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754879" y="2051304"/>
              <a:ext cx="5108448" cy="46664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807996" y="2208787"/>
              <a:ext cx="4969510" cy="273685"/>
            </a:xfrm>
            <a:custGeom>
              <a:avLst/>
              <a:gdLst/>
              <a:ahLst/>
              <a:cxnLst/>
              <a:rect l="l" t="t" r="r" b="b"/>
              <a:pathLst>
                <a:path w="4969509" h="273685">
                  <a:moveTo>
                    <a:pt x="634645" y="218540"/>
                  </a:moveTo>
                  <a:lnTo>
                    <a:pt x="549702" y="219343"/>
                  </a:lnTo>
                  <a:lnTo>
                    <a:pt x="359044" y="228766"/>
                  </a:lnTo>
                  <a:lnTo>
                    <a:pt x="209930" y="229062"/>
                  </a:lnTo>
                  <a:lnTo>
                    <a:pt x="209930" y="273677"/>
                  </a:lnTo>
                  <a:lnTo>
                    <a:pt x="1187989" y="273677"/>
                  </a:lnTo>
                  <a:lnTo>
                    <a:pt x="1295988" y="272675"/>
                  </a:lnTo>
                  <a:lnTo>
                    <a:pt x="1554457" y="263652"/>
                  </a:lnTo>
                  <a:lnTo>
                    <a:pt x="1729197" y="262383"/>
                  </a:lnTo>
                  <a:lnTo>
                    <a:pt x="1937914" y="252558"/>
                  </a:lnTo>
                  <a:lnTo>
                    <a:pt x="2978513" y="251640"/>
                  </a:lnTo>
                  <a:lnTo>
                    <a:pt x="2873500" y="248882"/>
                  </a:lnTo>
                  <a:lnTo>
                    <a:pt x="2679345" y="233444"/>
                  </a:lnTo>
                  <a:lnTo>
                    <a:pt x="2583481" y="229702"/>
                  </a:lnTo>
                  <a:lnTo>
                    <a:pt x="1288707" y="229301"/>
                  </a:lnTo>
                  <a:lnTo>
                    <a:pt x="1223591" y="218741"/>
                  </a:lnTo>
                  <a:lnTo>
                    <a:pt x="1515775" y="218741"/>
                  </a:lnTo>
                  <a:lnTo>
                    <a:pt x="634645" y="218540"/>
                  </a:lnTo>
                  <a:close/>
                </a:path>
                <a:path w="4969509" h="273685">
                  <a:moveTo>
                    <a:pt x="4570954" y="207513"/>
                  </a:moveTo>
                  <a:lnTo>
                    <a:pt x="3879469" y="207513"/>
                  </a:lnTo>
                  <a:lnTo>
                    <a:pt x="4261713" y="208315"/>
                  </a:lnTo>
                  <a:lnTo>
                    <a:pt x="4318746" y="213996"/>
                  </a:lnTo>
                  <a:lnTo>
                    <a:pt x="4470430" y="240729"/>
                  </a:lnTo>
                  <a:lnTo>
                    <a:pt x="4608766" y="266927"/>
                  </a:lnTo>
                  <a:lnTo>
                    <a:pt x="4660945" y="273677"/>
                  </a:lnTo>
                  <a:lnTo>
                    <a:pt x="4808988" y="273677"/>
                  </a:lnTo>
                  <a:lnTo>
                    <a:pt x="4733754" y="241531"/>
                  </a:lnTo>
                  <a:lnTo>
                    <a:pt x="4700989" y="232308"/>
                  </a:lnTo>
                  <a:lnTo>
                    <a:pt x="4636676" y="223085"/>
                  </a:lnTo>
                  <a:lnTo>
                    <a:pt x="4570954" y="207513"/>
                  </a:lnTo>
                  <a:close/>
                </a:path>
                <a:path w="4969509" h="273685">
                  <a:moveTo>
                    <a:pt x="4969167" y="152377"/>
                  </a:moveTo>
                  <a:lnTo>
                    <a:pt x="4133084" y="152377"/>
                  </a:lnTo>
                  <a:lnTo>
                    <a:pt x="4158968" y="153446"/>
                  </a:lnTo>
                  <a:lnTo>
                    <a:pt x="4157984" y="153446"/>
                  </a:lnTo>
                  <a:lnTo>
                    <a:pt x="4327240" y="171223"/>
                  </a:lnTo>
                  <a:lnTo>
                    <a:pt x="4396408" y="174565"/>
                  </a:lnTo>
                  <a:lnTo>
                    <a:pt x="4451014" y="178107"/>
                  </a:lnTo>
                  <a:lnTo>
                    <a:pt x="4474071" y="182184"/>
                  </a:lnTo>
                  <a:lnTo>
                    <a:pt x="4520182" y="195484"/>
                  </a:lnTo>
                  <a:lnTo>
                    <a:pt x="4636676" y="223085"/>
                  </a:lnTo>
                  <a:lnTo>
                    <a:pt x="4700989" y="232308"/>
                  </a:lnTo>
                  <a:lnTo>
                    <a:pt x="4733754" y="241531"/>
                  </a:lnTo>
                  <a:lnTo>
                    <a:pt x="4808988" y="273677"/>
                  </a:lnTo>
                  <a:lnTo>
                    <a:pt x="4969167" y="273677"/>
                  </a:lnTo>
                  <a:lnTo>
                    <a:pt x="4969167" y="152377"/>
                  </a:lnTo>
                  <a:close/>
                </a:path>
                <a:path w="4969509" h="273685">
                  <a:moveTo>
                    <a:pt x="3415994" y="218540"/>
                  </a:moveTo>
                  <a:lnTo>
                    <a:pt x="634645" y="218540"/>
                  </a:lnTo>
                  <a:lnTo>
                    <a:pt x="1515775" y="218741"/>
                  </a:lnTo>
                  <a:lnTo>
                    <a:pt x="1223591" y="218741"/>
                  </a:lnTo>
                  <a:lnTo>
                    <a:pt x="1288707" y="229301"/>
                  </a:lnTo>
                  <a:lnTo>
                    <a:pt x="2583481" y="229702"/>
                  </a:lnTo>
                  <a:lnTo>
                    <a:pt x="2679345" y="233444"/>
                  </a:lnTo>
                  <a:lnTo>
                    <a:pt x="2873500" y="248882"/>
                  </a:lnTo>
                  <a:lnTo>
                    <a:pt x="2978513" y="251640"/>
                  </a:lnTo>
                  <a:lnTo>
                    <a:pt x="2996408" y="251640"/>
                  </a:lnTo>
                  <a:lnTo>
                    <a:pt x="3044601" y="250687"/>
                  </a:lnTo>
                  <a:lnTo>
                    <a:pt x="3219340" y="232575"/>
                  </a:lnTo>
                  <a:lnTo>
                    <a:pt x="3283655" y="228766"/>
                  </a:lnTo>
                  <a:lnTo>
                    <a:pt x="3361316" y="221348"/>
                  </a:lnTo>
                  <a:lnTo>
                    <a:pt x="3415994" y="218540"/>
                  </a:lnTo>
                  <a:close/>
                </a:path>
                <a:path w="4969509" h="273685">
                  <a:moveTo>
                    <a:pt x="4133084" y="152377"/>
                  </a:moveTo>
                  <a:lnTo>
                    <a:pt x="4016592" y="153446"/>
                  </a:lnTo>
                  <a:lnTo>
                    <a:pt x="3839424" y="173496"/>
                  </a:lnTo>
                  <a:lnTo>
                    <a:pt x="3778751" y="177906"/>
                  </a:lnTo>
                  <a:lnTo>
                    <a:pt x="3688954" y="193011"/>
                  </a:lnTo>
                  <a:lnTo>
                    <a:pt x="3432911" y="217672"/>
                  </a:lnTo>
                  <a:lnTo>
                    <a:pt x="3361316" y="221348"/>
                  </a:lnTo>
                  <a:lnTo>
                    <a:pt x="3283655" y="228766"/>
                  </a:lnTo>
                  <a:lnTo>
                    <a:pt x="3219340" y="232575"/>
                  </a:lnTo>
                  <a:lnTo>
                    <a:pt x="3044601" y="250687"/>
                  </a:lnTo>
                  <a:lnTo>
                    <a:pt x="2996408" y="251640"/>
                  </a:lnTo>
                  <a:lnTo>
                    <a:pt x="2977860" y="251640"/>
                  </a:lnTo>
                  <a:lnTo>
                    <a:pt x="3386799" y="251489"/>
                  </a:lnTo>
                  <a:lnTo>
                    <a:pt x="3443833" y="241397"/>
                  </a:lnTo>
                  <a:lnTo>
                    <a:pt x="3469315" y="239326"/>
                  </a:lnTo>
                  <a:lnTo>
                    <a:pt x="3513001" y="229702"/>
                  </a:lnTo>
                  <a:lnTo>
                    <a:pt x="3519069" y="229568"/>
                  </a:lnTo>
                  <a:lnTo>
                    <a:pt x="3560327" y="228031"/>
                  </a:lnTo>
                  <a:lnTo>
                    <a:pt x="3614933" y="218741"/>
                  </a:lnTo>
                  <a:lnTo>
                    <a:pt x="3720505" y="217538"/>
                  </a:lnTo>
                  <a:lnTo>
                    <a:pt x="3810301" y="208783"/>
                  </a:lnTo>
                  <a:lnTo>
                    <a:pt x="3879469" y="207513"/>
                  </a:lnTo>
                  <a:lnTo>
                    <a:pt x="4570954" y="207513"/>
                  </a:lnTo>
                  <a:lnTo>
                    <a:pt x="4520182" y="195484"/>
                  </a:lnTo>
                  <a:lnTo>
                    <a:pt x="4474071" y="182184"/>
                  </a:lnTo>
                  <a:lnTo>
                    <a:pt x="4451014" y="178107"/>
                  </a:lnTo>
                  <a:lnTo>
                    <a:pt x="4396408" y="174565"/>
                  </a:lnTo>
                  <a:lnTo>
                    <a:pt x="4327240" y="171223"/>
                  </a:lnTo>
                  <a:lnTo>
                    <a:pt x="4157984" y="153446"/>
                  </a:lnTo>
                  <a:lnTo>
                    <a:pt x="4158968" y="153446"/>
                  </a:lnTo>
                  <a:lnTo>
                    <a:pt x="4133084" y="152377"/>
                  </a:lnTo>
                  <a:close/>
                </a:path>
                <a:path w="4969509" h="273685">
                  <a:moveTo>
                    <a:pt x="482961" y="66163"/>
                  </a:moveTo>
                  <a:lnTo>
                    <a:pt x="398018" y="66965"/>
                  </a:lnTo>
                  <a:lnTo>
                    <a:pt x="207503" y="76255"/>
                  </a:lnTo>
                  <a:lnTo>
                    <a:pt x="0" y="77190"/>
                  </a:lnTo>
                  <a:lnTo>
                    <a:pt x="0" y="229568"/>
                  </a:lnTo>
                  <a:lnTo>
                    <a:pt x="209930" y="229062"/>
                  </a:lnTo>
                  <a:lnTo>
                    <a:pt x="209930" y="121300"/>
                  </a:lnTo>
                  <a:lnTo>
                    <a:pt x="1036304" y="121300"/>
                  </a:lnTo>
                  <a:lnTo>
                    <a:pt x="1144304" y="120297"/>
                  </a:lnTo>
                  <a:lnTo>
                    <a:pt x="1401559" y="111208"/>
                  </a:lnTo>
                  <a:lnTo>
                    <a:pt x="1576300" y="109938"/>
                  </a:lnTo>
                  <a:lnTo>
                    <a:pt x="1786230" y="100181"/>
                  </a:lnTo>
                  <a:lnTo>
                    <a:pt x="2844377" y="99245"/>
                  </a:lnTo>
                  <a:lnTo>
                    <a:pt x="2892916" y="98310"/>
                  </a:lnTo>
                  <a:lnTo>
                    <a:pt x="2961651" y="91109"/>
                  </a:lnTo>
                  <a:lnTo>
                    <a:pt x="2915972" y="87349"/>
                  </a:lnTo>
                  <a:lnTo>
                    <a:pt x="2783704" y="78594"/>
                  </a:lnTo>
                  <a:lnTo>
                    <a:pt x="2684200" y="77190"/>
                  </a:lnTo>
                  <a:lnTo>
                    <a:pt x="1453739" y="77190"/>
                  </a:lnTo>
                  <a:lnTo>
                    <a:pt x="1441604" y="76856"/>
                  </a:lnTo>
                  <a:lnTo>
                    <a:pt x="1376490" y="66364"/>
                  </a:lnTo>
                  <a:lnTo>
                    <a:pt x="1821785" y="66364"/>
                  </a:lnTo>
                  <a:lnTo>
                    <a:pt x="482961" y="66163"/>
                  </a:lnTo>
                  <a:close/>
                </a:path>
                <a:path w="4969509" h="273685">
                  <a:moveTo>
                    <a:pt x="4724134" y="55136"/>
                  </a:moveTo>
                  <a:lnTo>
                    <a:pt x="3727786" y="55136"/>
                  </a:lnTo>
                  <a:lnTo>
                    <a:pt x="4414610" y="55871"/>
                  </a:lnTo>
                  <a:lnTo>
                    <a:pt x="4471643" y="61552"/>
                  </a:lnTo>
                  <a:lnTo>
                    <a:pt x="4623328" y="88351"/>
                  </a:lnTo>
                  <a:lnTo>
                    <a:pt x="4761663" y="114550"/>
                  </a:lnTo>
                  <a:lnTo>
                    <a:pt x="4813137" y="121300"/>
                  </a:lnTo>
                  <a:lnTo>
                    <a:pt x="209930" y="121300"/>
                  </a:lnTo>
                  <a:lnTo>
                    <a:pt x="209930" y="229062"/>
                  </a:lnTo>
                  <a:lnTo>
                    <a:pt x="359044" y="228766"/>
                  </a:lnTo>
                  <a:lnTo>
                    <a:pt x="549702" y="219343"/>
                  </a:lnTo>
                  <a:lnTo>
                    <a:pt x="3415994" y="218540"/>
                  </a:lnTo>
                  <a:lnTo>
                    <a:pt x="3432911" y="217672"/>
                  </a:lnTo>
                  <a:lnTo>
                    <a:pt x="3688954" y="193011"/>
                  </a:lnTo>
                  <a:lnTo>
                    <a:pt x="3778751" y="177906"/>
                  </a:lnTo>
                  <a:lnTo>
                    <a:pt x="3839424" y="173496"/>
                  </a:lnTo>
                  <a:lnTo>
                    <a:pt x="4016592" y="153446"/>
                  </a:lnTo>
                  <a:lnTo>
                    <a:pt x="4969167" y="152377"/>
                  </a:lnTo>
                  <a:lnTo>
                    <a:pt x="4969167" y="121300"/>
                  </a:lnTo>
                  <a:lnTo>
                    <a:pt x="4957033" y="120097"/>
                  </a:lnTo>
                  <a:lnTo>
                    <a:pt x="4886650" y="89154"/>
                  </a:lnTo>
                  <a:lnTo>
                    <a:pt x="4853887" y="79931"/>
                  </a:lnTo>
                  <a:lnTo>
                    <a:pt x="4789573" y="70641"/>
                  </a:lnTo>
                  <a:lnTo>
                    <a:pt x="4724134" y="55136"/>
                  </a:lnTo>
                  <a:close/>
                </a:path>
                <a:path w="4969509" h="273685">
                  <a:moveTo>
                    <a:pt x="2961651" y="91109"/>
                  </a:moveTo>
                  <a:lnTo>
                    <a:pt x="2892916" y="98310"/>
                  </a:lnTo>
                  <a:lnTo>
                    <a:pt x="2844377" y="99245"/>
                  </a:lnTo>
                  <a:lnTo>
                    <a:pt x="1786230" y="100181"/>
                  </a:lnTo>
                  <a:lnTo>
                    <a:pt x="1576300" y="109938"/>
                  </a:lnTo>
                  <a:lnTo>
                    <a:pt x="1401559" y="111208"/>
                  </a:lnTo>
                  <a:lnTo>
                    <a:pt x="1144304" y="120297"/>
                  </a:lnTo>
                  <a:lnTo>
                    <a:pt x="1036304" y="121300"/>
                  </a:lnTo>
                  <a:lnTo>
                    <a:pt x="4813137" y="121300"/>
                  </a:lnTo>
                  <a:lnTo>
                    <a:pt x="4761663" y="114550"/>
                  </a:lnTo>
                  <a:lnTo>
                    <a:pt x="4680851" y="99245"/>
                  </a:lnTo>
                  <a:lnTo>
                    <a:pt x="3130758" y="99245"/>
                  </a:lnTo>
                  <a:lnTo>
                    <a:pt x="3026398" y="96438"/>
                  </a:lnTo>
                  <a:lnTo>
                    <a:pt x="2961651" y="91109"/>
                  </a:lnTo>
                  <a:close/>
                </a:path>
                <a:path w="4969509" h="273685">
                  <a:moveTo>
                    <a:pt x="4123377" y="0"/>
                  </a:moveTo>
                  <a:lnTo>
                    <a:pt x="3864908" y="1068"/>
                  </a:lnTo>
                  <a:lnTo>
                    <a:pt x="3686527" y="21118"/>
                  </a:lnTo>
                  <a:lnTo>
                    <a:pt x="3625854" y="25462"/>
                  </a:lnTo>
                  <a:lnTo>
                    <a:pt x="3537270" y="40633"/>
                  </a:lnTo>
                  <a:lnTo>
                    <a:pt x="3281228" y="65294"/>
                  </a:lnTo>
                  <a:lnTo>
                    <a:pt x="3208419" y="68903"/>
                  </a:lnTo>
                  <a:lnTo>
                    <a:pt x="3130758" y="76389"/>
                  </a:lnTo>
                  <a:lnTo>
                    <a:pt x="3066443" y="80131"/>
                  </a:lnTo>
                  <a:lnTo>
                    <a:pt x="2961651" y="91109"/>
                  </a:lnTo>
                  <a:lnTo>
                    <a:pt x="3026398" y="96438"/>
                  </a:lnTo>
                  <a:lnTo>
                    <a:pt x="3130758" y="99245"/>
                  </a:lnTo>
                  <a:lnTo>
                    <a:pt x="3233902" y="99111"/>
                  </a:lnTo>
                  <a:lnTo>
                    <a:pt x="3290935" y="88953"/>
                  </a:lnTo>
                  <a:lnTo>
                    <a:pt x="3316418" y="86948"/>
                  </a:lnTo>
                  <a:lnTo>
                    <a:pt x="3360103" y="77324"/>
                  </a:lnTo>
                  <a:lnTo>
                    <a:pt x="3367384" y="77190"/>
                  </a:lnTo>
                  <a:lnTo>
                    <a:pt x="3407429" y="75653"/>
                  </a:lnTo>
                  <a:lnTo>
                    <a:pt x="3463249" y="66364"/>
                  </a:lnTo>
                  <a:lnTo>
                    <a:pt x="3567607" y="65094"/>
                  </a:lnTo>
                  <a:lnTo>
                    <a:pt x="3657405" y="56406"/>
                  </a:lnTo>
                  <a:lnTo>
                    <a:pt x="3727786" y="55136"/>
                  </a:lnTo>
                  <a:lnTo>
                    <a:pt x="4724134" y="55136"/>
                  </a:lnTo>
                  <a:lnTo>
                    <a:pt x="4673079" y="43040"/>
                  </a:lnTo>
                  <a:lnTo>
                    <a:pt x="4626969" y="29807"/>
                  </a:lnTo>
                  <a:lnTo>
                    <a:pt x="4602699" y="25663"/>
                  </a:lnTo>
                  <a:lnTo>
                    <a:pt x="4549305" y="22188"/>
                  </a:lnTo>
                  <a:lnTo>
                    <a:pt x="4480137" y="18779"/>
                  </a:lnTo>
                  <a:lnTo>
                    <a:pt x="4310873" y="1068"/>
                  </a:lnTo>
                  <a:lnTo>
                    <a:pt x="4322683" y="1068"/>
                  </a:lnTo>
                  <a:lnTo>
                    <a:pt x="4123377" y="0"/>
                  </a:lnTo>
                  <a:close/>
                </a:path>
                <a:path w="4969509" h="273685">
                  <a:moveTo>
                    <a:pt x="3727786" y="55136"/>
                  </a:moveTo>
                  <a:lnTo>
                    <a:pt x="3657405" y="56406"/>
                  </a:lnTo>
                  <a:lnTo>
                    <a:pt x="3567607" y="65094"/>
                  </a:lnTo>
                  <a:lnTo>
                    <a:pt x="3463249" y="66364"/>
                  </a:lnTo>
                  <a:lnTo>
                    <a:pt x="3407429" y="75653"/>
                  </a:lnTo>
                  <a:lnTo>
                    <a:pt x="3367384" y="77190"/>
                  </a:lnTo>
                  <a:lnTo>
                    <a:pt x="3360103" y="77324"/>
                  </a:lnTo>
                  <a:lnTo>
                    <a:pt x="3316418" y="86948"/>
                  </a:lnTo>
                  <a:lnTo>
                    <a:pt x="3290935" y="88953"/>
                  </a:lnTo>
                  <a:lnTo>
                    <a:pt x="3233902" y="99111"/>
                  </a:lnTo>
                  <a:lnTo>
                    <a:pt x="3130758" y="99245"/>
                  </a:lnTo>
                  <a:lnTo>
                    <a:pt x="4680851" y="99245"/>
                  </a:lnTo>
                  <a:lnTo>
                    <a:pt x="4623328" y="88351"/>
                  </a:lnTo>
                  <a:lnTo>
                    <a:pt x="4471643" y="61552"/>
                  </a:lnTo>
                  <a:lnTo>
                    <a:pt x="4414610" y="55871"/>
                  </a:lnTo>
                  <a:lnTo>
                    <a:pt x="3727786" y="55136"/>
                  </a:lnTo>
                  <a:close/>
                </a:path>
              </a:pathLst>
            </a:custGeom>
            <a:solidFill>
              <a:srgbClr val="D93025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4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55" dirty="0"/>
              <a:t>Diuréticos</a:t>
            </a:r>
            <a:r>
              <a:rPr sz="3600" spc="-204" dirty="0"/>
              <a:t> </a:t>
            </a:r>
            <a:r>
              <a:rPr sz="3600" spc="-295" dirty="0"/>
              <a:t>tiazídicos</a:t>
            </a:r>
            <a:r>
              <a:rPr sz="3600" spc="-204" dirty="0"/>
              <a:t> </a:t>
            </a:r>
            <a:r>
              <a:rPr sz="3600" spc="-260" dirty="0"/>
              <a:t>y</a:t>
            </a:r>
            <a:r>
              <a:rPr sz="3600" spc="-210" dirty="0"/>
              <a:t> </a:t>
            </a:r>
            <a:r>
              <a:rPr sz="3600" spc="-365" dirty="0"/>
              <a:t>semenjantes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118552" y="1958340"/>
            <a:ext cx="7108190" cy="175387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105"/>
              </a:spcBef>
            </a:pPr>
            <a:r>
              <a:rPr sz="2000" spc="9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Efectos</a:t>
            </a:r>
            <a:r>
              <a:rPr sz="2000" spc="-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en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14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la</a:t>
            </a:r>
            <a:r>
              <a:rPr sz="2000" spc="-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4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excreción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4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urinaria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76200">
              <a:lnSpc>
                <a:spcPct val="100000"/>
              </a:lnSpc>
              <a:spcBef>
                <a:spcPts val="1010"/>
              </a:spcBef>
              <a:tabLst>
                <a:tab pos="418465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↑</a:t>
            </a:r>
            <a:r>
              <a:rPr sz="2000" spc="-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8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Na</a:t>
            </a:r>
            <a:r>
              <a:rPr sz="1950" spc="127" baseline="26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+</a:t>
            </a:r>
            <a:r>
              <a:rPr sz="1950" spc="254" baseline="26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-1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(5%</a:t>
            </a:r>
            <a:r>
              <a:rPr sz="20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2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de</a:t>
            </a:r>
            <a:r>
              <a:rPr sz="20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14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la</a:t>
            </a:r>
            <a:r>
              <a:rPr sz="2000" spc="-8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21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carga</a:t>
            </a:r>
            <a:r>
              <a:rPr sz="2000" spc="-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filtrada),</a:t>
            </a:r>
            <a:r>
              <a:rPr sz="2000" spc="-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Cl</a:t>
            </a:r>
            <a:r>
              <a:rPr sz="1950" spc="150" baseline="26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-</a:t>
            </a:r>
            <a:r>
              <a:rPr sz="2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,</a:t>
            </a:r>
            <a:r>
              <a:rPr sz="2000" spc="-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K</a:t>
            </a:r>
            <a:r>
              <a:rPr sz="1950" spc="-89" baseline="26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+</a:t>
            </a:r>
            <a:r>
              <a:rPr sz="20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,</a:t>
            </a:r>
            <a:r>
              <a:rPr sz="2000" spc="-8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H</a:t>
            </a:r>
            <a:r>
              <a:rPr sz="1950" spc="-97" baseline="26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+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,</a:t>
            </a:r>
            <a:r>
              <a:rPr sz="2000" spc="-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Mg</a:t>
            </a:r>
            <a:r>
              <a:rPr sz="1950" spc="97" baseline="26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2+</a:t>
            </a:r>
            <a:r>
              <a:rPr sz="2000" spc="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,</a:t>
            </a:r>
            <a:r>
              <a:rPr sz="2000" spc="-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3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HCO</a:t>
            </a:r>
            <a:r>
              <a:rPr sz="1950" spc="195" baseline="-17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3</a:t>
            </a:r>
            <a:r>
              <a:rPr sz="1950" spc="195" baseline="26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-</a:t>
            </a:r>
            <a:endParaRPr sz="1950" baseline="26000">
              <a:latin typeface="Tahoma" panose="020B0604030504040204"/>
              <a:cs typeface="Tahoma" panose="020B0604030504040204"/>
            </a:endParaRPr>
          </a:p>
          <a:p>
            <a:pPr marL="76200">
              <a:lnSpc>
                <a:spcPct val="100000"/>
              </a:lnSpc>
              <a:spcBef>
                <a:spcPts val="985"/>
              </a:spcBef>
              <a:tabLst>
                <a:tab pos="418465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↓</a:t>
            </a:r>
            <a:r>
              <a:rPr sz="2000" spc="-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Ca</a:t>
            </a:r>
            <a:r>
              <a:rPr sz="1950" spc="187" baseline="26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2+</a:t>
            </a:r>
            <a:endParaRPr sz="1950" baseline="26000">
              <a:latin typeface="Tahoma" panose="020B0604030504040204"/>
              <a:cs typeface="Tahoma" panose="020B0604030504040204"/>
            </a:endParaRPr>
          </a:p>
          <a:p>
            <a:pPr marL="76200">
              <a:lnSpc>
                <a:spcPct val="100000"/>
              </a:lnSpc>
              <a:spcBef>
                <a:spcPts val="1005"/>
              </a:spcBef>
              <a:tabLst>
                <a:tab pos="418465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000" spc="2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Acido</a:t>
            </a:r>
            <a:r>
              <a:rPr sz="2000" spc="-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8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urico</a:t>
            </a:r>
            <a:endParaRPr sz="2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82052" y="4549139"/>
            <a:ext cx="4109085" cy="89154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2000" spc="9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Efectos</a:t>
            </a:r>
            <a:r>
              <a:rPr sz="20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en</a:t>
            </a:r>
            <a:r>
              <a:rPr sz="20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14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la</a:t>
            </a:r>
            <a:r>
              <a:rPr sz="20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hemodinamia</a:t>
            </a:r>
            <a:r>
              <a:rPr sz="20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renal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000" spc="1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No</a:t>
            </a:r>
            <a:r>
              <a:rPr sz="2000" spc="-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8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afectan</a:t>
            </a:r>
            <a:r>
              <a:rPr sz="2000" spc="-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8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el</a:t>
            </a:r>
            <a:r>
              <a:rPr sz="20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FSR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ni</a:t>
            </a:r>
            <a:r>
              <a:rPr sz="20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14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la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TFG</a:t>
            </a:r>
            <a:endParaRPr sz="2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94752" y="2154935"/>
            <a:ext cx="3863340" cy="201930"/>
          </a:xfrm>
          <a:custGeom>
            <a:avLst/>
            <a:gdLst/>
            <a:ahLst/>
            <a:cxnLst/>
            <a:rect l="l" t="t" r="r" b="b"/>
            <a:pathLst>
              <a:path w="3863340" h="201930">
                <a:moveTo>
                  <a:pt x="3862880" y="0"/>
                </a:moveTo>
                <a:lnTo>
                  <a:pt x="0" y="0"/>
                </a:lnTo>
                <a:lnTo>
                  <a:pt x="0" y="201421"/>
                </a:lnTo>
                <a:lnTo>
                  <a:pt x="3862880" y="201421"/>
                </a:lnTo>
                <a:lnTo>
                  <a:pt x="3862880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94752" y="2588158"/>
            <a:ext cx="6955790" cy="250825"/>
          </a:xfrm>
          <a:custGeom>
            <a:avLst/>
            <a:gdLst/>
            <a:ahLst/>
            <a:cxnLst/>
            <a:rect l="l" t="t" r="r" b="b"/>
            <a:pathLst>
              <a:path w="6955790" h="250825">
                <a:moveTo>
                  <a:pt x="6955675" y="0"/>
                </a:moveTo>
                <a:lnTo>
                  <a:pt x="0" y="0"/>
                </a:lnTo>
                <a:lnTo>
                  <a:pt x="0" y="250545"/>
                </a:lnTo>
                <a:lnTo>
                  <a:pt x="6955675" y="250545"/>
                </a:lnTo>
                <a:lnTo>
                  <a:pt x="6955675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94752" y="3017926"/>
            <a:ext cx="1113155" cy="250825"/>
          </a:xfrm>
          <a:custGeom>
            <a:avLst/>
            <a:gdLst/>
            <a:ahLst/>
            <a:cxnLst/>
            <a:rect l="l" t="t" r="r" b="b"/>
            <a:pathLst>
              <a:path w="1113155" h="250825">
                <a:moveTo>
                  <a:pt x="1112874" y="0"/>
                </a:moveTo>
                <a:lnTo>
                  <a:pt x="0" y="0"/>
                </a:lnTo>
                <a:lnTo>
                  <a:pt x="0" y="250545"/>
                </a:lnTo>
                <a:lnTo>
                  <a:pt x="1112874" y="250545"/>
                </a:lnTo>
                <a:lnTo>
                  <a:pt x="1112874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94752" y="3457955"/>
            <a:ext cx="1770380" cy="201930"/>
          </a:xfrm>
          <a:custGeom>
            <a:avLst/>
            <a:gdLst/>
            <a:ahLst/>
            <a:cxnLst/>
            <a:rect l="l" t="t" r="r" b="b"/>
            <a:pathLst>
              <a:path w="1770380" h="201929">
                <a:moveTo>
                  <a:pt x="1769769" y="0"/>
                </a:moveTo>
                <a:lnTo>
                  <a:pt x="0" y="0"/>
                </a:lnTo>
                <a:lnTo>
                  <a:pt x="0" y="201676"/>
                </a:lnTo>
                <a:lnTo>
                  <a:pt x="1769769" y="201676"/>
                </a:lnTo>
                <a:lnTo>
                  <a:pt x="1769769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194752" y="4753355"/>
            <a:ext cx="4083685" cy="194310"/>
          </a:xfrm>
          <a:custGeom>
            <a:avLst/>
            <a:gdLst/>
            <a:ahLst/>
            <a:cxnLst/>
            <a:rect l="l" t="t" r="r" b="b"/>
            <a:pathLst>
              <a:path w="4083685" h="194310">
                <a:moveTo>
                  <a:pt x="4083098" y="0"/>
                </a:moveTo>
                <a:lnTo>
                  <a:pt x="0" y="0"/>
                </a:lnTo>
                <a:lnTo>
                  <a:pt x="0" y="193802"/>
                </a:lnTo>
                <a:lnTo>
                  <a:pt x="4083098" y="193802"/>
                </a:lnTo>
                <a:lnTo>
                  <a:pt x="4083098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194752" y="5186171"/>
            <a:ext cx="3617595" cy="201930"/>
          </a:xfrm>
          <a:custGeom>
            <a:avLst/>
            <a:gdLst/>
            <a:ahLst/>
            <a:cxnLst/>
            <a:rect l="l" t="t" r="r" b="b"/>
            <a:pathLst>
              <a:path w="3617595" h="201929">
                <a:moveTo>
                  <a:pt x="3617111" y="0"/>
                </a:moveTo>
                <a:lnTo>
                  <a:pt x="0" y="0"/>
                </a:lnTo>
                <a:lnTo>
                  <a:pt x="0" y="201676"/>
                </a:lnTo>
                <a:lnTo>
                  <a:pt x="3617111" y="201676"/>
                </a:lnTo>
                <a:lnTo>
                  <a:pt x="3617111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4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55" dirty="0"/>
              <a:t>Diuréticos</a:t>
            </a:r>
            <a:r>
              <a:rPr sz="3600" spc="-204" dirty="0"/>
              <a:t> </a:t>
            </a:r>
            <a:r>
              <a:rPr sz="3600" spc="-295" dirty="0"/>
              <a:t>tiazídicos</a:t>
            </a:r>
            <a:r>
              <a:rPr sz="3600" spc="-204" dirty="0"/>
              <a:t> </a:t>
            </a:r>
            <a:r>
              <a:rPr sz="3600" spc="-260" dirty="0"/>
              <a:t>y</a:t>
            </a:r>
            <a:r>
              <a:rPr sz="3600" spc="-210" dirty="0"/>
              <a:t> </a:t>
            </a:r>
            <a:r>
              <a:rPr sz="3600" spc="-365" dirty="0"/>
              <a:t>semenjantes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1058231" y="947928"/>
            <a:ext cx="9765665" cy="5910580"/>
            <a:chOff x="1058231" y="947928"/>
            <a:chExt cx="9765665" cy="591058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825751" y="1728215"/>
              <a:ext cx="8226552" cy="484632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58227" y="947940"/>
              <a:ext cx="9765665" cy="5910580"/>
            </a:xfrm>
            <a:custGeom>
              <a:avLst/>
              <a:gdLst/>
              <a:ahLst/>
              <a:cxnLst/>
              <a:rect l="l" t="t" r="r" b="b"/>
              <a:pathLst>
                <a:path w="9765665" h="5910580">
                  <a:moveTo>
                    <a:pt x="7382040" y="0"/>
                  </a:moveTo>
                  <a:lnTo>
                    <a:pt x="0" y="0"/>
                  </a:lnTo>
                  <a:lnTo>
                    <a:pt x="0" y="469531"/>
                  </a:lnTo>
                  <a:lnTo>
                    <a:pt x="7382040" y="469531"/>
                  </a:lnTo>
                  <a:lnTo>
                    <a:pt x="7382040" y="0"/>
                  </a:lnTo>
                  <a:close/>
                </a:path>
                <a:path w="9765665" h="5910580">
                  <a:moveTo>
                    <a:pt x="9765525" y="5630659"/>
                  </a:moveTo>
                  <a:lnTo>
                    <a:pt x="9749447" y="5516359"/>
                  </a:lnTo>
                  <a:lnTo>
                    <a:pt x="9733356" y="5414759"/>
                  </a:lnTo>
                  <a:lnTo>
                    <a:pt x="9689681" y="5173459"/>
                  </a:lnTo>
                  <a:lnTo>
                    <a:pt x="9682797" y="5097259"/>
                  </a:lnTo>
                  <a:lnTo>
                    <a:pt x="9675901" y="5033759"/>
                  </a:lnTo>
                  <a:lnTo>
                    <a:pt x="9669005" y="4932159"/>
                  </a:lnTo>
                  <a:lnTo>
                    <a:pt x="9659810" y="4678159"/>
                  </a:lnTo>
                  <a:lnTo>
                    <a:pt x="9646018" y="4462259"/>
                  </a:lnTo>
                  <a:lnTo>
                    <a:pt x="9625330" y="4195559"/>
                  </a:lnTo>
                  <a:lnTo>
                    <a:pt x="9602356" y="3846347"/>
                  </a:lnTo>
                  <a:lnTo>
                    <a:pt x="9602356" y="5706859"/>
                  </a:lnTo>
                  <a:lnTo>
                    <a:pt x="9595460" y="5719559"/>
                  </a:lnTo>
                  <a:lnTo>
                    <a:pt x="9583966" y="5732259"/>
                  </a:lnTo>
                  <a:lnTo>
                    <a:pt x="9581667" y="5732259"/>
                  </a:lnTo>
                  <a:lnTo>
                    <a:pt x="9577070" y="5744959"/>
                  </a:lnTo>
                  <a:lnTo>
                    <a:pt x="9524213" y="5744959"/>
                  </a:lnTo>
                  <a:lnTo>
                    <a:pt x="9446069" y="5770359"/>
                  </a:lnTo>
                  <a:lnTo>
                    <a:pt x="9393199" y="5770359"/>
                  </a:lnTo>
                  <a:lnTo>
                    <a:pt x="9319654" y="5783059"/>
                  </a:lnTo>
                  <a:lnTo>
                    <a:pt x="9223134" y="5783059"/>
                  </a:lnTo>
                  <a:lnTo>
                    <a:pt x="8915159" y="5795759"/>
                  </a:lnTo>
                  <a:lnTo>
                    <a:pt x="8800236" y="5783059"/>
                  </a:lnTo>
                  <a:lnTo>
                    <a:pt x="8643963" y="5770359"/>
                  </a:lnTo>
                  <a:lnTo>
                    <a:pt x="8538235" y="5770359"/>
                  </a:lnTo>
                  <a:lnTo>
                    <a:pt x="8207286" y="5744959"/>
                  </a:lnTo>
                  <a:lnTo>
                    <a:pt x="8057896" y="5744959"/>
                  </a:lnTo>
                  <a:lnTo>
                    <a:pt x="7915402" y="5732259"/>
                  </a:lnTo>
                  <a:lnTo>
                    <a:pt x="7761414" y="5732259"/>
                  </a:lnTo>
                  <a:lnTo>
                    <a:pt x="7549959" y="5719559"/>
                  </a:lnTo>
                  <a:lnTo>
                    <a:pt x="6145708" y="5719559"/>
                  </a:lnTo>
                  <a:lnTo>
                    <a:pt x="5736602" y="5694159"/>
                  </a:lnTo>
                  <a:lnTo>
                    <a:pt x="5235575" y="5656059"/>
                  </a:lnTo>
                  <a:lnTo>
                    <a:pt x="5104574" y="5643359"/>
                  </a:lnTo>
                  <a:lnTo>
                    <a:pt x="4040454" y="5643359"/>
                  </a:lnTo>
                  <a:lnTo>
                    <a:pt x="3847401" y="5630659"/>
                  </a:lnTo>
                  <a:lnTo>
                    <a:pt x="3606076" y="5630659"/>
                  </a:lnTo>
                  <a:lnTo>
                    <a:pt x="3493465" y="5617959"/>
                  </a:lnTo>
                  <a:lnTo>
                    <a:pt x="730897" y="5617959"/>
                  </a:lnTo>
                  <a:lnTo>
                    <a:pt x="726300" y="5605259"/>
                  </a:lnTo>
                  <a:lnTo>
                    <a:pt x="712508" y="5605259"/>
                  </a:lnTo>
                  <a:lnTo>
                    <a:pt x="707910" y="5592559"/>
                  </a:lnTo>
                  <a:lnTo>
                    <a:pt x="705624" y="5592559"/>
                  </a:lnTo>
                  <a:lnTo>
                    <a:pt x="687235" y="5516359"/>
                  </a:lnTo>
                  <a:lnTo>
                    <a:pt x="682637" y="5478259"/>
                  </a:lnTo>
                  <a:lnTo>
                    <a:pt x="673442" y="5440159"/>
                  </a:lnTo>
                  <a:lnTo>
                    <a:pt x="668845" y="5389359"/>
                  </a:lnTo>
                  <a:lnTo>
                    <a:pt x="664248" y="5376659"/>
                  </a:lnTo>
                  <a:lnTo>
                    <a:pt x="652754" y="5351259"/>
                  </a:lnTo>
                  <a:lnTo>
                    <a:pt x="650455" y="5325859"/>
                  </a:lnTo>
                  <a:lnTo>
                    <a:pt x="650455" y="5236959"/>
                  </a:lnTo>
                  <a:lnTo>
                    <a:pt x="648157" y="5211559"/>
                  </a:lnTo>
                  <a:lnTo>
                    <a:pt x="641261" y="5148059"/>
                  </a:lnTo>
                  <a:lnTo>
                    <a:pt x="636663" y="5071859"/>
                  </a:lnTo>
                  <a:lnTo>
                    <a:pt x="627481" y="4982959"/>
                  </a:lnTo>
                  <a:lnTo>
                    <a:pt x="627481" y="4576559"/>
                  </a:lnTo>
                  <a:lnTo>
                    <a:pt x="618286" y="4462259"/>
                  </a:lnTo>
                  <a:lnTo>
                    <a:pt x="615988" y="4398759"/>
                  </a:lnTo>
                  <a:lnTo>
                    <a:pt x="613689" y="4322559"/>
                  </a:lnTo>
                  <a:lnTo>
                    <a:pt x="595299" y="4182859"/>
                  </a:lnTo>
                  <a:lnTo>
                    <a:pt x="595299" y="3890759"/>
                  </a:lnTo>
                  <a:lnTo>
                    <a:pt x="602195" y="3801859"/>
                  </a:lnTo>
                  <a:lnTo>
                    <a:pt x="606793" y="3725659"/>
                  </a:lnTo>
                  <a:lnTo>
                    <a:pt x="625182" y="3535159"/>
                  </a:lnTo>
                  <a:lnTo>
                    <a:pt x="650455" y="3395459"/>
                  </a:lnTo>
                  <a:lnTo>
                    <a:pt x="682637" y="3230359"/>
                  </a:lnTo>
                  <a:lnTo>
                    <a:pt x="698728" y="3103359"/>
                  </a:lnTo>
                  <a:lnTo>
                    <a:pt x="703326" y="3039859"/>
                  </a:lnTo>
                  <a:lnTo>
                    <a:pt x="705624" y="2633459"/>
                  </a:lnTo>
                  <a:lnTo>
                    <a:pt x="705624" y="2595359"/>
                  </a:lnTo>
                  <a:lnTo>
                    <a:pt x="703326" y="2557259"/>
                  </a:lnTo>
                  <a:lnTo>
                    <a:pt x="694131" y="2379459"/>
                  </a:lnTo>
                  <a:lnTo>
                    <a:pt x="694131" y="2188959"/>
                  </a:lnTo>
                  <a:lnTo>
                    <a:pt x="687235" y="2138159"/>
                  </a:lnTo>
                  <a:lnTo>
                    <a:pt x="680339" y="2036559"/>
                  </a:lnTo>
                  <a:lnTo>
                    <a:pt x="668845" y="1947659"/>
                  </a:lnTo>
                  <a:lnTo>
                    <a:pt x="655053" y="1884159"/>
                  </a:lnTo>
                  <a:lnTo>
                    <a:pt x="632079" y="1795259"/>
                  </a:lnTo>
                  <a:lnTo>
                    <a:pt x="625182" y="1757159"/>
                  </a:lnTo>
                  <a:lnTo>
                    <a:pt x="620585" y="1719059"/>
                  </a:lnTo>
                  <a:lnTo>
                    <a:pt x="604494" y="1630159"/>
                  </a:lnTo>
                  <a:lnTo>
                    <a:pt x="565416" y="1465059"/>
                  </a:lnTo>
                  <a:lnTo>
                    <a:pt x="512559" y="1274559"/>
                  </a:lnTo>
                  <a:lnTo>
                    <a:pt x="507961" y="1223759"/>
                  </a:lnTo>
                  <a:lnTo>
                    <a:pt x="505663" y="1134859"/>
                  </a:lnTo>
                  <a:lnTo>
                    <a:pt x="507961" y="1096759"/>
                  </a:lnTo>
                  <a:lnTo>
                    <a:pt x="517156" y="969759"/>
                  </a:lnTo>
                  <a:lnTo>
                    <a:pt x="517156" y="753859"/>
                  </a:lnTo>
                  <a:lnTo>
                    <a:pt x="636663" y="753859"/>
                  </a:lnTo>
                  <a:lnTo>
                    <a:pt x="726300" y="728459"/>
                  </a:lnTo>
                  <a:lnTo>
                    <a:pt x="792949" y="715759"/>
                  </a:lnTo>
                  <a:lnTo>
                    <a:pt x="914768" y="703059"/>
                  </a:lnTo>
                  <a:lnTo>
                    <a:pt x="1008989" y="703059"/>
                  </a:lnTo>
                  <a:lnTo>
                    <a:pt x="1084834" y="690359"/>
                  </a:lnTo>
                  <a:lnTo>
                    <a:pt x="1576679" y="690359"/>
                  </a:lnTo>
                  <a:lnTo>
                    <a:pt x="1689290" y="703059"/>
                  </a:lnTo>
                  <a:lnTo>
                    <a:pt x="1850174" y="715759"/>
                  </a:lnTo>
                  <a:lnTo>
                    <a:pt x="2583332" y="715759"/>
                  </a:lnTo>
                  <a:lnTo>
                    <a:pt x="2677566" y="728459"/>
                  </a:lnTo>
                  <a:lnTo>
                    <a:pt x="2794774" y="741159"/>
                  </a:lnTo>
                  <a:lnTo>
                    <a:pt x="3153308" y="753859"/>
                  </a:lnTo>
                  <a:lnTo>
                    <a:pt x="4208234" y="753859"/>
                  </a:lnTo>
                  <a:lnTo>
                    <a:pt x="4780508" y="741159"/>
                  </a:lnTo>
                  <a:lnTo>
                    <a:pt x="5382666" y="741159"/>
                  </a:lnTo>
                  <a:lnTo>
                    <a:pt x="5621693" y="728459"/>
                  </a:lnTo>
                  <a:lnTo>
                    <a:pt x="5736602" y="728459"/>
                  </a:lnTo>
                  <a:lnTo>
                    <a:pt x="5828538" y="715759"/>
                  </a:lnTo>
                  <a:lnTo>
                    <a:pt x="6000915" y="703059"/>
                  </a:lnTo>
                  <a:lnTo>
                    <a:pt x="6111227" y="690359"/>
                  </a:lnTo>
                  <a:lnTo>
                    <a:pt x="7044334" y="690359"/>
                  </a:lnTo>
                  <a:lnTo>
                    <a:pt x="7586739" y="677659"/>
                  </a:lnTo>
                  <a:lnTo>
                    <a:pt x="8338286" y="639559"/>
                  </a:lnTo>
                  <a:lnTo>
                    <a:pt x="8802535" y="639559"/>
                  </a:lnTo>
                  <a:lnTo>
                    <a:pt x="9000198" y="652259"/>
                  </a:lnTo>
                  <a:lnTo>
                    <a:pt x="9007094" y="652259"/>
                  </a:lnTo>
                  <a:lnTo>
                    <a:pt x="9013990" y="664959"/>
                  </a:lnTo>
                  <a:lnTo>
                    <a:pt x="9018587" y="677659"/>
                  </a:lnTo>
                  <a:lnTo>
                    <a:pt x="9020873" y="728459"/>
                  </a:lnTo>
                  <a:lnTo>
                    <a:pt x="9020873" y="753859"/>
                  </a:lnTo>
                  <a:lnTo>
                    <a:pt x="9030068" y="779259"/>
                  </a:lnTo>
                  <a:lnTo>
                    <a:pt x="9030068" y="804659"/>
                  </a:lnTo>
                  <a:lnTo>
                    <a:pt x="9034666" y="830059"/>
                  </a:lnTo>
                  <a:lnTo>
                    <a:pt x="9041562" y="880859"/>
                  </a:lnTo>
                  <a:lnTo>
                    <a:pt x="9041562" y="1058659"/>
                  </a:lnTo>
                  <a:lnTo>
                    <a:pt x="9046159" y="1109459"/>
                  </a:lnTo>
                  <a:lnTo>
                    <a:pt x="9055354" y="1172959"/>
                  </a:lnTo>
                  <a:lnTo>
                    <a:pt x="9071445" y="1223759"/>
                  </a:lnTo>
                  <a:lnTo>
                    <a:pt x="9089834" y="1325359"/>
                  </a:lnTo>
                  <a:lnTo>
                    <a:pt x="9103614" y="1426959"/>
                  </a:lnTo>
                  <a:lnTo>
                    <a:pt x="9124302" y="1515859"/>
                  </a:lnTo>
                  <a:lnTo>
                    <a:pt x="9135796" y="1592059"/>
                  </a:lnTo>
                  <a:lnTo>
                    <a:pt x="9144991" y="1731759"/>
                  </a:lnTo>
                  <a:lnTo>
                    <a:pt x="9181757" y="2023859"/>
                  </a:lnTo>
                  <a:lnTo>
                    <a:pt x="9207043" y="2176259"/>
                  </a:lnTo>
                  <a:lnTo>
                    <a:pt x="9223134" y="2303259"/>
                  </a:lnTo>
                  <a:lnTo>
                    <a:pt x="9259900" y="2633459"/>
                  </a:lnTo>
                  <a:lnTo>
                    <a:pt x="9312758" y="3001759"/>
                  </a:lnTo>
                  <a:lnTo>
                    <a:pt x="9367926" y="3319259"/>
                  </a:lnTo>
                  <a:lnTo>
                    <a:pt x="9400095" y="3535159"/>
                  </a:lnTo>
                  <a:lnTo>
                    <a:pt x="9432277" y="3789159"/>
                  </a:lnTo>
                  <a:lnTo>
                    <a:pt x="9443771" y="3928859"/>
                  </a:lnTo>
                  <a:lnTo>
                    <a:pt x="9473641" y="4347959"/>
                  </a:lnTo>
                  <a:lnTo>
                    <a:pt x="9494329" y="4614659"/>
                  </a:lnTo>
                  <a:lnTo>
                    <a:pt x="9508122" y="4830559"/>
                  </a:lnTo>
                  <a:lnTo>
                    <a:pt x="9517316" y="5084559"/>
                  </a:lnTo>
                  <a:lnTo>
                    <a:pt x="9521914" y="5186159"/>
                  </a:lnTo>
                  <a:lnTo>
                    <a:pt x="9528810" y="5249659"/>
                  </a:lnTo>
                  <a:lnTo>
                    <a:pt x="9537992" y="5325859"/>
                  </a:lnTo>
                  <a:lnTo>
                    <a:pt x="9581667" y="5567159"/>
                  </a:lnTo>
                  <a:lnTo>
                    <a:pt x="9602356" y="5706859"/>
                  </a:lnTo>
                  <a:lnTo>
                    <a:pt x="9602356" y="3846347"/>
                  </a:lnTo>
                  <a:lnTo>
                    <a:pt x="9597758" y="3776459"/>
                  </a:lnTo>
                  <a:lnTo>
                    <a:pt x="9583966" y="3636759"/>
                  </a:lnTo>
                  <a:lnTo>
                    <a:pt x="9551784" y="3382759"/>
                  </a:lnTo>
                  <a:lnTo>
                    <a:pt x="9519615" y="3166859"/>
                  </a:lnTo>
                  <a:lnTo>
                    <a:pt x="9464446" y="2849359"/>
                  </a:lnTo>
                  <a:lnTo>
                    <a:pt x="9413888" y="2468359"/>
                  </a:lnTo>
                  <a:lnTo>
                    <a:pt x="9374822" y="2150859"/>
                  </a:lnTo>
                  <a:lnTo>
                    <a:pt x="9358732" y="2023859"/>
                  </a:lnTo>
                  <a:lnTo>
                    <a:pt x="9333446" y="1871459"/>
                  </a:lnTo>
                  <a:lnTo>
                    <a:pt x="9298978" y="1579359"/>
                  </a:lnTo>
                  <a:lnTo>
                    <a:pt x="9289783" y="1439659"/>
                  </a:lnTo>
                  <a:lnTo>
                    <a:pt x="9275991" y="1363459"/>
                  </a:lnTo>
                  <a:lnTo>
                    <a:pt x="9255303" y="1274559"/>
                  </a:lnTo>
                  <a:lnTo>
                    <a:pt x="9243809" y="1172959"/>
                  </a:lnTo>
                  <a:lnTo>
                    <a:pt x="9223134" y="1071359"/>
                  </a:lnTo>
                  <a:lnTo>
                    <a:pt x="9209341" y="1020559"/>
                  </a:lnTo>
                  <a:lnTo>
                    <a:pt x="9197848" y="957059"/>
                  </a:lnTo>
                  <a:lnTo>
                    <a:pt x="9195549" y="906259"/>
                  </a:lnTo>
                  <a:lnTo>
                    <a:pt x="9193251" y="880859"/>
                  </a:lnTo>
                  <a:lnTo>
                    <a:pt x="9193251" y="728459"/>
                  </a:lnTo>
                  <a:lnTo>
                    <a:pt x="9186354" y="677659"/>
                  </a:lnTo>
                  <a:lnTo>
                    <a:pt x="9182913" y="639559"/>
                  </a:lnTo>
                  <a:lnTo>
                    <a:pt x="9181757" y="626859"/>
                  </a:lnTo>
                  <a:lnTo>
                    <a:pt x="9172562" y="601459"/>
                  </a:lnTo>
                  <a:lnTo>
                    <a:pt x="9172562" y="537959"/>
                  </a:lnTo>
                  <a:lnTo>
                    <a:pt x="9165666" y="512559"/>
                  </a:lnTo>
                  <a:lnTo>
                    <a:pt x="9158783" y="499859"/>
                  </a:lnTo>
                  <a:lnTo>
                    <a:pt x="9138094" y="499859"/>
                  </a:lnTo>
                  <a:lnTo>
                    <a:pt x="8954224" y="487159"/>
                  </a:lnTo>
                  <a:lnTo>
                    <a:pt x="8184299" y="487159"/>
                  </a:lnTo>
                  <a:lnTo>
                    <a:pt x="7435050" y="525259"/>
                  </a:lnTo>
                  <a:lnTo>
                    <a:pt x="6892645" y="537959"/>
                  </a:lnTo>
                  <a:lnTo>
                    <a:pt x="5959538" y="537959"/>
                  </a:lnTo>
                  <a:lnTo>
                    <a:pt x="5849226" y="550659"/>
                  </a:lnTo>
                  <a:lnTo>
                    <a:pt x="5676849" y="563359"/>
                  </a:lnTo>
                  <a:lnTo>
                    <a:pt x="5582615" y="576059"/>
                  </a:lnTo>
                  <a:lnTo>
                    <a:pt x="5470004" y="576059"/>
                  </a:lnTo>
                  <a:lnTo>
                    <a:pt x="5230977" y="588759"/>
                  </a:lnTo>
                  <a:lnTo>
                    <a:pt x="4628820" y="588759"/>
                  </a:lnTo>
                  <a:lnTo>
                    <a:pt x="4054246" y="601459"/>
                  </a:lnTo>
                  <a:lnTo>
                    <a:pt x="3304997" y="601459"/>
                  </a:lnTo>
                  <a:lnTo>
                    <a:pt x="2946463" y="588759"/>
                  </a:lnTo>
                  <a:lnTo>
                    <a:pt x="2831554" y="576059"/>
                  </a:lnTo>
                  <a:lnTo>
                    <a:pt x="2737320" y="563359"/>
                  </a:lnTo>
                  <a:lnTo>
                    <a:pt x="2001862" y="563359"/>
                  </a:lnTo>
                  <a:lnTo>
                    <a:pt x="1840979" y="537959"/>
                  </a:lnTo>
                  <a:lnTo>
                    <a:pt x="933145" y="537959"/>
                  </a:lnTo>
                  <a:lnTo>
                    <a:pt x="857300" y="550659"/>
                  </a:lnTo>
                  <a:lnTo>
                    <a:pt x="763079" y="550659"/>
                  </a:lnTo>
                  <a:lnTo>
                    <a:pt x="638962" y="563359"/>
                  </a:lnTo>
                  <a:lnTo>
                    <a:pt x="574611" y="576059"/>
                  </a:lnTo>
                  <a:lnTo>
                    <a:pt x="484987" y="601459"/>
                  </a:lnTo>
                  <a:lnTo>
                    <a:pt x="459701" y="601459"/>
                  </a:lnTo>
                  <a:lnTo>
                    <a:pt x="413727" y="614159"/>
                  </a:lnTo>
                  <a:lnTo>
                    <a:pt x="397649" y="614159"/>
                  </a:lnTo>
                  <a:lnTo>
                    <a:pt x="397649" y="753859"/>
                  </a:lnTo>
                  <a:lnTo>
                    <a:pt x="365467" y="753859"/>
                  </a:lnTo>
                  <a:lnTo>
                    <a:pt x="363169" y="830059"/>
                  </a:lnTo>
                  <a:lnTo>
                    <a:pt x="353974" y="944359"/>
                  </a:lnTo>
                  <a:lnTo>
                    <a:pt x="353974" y="1376159"/>
                  </a:lnTo>
                  <a:lnTo>
                    <a:pt x="360870" y="1426959"/>
                  </a:lnTo>
                  <a:lnTo>
                    <a:pt x="413727" y="1630159"/>
                  </a:lnTo>
                  <a:lnTo>
                    <a:pt x="452805" y="1782559"/>
                  </a:lnTo>
                  <a:lnTo>
                    <a:pt x="466598" y="1871459"/>
                  </a:lnTo>
                  <a:lnTo>
                    <a:pt x="480390" y="1947659"/>
                  </a:lnTo>
                  <a:lnTo>
                    <a:pt x="503364" y="2036559"/>
                  </a:lnTo>
                  <a:lnTo>
                    <a:pt x="514858" y="2100059"/>
                  </a:lnTo>
                  <a:lnTo>
                    <a:pt x="526351" y="2188959"/>
                  </a:lnTo>
                  <a:lnTo>
                    <a:pt x="535546" y="2290559"/>
                  </a:lnTo>
                  <a:lnTo>
                    <a:pt x="542442" y="2341359"/>
                  </a:lnTo>
                  <a:lnTo>
                    <a:pt x="542442" y="2531859"/>
                  </a:lnTo>
                  <a:lnTo>
                    <a:pt x="551637" y="2709659"/>
                  </a:lnTo>
                  <a:lnTo>
                    <a:pt x="551637" y="2874759"/>
                  </a:lnTo>
                  <a:lnTo>
                    <a:pt x="547039" y="2950959"/>
                  </a:lnTo>
                  <a:lnTo>
                    <a:pt x="530948" y="3077959"/>
                  </a:lnTo>
                  <a:lnTo>
                    <a:pt x="498767" y="3243059"/>
                  </a:lnTo>
                  <a:lnTo>
                    <a:pt x="471195" y="3382759"/>
                  </a:lnTo>
                  <a:lnTo>
                    <a:pt x="455104" y="3573259"/>
                  </a:lnTo>
                  <a:lnTo>
                    <a:pt x="450507" y="3649459"/>
                  </a:lnTo>
                  <a:lnTo>
                    <a:pt x="443611" y="3725659"/>
                  </a:lnTo>
                  <a:lnTo>
                    <a:pt x="441312" y="3916159"/>
                  </a:lnTo>
                  <a:lnTo>
                    <a:pt x="441312" y="4297159"/>
                  </a:lnTo>
                  <a:lnTo>
                    <a:pt x="443611" y="4335259"/>
                  </a:lnTo>
                  <a:lnTo>
                    <a:pt x="462000" y="4474959"/>
                  </a:lnTo>
                  <a:lnTo>
                    <a:pt x="464299" y="4551159"/>
                  </a:lnTo>
                  <a:lnTo>
                    <a:pt x="464299" y="4614659"/>
                  </a:lnTo>
                  <a:lnTo>
                    <a:pt x="475792" y="4728959"/>
                  </a:lnTo>
                  <a:lnTo>
                    <a:pt x="475792" y="5135359"/>
                  </a:lnTo>
                  <a:lnTo>
                    <a:pt x="484987" y="5224259"/>
                  </a:lnTo>
                  <a:lnTo>
                    <a:pt x="489572" y="5300459"/>
                  </a:lnTo>
                  <a:lnTo>
                    <a:pt x="496468" y="5363959"/>
                  </a:lnTo>
                  <a:lnTo>
                    <a:pt x="496468" y="5478259"/>
                  </a:lnTo>
                  <a:lnTo>
                    <a:pt x="501065" y="5503659"/>
                  </a:lnTo>
                  <a:lnTo>
                    <a:pt x="510260" y="5529059"/>
                  </a:lnTo>
                  <a:lnTo>
                    <a:pt x="517156" y="5541759"/>
                  </a:lnTo>
                  <a:lnTo>
                    <a:pt x="521754" y="5592559"/>
                  </a:lnTo>
                  <a:lnTo>
                    <a:pt x="528650" y="5630659"/>
                  </a:lnTo>
                  <a:lnTo>
                    <a:pt x="533247" y="5668759"/>
                  </a:lnTo>
                  <a:lnTo>
                    <a:pt x="551637" y="5744959"/>
                  </a:lnTo>
                  <a:lnTo>
                    <a:pt x="553935" y="5744959"/>
                  </a:lnTo>
                  <a:lnTo>
                    <a:pt x="560819" y="5757659"/>
                  </a:lnTo>
                  <a:lnTo>
                    <a:pt x="574611" y="5757659"/>
                  </a:lnTo>
                  <a:lnTo>
                    <a:pt x="576910" y="5770359"/>
                  </a:lnTo>
                  <a:lnTo>
                    <a:pt x="3452088" y="5770359"/>
                  </a:lnTo>
                  <a:lnTo>
                    <a:pt x="3695712" y="5783059"/>
                  </a:lnTo>
                  <a:lnTo>
                    <a:pt x="3886466" y="5795759"/>
                  </a:lnTo>
                  <a:lnTo>
                    <a:pt x="4950587" y="5795759"/>
                  </a:lnTo>
                  <a:lnTo>
                    <a:pt x="5083886" y="5808459"/>
                  </a:lnTo>
                  <a:lnTo>
                    <a:pt x="5582615" y="5846559"/>
                  </a:lnTo>
                  <a:lnTo>
                    <a:pt x="5994019" y="5871959"/>
                  </a:lnTo>
                  <a:lnTo>
                    <a:pt x="7398283" y="5871959"/>
                  </a:lnTo>
                  <a:lnTo>
                    <a:pt x="7609726" y="5884672"/>
                  </a:lnTo>
                  <a:lnTo>
                    <a:pt x="7763713" y="5884672"/>
                  </a:lnTo>
                  <a:lnTo>
                    <a:pt x="7906207" y="5897372"/>
                  </a:lnTo>
                  <a:lnTo>
                    <a:pt x="8055597" y="5897372"/>
                  </a:lnTo>
                  <a:lnTo>
                    <a:pt x="8245183" y="5910059"/>
                  </a:lnTo>
                  <a:lnTo>
                    <a:pt x="9632455" y="5910059"/>
                  </a:lnTo>
                  <a:lnTo>
                    <a:pt x="9675901" y="5897372"/>
                  </a:lnTo>
                  <a:lnTo>
                    <a:pt x="9735655" y="5897372"/>
                  </a:lnTo>
                  <a:lnTo>
                    <a:pt x="9737954" y="5884672"/>
                  </a:lnTo>
                  <a:lnTo>
                    <a:pt x="9747148" y="5871959"/>
                  </a:lnTo>
                  <a:lnTo>
                    <a:pt x="9760928" y="5833859"/>
                  </a:lnTo>
                  <a:lnTo>
                    <a:pt x="9765525" y="5795759"/>
                  </a:lnTo>
                  <a:lnTo>
                    <a:pt x="9765525" y="5630659"/>
                  </a:lnTo>
                  <a:close/>
                </a:path>
              </a:pathLst>
            </a:custGeom>
            <a:solidFill>
              <a:srgbClr val="D93025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4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55" dirty="0"/>
              <a:t>Diuréticos</a:t>
            </a:r>
            <a:r>
              <a:rPr sz="3600" spc="-204" dirty="0"/>
              <a:t> </a:t>
            </a:r>
            <a:r>
              <a:rPr sz="3600" spc="-295" dirty="0"/>
              <a:t>tiazídicos</a:t>
            </a:r>
            <a:r>
              <a:rPr sz="3600" spc="-204" dirty="0"/>
              <a:t> </a:t>
            </a:r>
            <a:r>
              <a:rPr sz="3600" spc="-260" dirty="0"/>
              <a:t>y</a:t>
            </a:r>
            <a:r>
              <a:rPr sz="3600" spc="-210" dirty="0"/>
              <a:t> </a:t>
            </a:r>
            <a:r>
              <a:rPr sz="3600" spc="-365" dirty="0"/>
              <a:t>semenjantes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182052" y="1958340"/>
            <a:ext cx="7773034" cy="304927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2000" spc="1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Reacciones</a:t>
            </a:r>
            <a:r>
              <a:rPr sz="2000" spc="-3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9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adversas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Trastornos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hidroelectrolíticos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000" spc="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Disfuncion</a:t>
            </a:r>
            <a:r>
              <a:rPr sz="2000" spc="-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erectil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↓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9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Tolerancia</a:t>
            </a:r>
            <a:r>
              <a:rPr sz="20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31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a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14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la</a:t>
            </a:r>
            <a:r>
              <a:rPr sz="20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3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glucosa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000" spc="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Dislipidemias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000" spc="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Hipersensibilidad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Raras:</a:t>
            </a:r>
            <a:r>
              <a:rPr sz="2000" spc="-3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14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alteraciones</a:t>
            </a:r>
            <a:r>
              <a:rPr sz="2000" spc="-3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4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del</a:t>
            </a:r>
            <a:r>
              <a:rPr sz="2000" spc="-3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snc,</a:t>
            </a:r>
            <a:r>
              <a:rPr sz="2000" spc="-3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gastrointestinal</a:t>
            </a:r>
            <a:r>
              <a:rPr sz="2000" spc="-3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y</a:t>
            </a:r>
            <a:r>
              <a:rPr sz="2000" spc="-3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3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hematologicas</a:t>
            </a:r>
            <a:endParaRPr sz="2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37551" y="947928"/>
            <a:ext cx="7703184" cy="469900"/>
          </a:xfrm>
          <a:custGeom>
            <a:avLst/>
            <a:gdLst/>
            <a:ahLst/>
            <a:cxnLst/>
            <a:rect l="l" t="t" r="r" b="b"/>
            <a:pathLst>
              <a:path w="7703184" h="469900">
                <a:moveTo>
                  <a:pt x="7702722" y="0"/>
                </a:moveTo>
                <a:lnTo>
                  <a:pt x="0" y="0"/>
                </a:lnTo>
                <a:lnTo>
                  <a:pt x="0" y="469544"/>
                </a:lnTo>
                <a:lnTo>
                  <a:pt x="7702722" y="469544"/>
                </a:lnTo>
                <a:lnTo>
                  <a:pt x="7702722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94752" y="2162555"/>
            <a:ext cx="2626360" cy="194310"/>
          </a:xfrm>
          <a:custGeom>
            <a:avLst/>
            <a:gdLst/>
            <a:ahLst/>
            <a:cxnLst/>
            <a:rect l="l" t="t" r="r" b="b"/>
            <a:pathLst>
              <a:path w="2626360" h="194310">
                <a:moveTo>
                  <a:pt x="2625876" y="0"/>
                </a:moveTo>
                <a:lnTo>
                  <a:pt x="0" y="0"/>
                </a:lnTo>
                <a:lnTo>
                  <a:pt x="0" y="193802"/>
                </a:lnTo>
                <a:lnTo>
                  <a:pt x="2625876" y="193802"/>
                </a:lnTo>
                <a:lnTo>
                  <a:pt x="2625876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82052" y="2086356"/>
            <a:ext cx="17024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9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Interacciones</a:t>
            </a:r>
            <a:endParaRPr sz="2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82052" y="2554731"/>
            <a:ext cx="20447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endParaRPr sz="16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37652" y="2544064"/>
            <a:ext cx="8128634" cy="279400"/>
          </a:xfrm>
          <a:prstGeom prst="rect">
            <a:avLst/>
          </a:prstGeom>
          <a:solidFill>
            <a:srgbClr val="D93025">
              <a:alpha val="39999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85"/>
              </a:lnSpc>
            </a:pPr>
            <a:r>
              <a:rPr sz="2000" spc="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Disminuyen</a:t>
            </a:r>
            <a:r>
              <a:rPr sz="2000" spc="-4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3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efectos</a:t>
            </a:r>
            <a:r>
              <a:rPr sz="2000" spc="-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14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de:</a:t>
            </a:r>
            <a:r>
              <a:rPr sz="2000" spc="-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2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anticoagulantes,</a:t>
            </a:r>
            <a:r>
              <a:rPr sz="2000" spc="-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los</a:t>
            </a:r>
            <a:r>
              <a:rPr sz="20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4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agentes</a:t>
            </a:r>
            <a:r>
              <a:rPr sz="2000" spc="-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3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uricosu</a:t>
            </a:r>
            <a:r>
              <a:rPr sz="2000" spc="35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́</a:t>
            </a:r>
            <a:r>
              <a:rPr sz="2000" spc="3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ricos,</a:t>
            </a:r>
            <a:endParaRPr sz="2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37652" y="2900171"/>
            <a:ext cx="2506345" cy="194310"/>
          </a:xfrm>
          <a:prstGeom prst="rect">
            <a:avLst/>
          </a:prstGeom>
          <a:solidFill>
            <a:srgbClr val="D93025">
              <a:alpha val="39999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25"/>
              </a:lnSpc>
            </a:pPr>
            <a:r>
              <a:rPr sz="2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sulfonilureas</a:t>
            </a:r>
            <a:r>
              <a:rPr sz="2000" spc="14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24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</a:t>
            </a:r>
            <a:r>
              <a:rPr sz="2000" spc="1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insulin</a:t>
            </a:r>
            <a:endParaRPr sz="2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19356" y="2823972"/>
            <a:ext cx="26924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0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a.</a:t>
            </a:r>
            <a:endParaRPr sz="2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82052" y="3241548"/>
            <a:ext cx="5562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000" spc="2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A</a:t>
            </a:r>
            <a:endParaRPr sz="2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24977" y="3281679"/>
            <a:ext cx="7479665" cy="279400"/>
          </a:xfrm>
          <a:prstGeom prst="rect">
            <a:avLst/>
          </a:prstGeom>
          <a:solidFill>
            <a:srgbClr val="D93025">
              <a:alpha val="39999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85"/>
              </a:lnSpc>
            </a:pPr>
            <a:r>
              <a:rPr sz="2000" spc="14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umentan</a:t>
            </a:r>
            <a:r>
              <a:rPr sz="2000" spc="-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3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efectos</a:t>
            </a:r>
            <a:r>
              <a:rPr sz="20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14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de:</a:t>
            </a:r>
            <a:r>
              <a:rPr sz="20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aneste</a:t>
            </a:r>
            <a:r>
              <a:rPr sz="2000" spc="75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́</a:t>
            </a:r>
            <a:r>
              <a:rPr sz="2000" spc="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sicos,</a:t>
            </a:r>
            <a:r>
              <a:rPr sz="20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9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diazo</a:t>
            </a:r>
            <a:r>
              <a:rPr sz="2000" spc="9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́</a:t>
            </a:r>
            <a:r>
              <a:rPr sz="2000" spc="9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xido,</a:t>
            </a:r>
            <a:r>
              <a:rPr sz="20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digita</a:t>
            </a:r>
            <a:r>
              <a:rPr sz="2000" spc="7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́</a:t>
            </a:r>
            <a:r>
              <a:rPr sz="2000" spc="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licos,</a:t>
            </a:r>
            <a:r>
              <a:rPr sz="20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litio,</a:t>
            </a:r>
            <a:endParaRPr sz="2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37652" y="3586479"/>
            <a:ext cx="2180590" cy="229870"/>
          </a:xfrm>
          <a:prstGeom prst="rect">
            <a:avLst/>
          </a:prstGeom>
          <a:solidFill>
            <a:srgbClr val="D93025">
              <a:alpha val="39999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10"/>
              </a:lnSpc>
            </a:pPr>
            <a:r>
              <a:rPr sz="2000" spc="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diure</a:t>
            </a:r>
            <a:r>
              <a:rPr sz="2000" spc="7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́</a:t>
            </a:r>
            <a:r>
              <a:rPr sz="2000" spc="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ticos</a:t>
            </a:r>
            <a:r>
              <a:rPr sz="20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2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de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4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asa</a:t>
            </a:r>
            <a:endParaRPr sz="2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82052" y="4474971"/>
            <a:ext cx="20447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endParaRPr sz="16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37652" y="4500371"/>
            <a:ext cx="8157209" cy="240029"/>
          </a:xfrm>
          <a:prstGeom prst="rect">
            <a:avLst/>
          </a:prstGeom>
          <a:solidFill>
            <a:srgbClr val="D93025">
              <a:alpha val="39999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85"/>
              </a:lnSpc>
            </a:pPr>
            <a:r>
              <a:rPr sz="2000" spc="-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AINES</a:t>
            </a:r>
            <a:r>
              <a:rPr sz="2000" spc="-3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y</a:t>
            </a:r>
            <a:r>
              <a:rPr sz="2000" spc="-3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9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secuestradores</a:t>
            </a:r>
            <a:r>
              <a:rPr sz="2000" spc="-4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2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de</a:t>
            </a:r>
            <a:r>
              <a:rPr sz="2000" spc="-3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acidos</a:t>
            </a:r>
            <a:r>
              <a:rPr sz="2000" spc="-4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biliares</a:t>
            </a:r>
            <a:r>
              <a:rPr sz="2000" spc="-3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8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disminuyen</a:t>
            </a:r>
            <a:r>
              <a:rPr sz="2000" spc="-3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8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el</a:t>
            </a:r>
            <a:r>
              <a:rPr sz="2000" spc="-3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efecto</a:t>
            </a:r>
            <a:r>
              <a:rPr sz="2000" spc="-3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2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de</a:t>
            </a:r>
            <a:endParaRPr sz="2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37652" y="4797552"/>
            <a:ext cx="4124960" cy="247650"/>
          </a:xfrm>
          <a:prstGeom prst="rect">
            <a:avLst/>
          </a:prstGeom>
          <a:solidFill>
            <a:srgbClr val="D93025">
              <a:alpha val="39999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45"/>
              </a:lnSpc>
            </a:pPr>
            <a:r>
              <a:rPr sz="2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los</a:t>
            </a:r>
            <a:r>
              <a:rPr sz="20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diuréticos</a:t>
            </a:r>
            <a:r>
              <a:rPr sz="20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tiazídicos</a:t>
            </a:r>
            <a:r>
              <a:rPr sz="2000" spc="-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y</a:t>
            </a:r>
            <a:r>
              <a:rPr sz="2000" spc="-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similares.</a:t>
            </a:r>
            <a:endParaRPr sz="2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4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55" dirty="0"/>
              <a:t>Diuréticos</a:t>
            </a:r>
            <a:r>
              <a:rPr sz="3600" spc="-204" dirty="0"/>
              <a:t> </a:t>
            </a:r>
            <a:r>
              <a:rPr sz="3600" spc="-295" dirty="0"/>
              <a:t>tiazídicos</a:t>
            </a:r>
            <a:r>
              <a:rPr sz="3600" spc="-204" dirty="0"/>
              <a:t> </a:t>
            </a:r>
            <a:r>
              <a:rPr sz="3600" spc="-260" dirty="0"/>
              <a:t>y</a:t>
            </a:r>
            <a:r>
              <a:rPr sz="3600" spc="-210" dirty="0"/>
              <a:t> </a:t>
            </a:r>
            <a:r>
              <a:rPr sz="3600" spc="-365" dirty="0"/>
              <a:t>semenjantes</a:t>
            </a:r>
            <a:endParaRPr sz="3600"/>
          </a:p>
        </p:txBody>
      </p:sp>
      <p:sp>
        <p:nvSpPr>
          <p:cNvPr id="14" name="object 14"/>
          <p:cNvSpPr/>
          <p:nvPr/>
        </p:nvSpPr>
        <p:spPr>
          <a:xfrm>
            <a:off x="737551" y="947928"/>
            <a:ext cx="7210425" cy="469900"/>
          </a:xfrm>
          <a:custGeom>
            <a:avLst/>
            <a:gdLst/>
            <a:ahLst/>
            <a:cxnLst/>
            <a:rect l="l" t="t" r="r" b="b"/>
            <a:pathLst>
              <a:path w="7210425" h="469900">
                <a:moveTo>
                  <a:pt x="7210408" y="0"/>
                </a:moveTo>
                <a:lnTo>
                  <a:pt x="0" y="0"/>
                </a:lnTo>
                <a:lnTo>
                  <a:pt x="0" y="469544"/>
                </a:lnTo>
                <a:lnTo>
                  <a:pt x="7210408" y="469544"/>
                </a:lnTo>
                <a:lnTo>
                  <a:pt x="7210408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4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55" dirty="0"/>
              <a:t>Diuréticos</a:t>
            </a:r>
            <a:r>
              <a:rPr sz="3600" spc="-204" dirty="0"/>
              <a:t> </a:t>
            </a:r>
            <a:r>
              <a:rPr sz="3600" spc="-295" dirty="0"/>
              <a:t>tiazídicos</a:t>
            </a:r>
            <a:r>
              <a:rPr sz="3600" spc="-204" dirty="0"/>
              <a:t> </a:t>
            </a:r>
            <a:r>
              <a:rPr sz="3600" spc="-260" dirty="0"/>
              <a:t>y</a:t>
            </a:r>
            <a:r>
              <a:rPr sz="3600" spc="-210" dirty="0"/>
              <a:t> </a:t>
            </a:r>
            <a:r>
              <a:rPr sz="3600" spc="-365" dirty="0"/>
              <a:t>semenjantes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182052" y="1958340"/>
            <a:ext cx="3789045" cy="2580005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2000" spc="114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Indicaciones</a:t>
            </a:r>
            <a:r>
              <a:rPr sz="2000" spc="-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14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terapeuticas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000" spc="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Hipertensión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4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arterial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000" spc="8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Sindrome</a:t>
            </a:r>
            <a:r>
              <a:rPr sz="2000" spc="-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3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edematosos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469265">
              <a:lnSpc>
                <a:spcPct val="100000"/>
              </a:lnSpc>
              <a:spcBef>
                <a:spcPts val="1015"/>
              </a:spcBef>
            </a:pPr>
            <a:r>
              <a:rPr sz="1400" spc="11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400" spc="8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  </a:t>
            </a:r>
            <a:r>
              <a:rPr sz="1800" spc="1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Cardiaco,</a:t>
            </a:r>
            <a:r>
              <a:rPr sz="1800" spc="-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1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hepatico</a:t>
            </a:r>
            <a:r>
              <a:rPr sz="1800" spc="-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y</a:t>
            </a:r>
            <a:r>
              <a:rPr sz="1800" spc="-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renal</a:t>
            </a:r>
            <a:endParaRPr sz="18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Nefrolitiasis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000" spc="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Osteoporosis</a:t>
            </a:r>
            <a:endParaRPr sz="2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94752" y="2162555"/>
            <a:ext cx="3208655" cy="240029"/>
          </a:xfrm>
          <a:custGeom>
            <a:avLst/>
            <a:gdLst/>
            <a:ahLst/>
            <a:cxnLst/>
            <a:rect l="l" t="t" r="r" b="b"/>
            <a:pathLst>
              <a:path w="3208654" h="240030">
                <a:moveTo>
                  <a:pt x="3208399" y="0"/>
                </a:moveTo>
                <a:lnTo>
                  <a:pt x="0" y="0"/>
                </a:lnTo>
                <a:lnTo>
                  <a:pt x="0" y="239522"/>
                </a:lnTo>
                <a:lnTo>
                  <a:pt x="3208399" y="239522"/>
                </a:lnTo>
                <a:lnTo>
                  <a:pt x="3208399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94752" y="2587751"/>
            <a:ext cx="2780030" cy="247650"/>
          </a:xfrm>
          <a:custGeom>
            <a:avLst/>
            <a:gdLst/>
            <a:ahLst/>
            <a:cxnLst/>
            <a:rect l="l" t="t" r="r" b="b"/>
            <a:pathLst>
              <a:path w="2780029" h="247650">
                <a:moveTo>
                  <a:pt x="2779699" y="0"/>
                </a:moveTo>
                <a:lnTo>
                  <a:pt x="0" y="0"/>
                </a:lnTo>
                <a:lnTo>
                  <a:pt x="0" y="247141"/>
                </a:lnTo>
                <a:lnTo>
                  <a:pt x="2779699" y="247141"/>
                </a:lnTo>
                <a:lnTo>
                  <a:pt x="2779699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94752" y="3025140"/>
            <a:ext cx="3099435" cy="201930"/>
          </a:xfrm>
          <a:custGeom>
            <a:avLst/>
            <a:gdLst/>
            <a:ahLst/>
            <a:cxnLst/>
            <a:rect l="l" t="t" r="r" b="b"/>
            <a:pathLst>
              <a:path w="3099435" h="201930">
                <a:moveTo>
                  <a:pt x="3098951" y="0"/>
                </a:moveTo>
                <a:lnTo>
                  <a:pt x="0" y="0"/>
                </a:lnTo>
                <a:lnTo>
                  <a:pt x="0" y="201676"/>
                </a:lnTo>
                <a:lnTo>
                  <a:pt x="3098951" y="201676"/>
                </a:lnTo>
                <a:lnTo>
                  <a:pt x="3098951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651952" y="3452621"/>
            <a:ext cx="3306445" cy="215900"/>
          </a:xfrm>
          <a:custGeom>
            <a:avLst/>
            <a:gdLst/>
            <a:ahLst/>
            <a:cxnLst/>
            <a:rect l="l" t="t" r="r" b="b"/>
            <a:pathLst>
              <a:path w="3306445" h="215900">
                <a:moveTo>
                  <a:pt x="3305899" y="0"/>
                </a:moveTo>
                <a:lnTo>
                  <a:pt x="0" y="0"/>
                </a:lnTo>
                <a:lnTo>
                  <a:pt x="0" y="215569"/>
                </a:lnTo>
                <a:lnTo>
                  <a:pt x="3305899" y="215569"/>
                </a:lnTo>
                <a:lnTo>
                  <a:pt x="3305899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94752" y="3851147"/>
            <a:ext cx="1677035" cy="201930"/>
          </a:xfrm>
          <a:custGeom>
            <a:avLst/>
            <a:gdLst/>
            <a:ahLst/>
            <a:cxnLst/>
            <a:rect l="l" t="t" r="r" b="b"/>
            <a:pathLst>
              <a:path w="1677035" h="201929">
                <a:moveTo>
                  <a:pt x="1676551" y="0"/>
                </a:moveTo>
                <a:lnTo>
                  <a:pt x="0" y="0"/>
                </a:lnTo>
                <a:lnTo>
                  <a:pt x="0" y="201676"/>
                </a:lnTo>
                <a:lnTo>
                  <a:pt x="1676551" y="201676"/>
                </a:lnTo>
                <a:lnTo>
                  <a:pt x="1676551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194752" y="4283964"/>
            <a:ext cx="1910080" cy="240029"/>
          </a:xfrm>
          <a:custGeom>
            <a:avLst/>
            <a:gdLst/>
            <a:ahLst/>
            <a:cxnLst/>
            <a:rect l="l" t="t" r="r" b="b"/>
            <a:pathLst>
              <a:path w="1910080" h="240029">
                <a:moveTo>
                  <a:pt x="1909927" y="0"/>
                </a:moveTo>
                <a:lnTo>
                  <a:pt x="0" y="0"/>
                </a:lnTo>
                <a:lnTo>
                  <a:pt x="0" y="239521"/>
                </a:lnTo>
                <a:lnTo>
                  <a:pt x="1909927" y="239521"/>
                </a:lnTo>
                <a:lnTo>
                  <a:pt x="1909927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15" dirty="0"/>
              <a:t>Inhibidores</a:t>
            </a:r>
            <a:r>
              <a:rPr spc="-130" dirty="0"/>
              <a:t> </a:t>
            </a:r>
            <a:r>
              <a:rPr spc="-100" dirty="0"/>
              <a:t>de</a:t>
            </a:r>
            <a:r>
              <a:rPr spc="-140" dirty="0"/>
              <a:t> </a:t>
            </a:r>
            <a:r>
              <a:rPr spc="-295" dirty="0"/>
              <a:t>los</a:t>
            </a:r>
            <a:r>
              <a:rPr spc="-125" dirty="0"/>
              <a:t> </a:t>
            </a:r>
            <a:r>
              <a:rPr spc="-165" dirty="0"/>
              <a:t>canales</a:t>
            </a:r>
            <a:r>
              <a:rPr spc="-130" dirty="0"/>
              <a:t> </a:t>
            </a:r>
            <a:r>
              <a:rPr spc="-235" dirty="0"/>
              <a:t>epiteliales</a:t>
            </a:r>
            <a:r>
              <a:rPr spc="-125" dirty="0"/>
              <a:t> </a:t>
            </a:r>
            <a:r>
              <a:rPr spc="-254" dirty="0"/>
              <a:t>renales</a:t>
            </a:r>
            <a:r>
              <a:rPr spc="-130" dirty="0"/>
              <a:t> </a:t>
            </a:r>
            <a:r>
              <a:rPr spc="-100" dirty="0"/>
              <a:t>de</a:t>
            </a:r>
            <a:r>
              <a:rPr spc="-135" dirty="0"/>
              <a:t> </a:t>
            </a:r>
            <a:r>
              <a:rPr spc="-390" dirty="0"/>
              <a:t>Na+</a:t>
            </a:r>
            <a:endParaRPr spc="-39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007864" y="1456944"/>
            <a:ext cx="5044440" cy="538886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563257" y="797559"/>
            <a:ext cx="9623425" cy="554355"/>
          </a:xfrm>
          <a:custGeom>
            <a:avLst/>
            <a:gdLst/>
            <a:ahLst/>
            <a:cxnLst/>
            <a:rect l="l" t="t" r="r" b="b"/>
            <a:pathLst>
              <a:path w="9623425" h="554355">
                <a:moveTo>
                  <a:pt x="9623107" y="46545"/>
                </a:moveTo>
                <a:lnTo>
                  <a:pt x="9618408" y="44399"/>
                </a:lnTo>
                <a:lnTo>
                  <a:pt x="9207094" y="44145"/>
                </a:lnTo>
                <a:lnTo>
                  <a:pt x="9207094" y="196646"/>
                </a:lnTo>
                <a:lnTo>
                  <a:pt x="9202471" y="198653"/>
                </a:lnTo>
                <a:lnTo>
                  <a:pt x="9171915" y="206032"/>
                </a:lnTo>
                <a:lnTo>
                  <a:pt x="9129611" y="212877"/>
                </a:lnTo>
                <a:lnTo>
                  <a:pt x="9103030" y="218948"/>
                </a:lnTo>
                <a:lnTo>
                  <a:pt x="5954319" y="218948"/>
                </a:lnTo>
                <a:lnTo>
                  <a:pt x="6274409" y="191287"/>
                </a:lnTo>
                <a:lnTo>
                  <a:pt x="6467107" y="169684"/>
                </a:lnTo>
                <a:lnTo>
                  <a:pt x="6549352" y="163512"/>
                </a:lnTo>
                <a:lnTo>
                  <a:pt x="6758508" y="155460"/>
                </a:lnTo>
                <a:lnTo>
                  <a:pt x="7049897" y="152374"/>
                </a:lnTo>
                <a:lnTo>
                  <a:pt x="7667942" y="153454"/>
                </a:lnTo>
                <a:lnTo>
                  <a:pt x="8513928" y="169824"/>
                </a:lnTo>
                <a:lnTo>
                  <a:pt x="9052179" y="196646"/>
                </a:lnTo>
                <a:lnTo>
                  <a:pt x="9207094" y="196646"/>
                </a:lnTo>
                <a:lnTo>
                  <a:pt x="9207094" y="44145"/>
                </a:lnTo>
                <a:lnTo>
                  <a:pt x="9202471" y="44132"/>
                </a:lnTo>
                <a:lnTo>
                  <a:pt x="8666670" y="17437"/>
                </a:lnTo>
                <a:lnTo>
                  <a:pt x="7820685" y="1066"/>
                </a:lnTo>
                <a:lnTo>
                  <a:pt x="6892455" y="0"/>
                </a:lnTo>
                <a:lnTo>
                  <a:pt x="6605752" y="3086"/>
                </a:lnTo>
                <a:lnTo>
                  <a:pt x="6396609" y="11137"/>
                </a:lnTo>
                <a:lnTo>
                  <a:pt x="6316713" y="17297"/>
                </a:lnTo>
                <a:lnTo>
                  <a:pt x="6121666" y="38760"/>
                </a:lnTo>
                <a:lnTo>
                  <a:pt x="5630519" y="81559"/>
                </a:lnTo>
                <a:lnTo>
                  <a:pt x="5496572" y="87325"/>
                </a:lnTo>
                <a:lnTo>
                  <a:pt x="5322671" y="88531"/>
                </a:lnTo>
                <a:lnTo>
                  <a:pt x="5200472" y="93764"/>
                </a:lnTo>
                <a:lnTo>
                  <a:pt x="4904384" y="117767"/>
                </a:lnTo>
                <a:lnTo>
                  <a:pt x="4725784" y="122732"/>
                </a:lnTo>
                <a:lnTo>
                  <a:pt x="4601235" y="129311"/>
                </a:lnTo>
                <a:lnTo>
                  <a:pt x="4032542" y="188061"/>
                </a:lnTo>
                <a:lnTo>
                  <a:pt x="3802037" y="218948"/>
                </a:lnTo>
                <a:lnTo>
                  <a:pt x="174282" y="218948"/>
                </a:lnTo>
                <a:lnTo>
                  <a:pt x="174282" y="308902"/>
                </a:lnTo>
                <a:lnTo>
                  <a:pt x="0" y="308648"/>
                </a:lnTo>
                <a:lnTo>
                  <a:pt x="0" y="461162"/>
                </a:lnTo>
                <a:lnTo>
                  <a:pt x="32905" y="461302"/>
                </a:lnTo>
                <a:lnTo>
                  <a:pt x="65798" y="467880"/>
                </a:lnTo>
                <a:lnTo>
                  <a:pt x="112801" y="483171"/>
                </a:lnTo>
                <a:lnTo>
                  <a:pt x="133946" y="488124"/>
                </a:lnTo>
                <a:lnTo>
                  <a:pt x="174282" y="494131"/>
                </a:lnTo>
                <a:lnTo>
                  <a:pt x="174282" y="554291"/>
                </a:lnTo>
                <a:lnTo>
                  <a:pt x="9267927" y="554291"/>
                </a:lnTo>
                <a:lnTo>
                  <a:pt x="9267927" y="368566"/>
                </a:lnTo>
                <a:lnTo>
                  <a:pt x="9282366" y="365264"/>
                </a:lnTo>
                <a:lnTo>
                  <a:pt x="9322321" y="358546"/>
                </a:lnTo>
                <a:lnTo>
                  <a:pt x="9355214" y="351040"/>
                </a:lnTo>
                <a:lnTo>
                  <a:pt x="9399867" y="330657"/>
                </a:lnTo>
                <a:lnTo>
                  <a:pt x="9418663" y="328777"/>
                </a:lnTo>
                <a:lnTo>
                  <a:pt x="9437459" y="325691"/>
                </a:lnTo>
                <a:lnTo>
                  <a:pt x="9540862" y="283972"/>
                </a:lnTo>
                <a:lnTo>
                  <a:pt x="9583166" y="257683"/>
                </a:lnTo>
                <a:lnTo>
                  <a:pt x="9623107" y="221056"/>
                </a:lnTo>
                <a:lnTo>
                  <a:pt x="9623107" y="196646"/>
                </a:lnTo>
                <a:lnTo>
                  <a:pt x="9623107" y="169951"/>
                </a:lnTo>
                <a:lnTo>
                  <a:pt x="9623107" y="152374"/>
                </a:lnTo>
                <a:lnTo>
                  <a:pt x="9623107" y="46545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15" dirty="0"/>
              <a:t>Inhibidores</a:t>
            </a:r>
            <a:r>
              <a:rPr spc="-130" dirty="0"/>
              <a:t> </a:t>
            </a:r>
            <a:r>
              <a:rPr spc="-100" dirty="0"/>
              <a:t>de</a:t>
            </a:r>
            <a:r>
              <a:rPr spc="-140" dirty="0"/>
              <a:t> </a:t>
            </a:r>
            <a:r>
              <a:rPr spc="-295" dirty="0"/>
              <a:t>los</a:t>
            </a:r>
            <a:r>
              <a:rPr spc="-125" dirty="0"/>
              <a:t> </a:t>
            </a:r>
            <a:r>
              <a:rPr spc="-165" dirty="0"/>
              <a:t>canales</a:t>
            </a:r>
            <a:r>
              <a:rPr spc="-130" dirty="0"/>
              <a:t> </a:t>
            </a:r>
            <a:r>
              <a:rPr spc="-235" dirty="0"/>
              <a:t>epiteliales</a:t>
            </a:r>
            <a:r>
              <a:rPr spc="-125" dirty="0"/>
              <a:t> </a:t>
            </a:r>
            <a:r>
              <a:rPr spc="-254" dirty="0"/>
              <a:t>renales</a:t>
            </a:r>
            <a:r>
              <a:rPr spc="-130" dirty="0"/>
              <a:t> </a:t>
            </a:r>
            <a:r>
              <a:rPr spc="-100" dirty="0"/>
              <a:t>de</a:t>
            </a:r>
            <a:r>
              <a:rPr spc="-135" dirty="0"/>
              <a:t> </a:t>
            </a:r>
            <a:r>
              <a:rPr spc="-390" dirty="0"/>
              <a:t>Na+</a:t>
            </a:r>
            <a:endParaRPr spc="-390" dirty="0"/>
          </a:p>
        </p:txBody>
      </p:sp>
      <p:sp>
        <p:nvSpPr>
          <p:cNvPr id="3" name="object 3"/>
          <p:cNvSpPr txBox="1"/>
          <p:nvPr/>
        </p:nvSpPr>
        <p:spPr>
          <a:xfrm>
            <a:off x="1182052" y="1958340"/>
            <a:ext cx="4910455" cy="304927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2000" spc="8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Efectos</a:t>
            </a:r>
            <a:r>
              <a:rPr sz="20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en</a:t>
            </a:r>
            <a:r>
              <a:rPr sz="2000" spc="-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14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la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4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excreción</a:t>
            </a:r>
            <a:r>
              <a:rPr sz="2000" spc="-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4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urinaria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↑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Na+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-18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(&lt;2%</a:t>
            </a:r>
            <a:r>
              <a:rPr sz="20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2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de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14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la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21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carga</a:t>
            </a:r>
            <a:r>
              <a:rPr sz="20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filtrada)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y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Cl-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↓</a:t>
            </a:r>
            <a:r>
              <a:rPr sz="20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-1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K+,</a:t>
            </a:r>
            <a:r>
              <a:rPr sz="20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-9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H+,</a:t>
            </a:r>
            <a:r>
              <a:rPr sz="2000" spc="-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3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Ca</a:t>
            </a:r>
            <a:r>
              <a:rPr sz="20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-1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2+,</a:t>
            </a:r>
            <a:r>
              <a:rPr sz="2000" spc="-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Mg2+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↓</a:t>
            </a:r>
            <a:r>
              <a:rPr sz="20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204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Acido</a:t>
            </a:r>
            <a:r>
              <a:rPr sz="20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8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urico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  <a:spcBef>
                <a:spcPts val="1980"/>
              </a:spcBef>
            </a:pPr>
            <a:endParaRPr sz="20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</a:pPr>
            <a:r>
              <a:rPr sz="2000" spc="8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Efectos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en</a:t>
            </a:r>
            <a:r>
              <a:rPr sz="2000" spc="-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14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la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hemodinamia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renal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Sin</a:t>
            </a:r>
            <a:r>
              <a:rPr sz="2000" spc="-13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2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efectos</a:t>
            </a:r>
            <a:endParaRPr sz="2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94752" y="2154935"/>
            <a:ext cx="3858260" cy="201930"/>
          </a:xfrm>
          <a:custGeom>
            <a:avLst/>
            <a:gdLst/>
            <a:ahLst/>
            <a:cxnLst/>
            <a:rect l="l" t="t" r="r" b="b"/>
            <a:pathLst>
              <a:path w="3858260" h="201930">
                <a:moveTo>
                  <a:pt x="3858054" y="0"/>
                </a:moveTo>
                <a:lnTo>
                  <a:pt x="0" y="0"/>
                </a:lnTo>
                <a:lnTo>
                  <a:pt x="0" y="201421"/>
                </a:lnTo>
                <a:lnTo>
                  <a:pt x="3858054" y="201421"/>
                </a:lnTo>
                <a:lnTo>
                  <a:pt x="3858054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94752" y="2595371"/>
            <a:ext cx="4885055" cy="243840"/>
          </a:xfrm>
          <a:custGeom>
            <a:avLst/>
            <a:gdLst/>
            <a:ahLst/>
            <a:cxnLst/>
            <a:rect l="l" t="t" r="r" b="b"/>
            <a:pathLst>
              <a:path w="4885055" h="243839">
                <a:moveTo>
                  <a:pt x="4884929" y="0"/>
                </a:moveTo>
                <a:lnTo>
                  <a:pt x="0" y="0"/>
                </a:lnTo>
                <a:lnTo>
                  <a:pt x="0" y="243331"/>
                </a:lnTo>
                <a:lnTo>
                  <a:pt x="4884929" y="243331"/>
                </a:lnTo>
                <a:lnTo>
                  <a:pt x="4884929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94752" y="3028695"/>
            <a:ext cx="3035300" cy="240029"/>
          </a:xfrm>
          <a:custGeom>
            <a:avLst/>
            <a:gdLst/>
            <a:ahLst/>
            <a:cxnLst/>
            <a:rect l="l" t="t" r="r" b="b"/>
            <a:pathLst>
              <a:path w="3035300" h="240029">
                <a:moveTo>
                  <a:pt x="3035045" y="0"/>
                </a:moveTo>
                <a:lnTo>
                  <a:pt x="0" y="0"/>
                </a:lnTo>
                <a:lnTo>
                  <a:pt x="0" y="239776"/>
                </a:lnTo>
                <a:lnTo>
                  <a:pt x="3035045" y="239776"/>
                </a:lnTo>
                <a:lnTo>
                  <a:pt x="3035045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94752" y="3457955"/>
            <a:ext cx="1964055" cy="243840"/>
          </a:xfrm>
          <a:custGeom>
            <a:avLst/>
            <a:gdLst/>
            <a:ahLst/>
            <a:cxnLst/>
            <a:rect l="l" t="t" r="r" b="b"/>
            <a:pathLst>
              <a:path w="1964055" h="243839">
                <a:moveTo>
                  <a:pt x="1963445" y="0"/>
                </a:moveTo>
                <a:lnTo>
                  <a:pt x="0" y="0"/>
                </a:lnTo>
                <a:lnTo>
                  <a:pt x="0" y="243332"/>
                </a:lnTo>
                <a:lnTo>
                  <a:pt x="1963445" y="243332"/>
                </a:lnTo>
                <a:lnTo>
                  <a:pt x="1963445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94752" y="4320539"/>
            <a:ext cx="4081779" cy="194310"/>
          </a:xfrm>
          <a:custGeom>
            <a:avLst/>
            <a:gdLst/>
            <a:ahLst/>
            <a:cxnLst/>
            <a:rect l="l" t="t" r="r" b="b"/>
            <a:pathLst>
              <a:path w="4081779" h="194310">
                <a:moveTo>
                  <a:pt x="4081471" y="0"/>
                </a:moveTo>
                <a:lnTo>
                  <a:pt x="0" y="0"/>
                </a:lnTo>
                <a:lnTo>
                  <a:pt x="0" y="193802"/>
                </a:lnTo>
                <a:lnTo>
                  <a:pt x="4081471" y="193802"/>
                </a:lnTo>
                <a:lnTo>
                  <a:pt x="4081471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194752" y="4753355"/>
            <a:ext cx="1670685" cy="201930"/>
          </a:xfrm>
          <a:custGeom>
            <a:avLst/>
            <a:gdLst/>
            <a:ahLst/>
            <a:cxnLst/>
            <a:rect l="l" t="t" r="r" b="b"/>
            <a:pathLst>
              <a:path w="1670685" h="201929">
                <a:moveTo>
                  <a:pt x="1670201" y="0"/>
                </a:moveTo>
                <a:lnTo>
                  <a:pt x="0" y="0"/>
                </a:lnTo>
                <a:lnTo>
                  <a:pt x="0" y="201676"/>
                </a:lnTo>
                <a:lnTo>
                  <a:pt x="1670201" y="201676"/>
                </a:lnTo>
                <a:lnTo>
                  <a:pt x="1670201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15" dirty="0"/>
              <a:t>Inhibidores</a:t>
            </a:r>
            <a:r>
              <a:rPr spc="-130" dirty="0"/>
              <a:t> </a:t>
            </a:r>
            <a:r>
              <a:rPr spc="-100" dirty="0"/>
              <a:t>de</a:t>
            </a:r>
            <a:r>
              <a:rPr spc="-140" dirty="0"/>
              <a:t> </a:t>
            </a:r>
            <a:r>
              <a:rPr spc="-295" dirty="0"/>
              <a:t>los</a:t>
            </a:r>
            <a:r>
              <a:rPr spc="-125" dirty="0"/>
              <a:t> </a:t>
            </a:r>
            <a:r>
              <a:rPr spc="-165" dirty="0"/>
              <a:t>canales</a:t>
            </a:r>
            <a:r>
              <a:rPr spc="-130" dirty="0"/>
              <a:t> </a:t>
            </a:r>
            <a:r>
              <a:rPr spc="-235" dirty="0"/>
              <a:t>epiteliales</a:t>
            </a:r>
            <a:r>
              <a:rPr spc="-125" dirty="0"/>
              <a:t> </a:t>
            </a:r>
            <a:r>
              <a:rPr spc="-254" dirty="0"/>
              <a:t>renales</a:t>
            </a:r>
            <a:r>
              <a:rPr spc="-130" dirty="0"/>
              <a:t> </a:t>
            </a:r>
            <a:r>
              <a:rPr spc="-100" dirty="0"/>
              <a:t>de</a:t>
            </a:r>
            <a:r>
              <a:rPr spc="-135" dirty="0"/>
              <a:t> </a:t>
            </a:r>
            <a:r>
              <a:rPr spc="-390" dirty="0"/>
              <a:t>Na+</a:t>
            </a:r>
            <a:endParaRPr spc="-390" dirty="0"/>
          </a:p>
        </p:txBody>
      </p:sp>
      <p:grpSp>
        <p:nvGrpSpPr>
          <p:cNvPr id="3" name="object 3"/>
          <p:cNvGrpSpPr/>
          <p:nvPr/>
        </p:nvGrpSpPr>
        <p:grpSpPr>
          <a:xfrm>
            <a:off x="552240" y="1656685"/>
            <a:ext cx="11485880" cy="4673600"/>
            <a:chOff x="552240" y="1656685"/>
            <a:chExt cx="11485880" cy="467360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072895" y="2639567"/>
              <a:ext cx="8973312" cy="260299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52240" y="1656685"/>
              <a:ext cx="11485880" cy="4673600"/>
            </a:xfrm>
            <a:custGeom>
              <a:avLst/>
              <a:gdLst/>
              <a:ahLst/>
              <a:cxnLst/>
              <a:rect l="l" t="t" r="r" b="b"/>
              <a:pathLst>
                <a:path w="11485880" h="4673600">
                  <a:moveTo>
                    <a:pt x="162679" y="533400"/>
                  </a:moveTo>
                  <a:lnTo>
                    <a:pt x="0" y="533400"/>
                  </a:lnTo>
                  <a:lnTo>
                    <a:pt x="0" y="685800"/>
                  </a:lnTo>
                  <a:lnTo>
                    <a:pt x="8414" y="685800"/>
                  </a:lnTo>
                  <a:lnTo>
                    <a:pt x="70120" y="889000"/>
                  </a:lnTo>
                  <a:lnTo>
                    <a:pt x="120606" y="1079500"/>
                  </a:lnTo>
                  <a:lnTo>
                    <a:pt x="162679" y="1270000"/>
                  </a:lnTo>
                  <a:lnTo>
                    <a:pt x="204751" y="1473200"/>
                  </a:lnTo>
                  <a:lnTo>
                    <a:pt x="246823" y="1651000"/>
                  </a:lnTo>
                  <a:lnTo>
                    <a:pt x="302919" y="1866900"/>
                  </a:lnTo>
                  <a:lnTo>
                    <a:pt x="401088" y="2298700"/>
                  </a:lnTo>
                  <a:lnTo>
                    <a:pt x="412307" y="2362200"/>
                  </a:lnTo>
                  <a:lnTo>
                    <a:pt x="434745" y="2514600"/>
                  </a:lnTo>
                  <a:lnTo>
                    <a:pt x="504866" y="2946400"/>
                  </a:lnTo>
                  <a:lnTo>
                    <a:pt x="518890" y="3060700"/>
                  </a:lnTo>
                  <a:lnTo>
                    <a:pt x="530109" y="3200400"/>
                  </a:lnTo>
                  <a:lnTo>
                    <a:pt x="532914" y="3276600"/>
                  </a:lnTo>
                  <a:lnTo>
                    <a:pt x="555352" y="3441700"/>
                  </a:lnTo>
                  <a:lnTo>
                    <a:pt x="560962" y="3530600"/>
                  </a:lnTo>
                  <a:lnTo>
                    <a:pt x="560962" y="3619500"/>
                  </a:lnTo>
                  <a:lnTo>
                    <a:pt x="563767" y="3797300"/>
                  </a:lnTo>
                  <a:lnTo>
                    <a:pt x="572181" y="3949700"/>
                  </a:lnTo>
                  <a:lnTo>
                    <a:pt x="586205" y="4127500"/>
                  </a:lnTo>
                  <a:lnTo>
                    <a:pt x="594620" y="4178300"/>
                  </a:lnTo>
                  <a:lnTo>
                    <a:pt x="617058" y="4267200"/>
                  </a:lnTo>
                  <a:lnTo>
                    <a:pt x="636692" y="4343400"/>
                  </a:lnTo>
                  <a:lnTo>
                    <a:pt x="650716" y="4394200"/>
                  </a:lnTo>
                  <a:lnTo>
                    <a:pt x="667545" y="4432300"/>
                  </a:lnTo>
                  <a:lnTo>
                    <a:pt x="675959" y="4445000"/>
                  </a:lnTo>
                  <a:lnTo>
                    <a:pt x="4271729" y="4445000"/>
                  </a:lnTo>
                  <a:lnTo>
                    <a:pt x="4667207" y="4457700"/>
                  </a:lnTo>
                  <a:lnTo>
                    <a:pt x="5076710" y="4457700"/>
                  </a:lnTo>
                  <a:lnTo>
                    <a:pt x="6961544" y="4521200"/>
                  </a:lnTo>
                  <a:lnTo>
                    <a:pt x="8229320" y="4622800"/>
                  </a:lnTo>
                  <a:lnTo>
                    <a:pt x="9222224" y="4673600"/>
                  </a:lnTo>
                  <a:lnTo>
                    <a:pt x="10888282" y="4673600"/>
                  </a:lnTo>
                  <a:lnTo>
                    <a:pt x="11084619" y="4660900"/>
                  </a:lnTo>
                  <a:lnTo>
                    <a:pt x="11247297" y="4648200"/>
                  </a:lnTo>
                  <a:lnTo>
                    <a:pt x="11454855" y="4622800"/>
                  </a:lnTo>
                  <a:lnTo>
                    <a:pt x="11471683" y="4622800"/>
                  </a:lnTo>
                  <a:lnTo>
                    <a:pt x="11477293" y="4610100"/>
                  </a:lnTo>
                  <a:lnTo>
                    <a:pt x="11485708" y="4610100"/>
                  </a:lnTo>
                  <a:lnTo>
                    <a:pt x="11485708" y="4533900"/>
                  </a:lnTo>
                  <a:lnTo>
                    <a:pt x="10035619" y="4533900"/>
                  </a:lnTo>
                  <a:lnTo>
                    <a:pt x="9595263" y="4521200"/>
                  </a:lnTo>
                  <a:lnTo>
                    <a:pt x="9373685" y="4521200"/>
                  </a:lnTo>
                  <a:lnTo>
                    <a:pt x="8380779" y="4470400"/>
                  </a:lnTo>
                  <a:lnTo>
                    <a:pt x="7113004" y="4368800"/>
                  </a:lnTo>
                  <a:lnTo>
                    <a:pt x="5640478" y="4318000"/>
                  </a:lnTo>
                  <a:lnTo>
                    <a:pt x="1175216" y="4318000"/>
                  </a:lnTo>
                  <a:lnTo>
                    <a:pt x="1018147" y="4305300"/>
                  </a:lnTo>
                  <a:lnTo>
                    <a:pt x="869491" y="4305300"/>
                  </a:lnTo>
                  <a:lnTo>
                    <a:pt x="847053" y="4292600"/>
                  </a:lnTo>
                  <a:lnTo>
                    <a:pt x="827419" y="4292600"/>
                  </a:lnTo>
                  <a:lnTo>
                    <a:pt x="819005" y="4279900"/>
                  </a:lnTo>
                  <a:lnTo>
                    <a:pt x="802176" y="4241800"/>
                  </a:lnTo>
                  <a:lnTo>
                    <a:pt x="788152" y="4191000"/>
                  </a:lnTo>
                  <a:lnTo>
                    <a:pt x="768518" y="4114800"/>
                  </a:lnTo>
                  <a:lnTo>
                    <a:pt x="748884" y="4025900"/>
                  </a:lnTo>
                  <a:lnTo>
                    <a:pt x="740470" y="3975100"/>
                  </a:lnTo>
                  <a:lnTo>
                    <a:pt x="723641" y="3797300"/>
                  </a:lnTo>
                  <a:lnTo>
                    <a:pt x="715227" y="3644900"/>
                  </a:lnTo>
                  <a:lnTo>
                    <a:pt x="715227" y="3467100"/>
                  </a:lnTo>
                  <a:lnTo>
                    <a:pt x="712422" y="3378200"/>
                  </a:lnTo>
                  <a:lnTo>
                    <a:pt x="706812" y="3289300"/>
                  </a:lnTo>
                  <a:lnTo>
                    <a:pt x="687179" y="3124200"/>
                  </a:lnTo>
                  <a:lnTo>
                    <a:pt x="681569" y="3048000"/>
                  </a:lnTo>
                  <a:lnTo>
                    <a:pt x="670350" y="2908300"/>
                  </a:lnTo>
                  <a:lnTo>
                    <a:pt x="656326" y="2794000"/>
                  </a:lnTo>
                  <a:lnTo>
                    <a:pt x="586205" y="2362200"/>
                  </a:lnTo>
                  <a:lnTo>
                    <a:pt x="563767" y="2209800"/>
                  </a:lnTo>
                  <a:lnTo>
                    <a:pt x="552548" y="2146300"/>
                  </a:lnTo>
                  <a:lnTo>
                    <a:pt x="491914" y="1879600"/>
                  </a:lnTo>
                  <a:lnTo>
                    <a:pt x="308529" y="1879600"/>
                  </a:lnTo>
                  <a:lnTo>
                    <a:pt x="308529" y="1714500"/>
                  </a:lnTo>
                  <a:lnTo>
                    <a:pt x="302919" y="1587500"/>
                  </a:lnTo>
                  <a:lnTo>
                    <a:pt x="297310" y="1447800"/>
                  </a:lnTo>
                  <a:lnTo>
                    <a:pt x="297310" y="1034256"/>
                  </a:lnTo>
                  <a:lnTo>
                    <a:pt x="272066" y="927100"/>
                  </a:lnTo>
                  <a:lnTo>
                    <a:pt x="221580" y="736600"/>
                  </a:lnTo>
                  <a:lnTo>
                    <a:pt x="162679" y="533400"/>
                  </a:lnTo>
                  <a:close/>
                </a:path>
                <a:path w="11485880" h="4673600">
                  <a:moveTo>
                    <a:pt x="10259247" y="730756"/>
                  </a:moveTo>
                  <a:lnTo>
                    <a:pt x="10254394" y="774700"/>
                  </a:lnTo>
                  <a:lnTo>
                    <a:pt x="10254394" y="952500"/>
                  </a:lnTo>
                  <a:lnTo>
                    <a:pt x="10260004" y="1016000"/>
                  </a:lnTo>
                  <a:lnTo>
                    <a:pt x="10274028" y="1181100"/>
                  </a:lnTo>
                  <a:lnTo>
                    <a:pt x="10276832" y="1333500"/>
                  </a:lnTo>
                  <a:lnTo>
                    <a:pt x="10276832" y="1435100"/>
                  </a:lnTo>
                  <a:lnTo>
                    <a:pt x="10282443" y="1485900"/>
                  </a:lnTo>
                  <a:lnTo>
                    <a:pt x="10288053" y="1549400"/>
                  </a:lnTo>
                  <a:lnTo>
                    <a:pt x="10307687" y="1689100"/>
                  </a:lnTo>
                  <a:lnTo>
                    <a:pt x="10316100" y="1765300"/>
                  </a:lnTo>
                  <a:lnTo>
                    <a:pt x="10332929" y="2019300"/>
                  </a:lnTo>
                  <a:lnTo>
                    <a:pt x="10344148" y="2146300"/>
                  </a:lnTo>
                  <a:lnTo>
                    <a:pt x="10358173" y="2273300"/>
                  </a:lnTo>
                  <a:lnTo>
                    <a:pt x="10377806" y="2400300"/>
                  </a:lnTo>
                  <a:lnTo>
                    <a:pt x="10403050" y="2527300"/>
                  </a:lnTo>
                  <a:lnTo>
                    <a:pt x="10425489" y="2641600"/>
                  </a:lnTo>
                  <a:lnTo>
                    <a:pt x="10453536" y="2755900"/>
                  </a:lnTo>
                  <a:lnTo>
                    <a:pt x="10481584" y="2882900"/>
                  </a:lnTo>
                  <a:lnTo>
                    <a:pt x="10515243" y="2997200"/>
                  </a:lnTo>
                  <a:lnTo>
                    <a:pt x="10554510" y="3111500"/>
                  </a:lnTo>
                  <a:lnTo>
                    <a:pt x="10593777" y="3238500"/>
                  </a:lnTo>
                  <a:lnTo>
                    <a:pt x="10635849" y="3340100"/>
                  </a:lnTo>
                  <a:lnTo>
                    <a:pt x="10675117" y="3454400"/>
                  </a:lnTo>
                  <a:lnTo>
                    <a:pt x="10717189" y="3543300"/>
                  </a:lnTo>
                  <a:lnTo>
                    <a:pt x="10762066" y="3644900"/>
                  </a:lnTo>
                  <a:lnTo>
                    <a:pt x="10846209" y="3810000"/>
                  </a:lnTo>
                  <a:lnTo>
                    <a:pt x="10935964" y="3987800"/>
                  </a:lnTo>
                  <a:lnTo>
                    <a:pt x="11008889" y="4114800"/>
                  </a:lnTo>
                  <a:lnTo>
                    <a:pt x="11079009" y="4229100"/>
                  </a:lnTo>
                  <a:lnTo>
                    <a:pt x="11194007" y="4406900"/>
                  </a:lnTo>
                  <a:lnTo>
                    <a:pt x="11241688" y="4483100"/>
                  </a:lnTo>
                  <a:lnTo>
                    <a:pt x="11194007" y="4483100"/>
                  </a:lnTo>
                  <a:lnTo>
                    <a:pt x="11093034" y="4495800"/>
                  </a:lnTo>
                  <a:lnTo>
                    <a:pt x="10930354" y="4508500"/>
                  </a:lnTo>
                  <a:lnTo>
                    <a:pt x="10734017" y="4521200"/>
                  </a:lnTo>
                  <a:lnTo>
                    <a:pt x="10504023" y="4521200"/>
                  </a:lnTo>
                  <a:lnTo>
                    <a:pt x="10035619" y="4533900"/>
                  </a:lnTo>
                  <a:lnTo>
                    <a:pt x="11485708" y="4533900"/>
                  </a:lnTo>
                  <a:lnTo>
                    <a:pt x="11485708" y="4445000"/>
                  </a:lnTo>
                  <a:lnTo>
                    <a:pt x="11477293" y="4445000"/>
                  </a:lnTo>
                  <a:lnTo>
                    <a:pt x="11457660" y="4432300"/>
                  </a:lnTo>
                  <a:lnTo>
                    <a:pt x="11429611" y="4381500"/>
                  </a:lnTo>
                  <a:lnTo>
                    <a:pt x="11373514" y="4292600"/>
                  </a:lnTo>
                  <a:lnTo>
                    <a:pt x="11300590" y="4178300"/>
                  </a:lnTo>
                  <a:lnTo>
                    <a:pt x="11233274" y="4076700"/>
                  </a:lnTo>
                  <a:lnTo>
                    <a:pt x="11160349" y="3962400"/>
                  </a:lnTo>
                  <a:lnTo>
                    <a:pt x="11090228" y="3835400"/>
                  </a:lnTo>
                  <a:lnTo>
                    <a:pt x="10997670" y="3657600"/>
                  </a:lnTo>
                  <a:lnTo>
                    <a:pt x="10913525" y="3492500"/>
                  </a:lnTo>
                  <a:lnTo>
                    <a:pt x="10871454" y="3390900"/>
                  </a:lnTo>
                  <a:lnTo>
                    <a:pt x="10826576" y="3302000"/>
                  </a:lnTo>
                  <a:lnTo>
                    <a:pt x="10787308" y="3200400"/>
                  </a:lnTo>
                  <a:lnTo>
                    <a:pt x="10748041" y="3086100"/>
                  </a:lnTo>
                  <a:lnTo>
                    <a:pt x="10705969" y="2959100"/>
                  </a:lnTo>
                  <a:lnTo>
                    <a:pt x="10666702" y="2844800"/>
                  </a:lnTo>
                  <a:lnTo>
                    <a:pt x="10635849" y="2717800"/>
                  </a:lnTo>
                  <a:lnTo>
                    <a:pt x="10604996" y="2603500"/>
                  </a:lnTo>
                  <a:lnTo>
                    <a:pt x="10554510" y="2374900"/>
                  </a:lnTo>
                  <a:lnTo>
                    <a:pt x="10529266" y="2247900"/>
                  </a:lnTo>
                  <a:lnTo>
                    <a:pt x="10495608" y="1993900"/>
                  </a:lnTo>
                  <a:lnTo>
                    <a:pt x="10487194" y="1866900"/>
                  </a:lnTo>
                  <a:lnTo>
                    <a:pt x="10467560" y="1612900"/>
                  </a:lnTo>
                  <a:lnTo>
                    <a:pt x="10459145" y="1536700"/>
                  </a:lnTo>
                  <a:lnTo>
                    <a:pt x="10439513" y="1397000"/>
                  </a:lnTo>
                  <a:lnTo>
                    <a:pt x="10433902" y="1333500"/>
                  </a:lnTo>
                  <a:lnTo>
                    <a:pt x="10428293" y="1282700"/>
                  </a:lnTo>
                  <a:lnTo>
                    <a:pt x="10428293" y="1181100"/>
                  </a:lnTo>
                  <a:lnTo>
                    <a:pt x="10425591" y="1034256"/>
                  </a:lnTo>
                  <a:lnTo>
                    <a:pt x="10425489" y="1028700"/>
                  </a:lnTo>
                  <a:lnTo>
                    <a:pt x="10414268" y="863600"/>
                  </a:lnTo>
                  <a:lnTo>
                    <a:pt x="10456341" y="749300"/>
                  </a:lnTo>
                  <a:lnTo>
                    <a:pt x="10459145" y="736600"/>
                  </a:lnTo>
                  <a:lnTo>
                    <a:pt x="10293662" y="736600"/>
                  </a:lnTo>
                  <a:lnTo>
                    <a:pt x="10259247" y="730756"/>
                  </a:lnTo>
                  <a:close/>
                </a:path>
                <a:path w="11485880" h="4673600">
                  <a:moveTo>
                    <a:pt x="2532745" y="4445000"/>
                  </a:moveTo>
                  <a:lnTo>
                    <a:pt x="692788" y="4445000"/>
                  </a:lnTo>
                  <a:lnTo>
                    <a:pt x="718031" y="4457700"/>
                  </a:lnTo>
                  <a:lnTo>
                    <a:pt x="863882" y="4457700"/>
                  </a:lnTo>
                  <a:lnTo>
                    <a:pt x="1023756" y="4470400"/>
                  </a:lnTo>
                  <a:lnTo>
                    <a:pt x="1450088" y="4470400"/>
                  </a:lnTo>
                  <a:lnTo>
                    <a:pt x="2532745" y="4445000"/>
                  </a:lnTo>
                  <a:close/>
                </a:path>
                <a:path w="11485880" h="4673600">
                  <a:moveTo>
                    <a:pt x="4423189" y="4292600"/>
                  </a:moveTo>
                  <a:lnTo>
                    <a:pt x="2378480" y="4292600"/>
                  </a:lnTo>
                  <a:lnTo>
                    <a:pt x="1573499" y="4318000"/>
                  </a:lnTo>
                  <a:lnTo>
                    <a:pt x="5640478" y="4318000"/>
                  </a:lnTo>
                  <a:lnTo>
                    <a:pt x="5228170" y="4305300"/>
                  </a:lnTo>
                  <a:lnTo>
                    <a:pt x="4818667" y="4305300"/>
                  </a:lnTo>
                  <a:lnTo>
                    <a:pt x="4423189" y="4292600"/>
                  </a:lnTo>
                  <a:close/>
                </a:path>
                <a:path w="11485880" h="4673600">
                  <a:moveTo>
                    <a:pt x="297310" y="1034256"/>
                  </a:moveTo>
                  <a:lnTo>
                    <a:pt x="297310" y="1447800"/>
                  </a:lnTo>
                  <a:lnTo>
                    <a:pt x="302919" y="1587500"/>
                  </a:lnTo>
                  <a:lnTo>
                    <a:pt x="308529" y="1714500"/>
                  </a:lnTo>
                  <a:lnTo>
                    <a:pt x="308529" y="1879600"/>
                  </a:lnTo>
                  <a:lnTo>
                    <a:pt x="459989" y="1879600"/>
                  </a:lnTo>
                  <a:lnTo>
                    <a:pt x="459989" y="1739174"/>
                  </a:lnTo>
                  <a:lnTo>
                    <a:pt x="454379" y="1714500"/>
                  </a:lnTo>
                  <a:lnTo>
                    <a:pt x="398283" y="1498600"/>
                  </a:lnTo>
                  <a:lnTo>
                    <a:pt x="356211" y="1320800"/>
                  </a:lnTo>
                  <a:lnTo>
                    <a:pt x="316943" y="1117600"/>
                  </a:lnTo>
                  <a:lnTo>
                    <a:pt x="297310" y="1034256"/>
                  </a:lnTo>
                  <a:close/>
                </a:path>
                <a:path w="11485880" h="4673600">
                  <a:moveTo>
                    <a:pt x="459989" y="1739174"/>
                  </a:moveTo>
                  <a:lnTo>
                    <a:pt x="459989" y="1879600"/>
                  </a:lnTo>
                  <a:lnTo>
                    <a:pt x="491914" y="1879600"/>
                  </a:lnTo>
                  <a:lnTo>
                    <a:pt x="459989" y="1739174"/>
                  </a:lnTo>
                  <a:close/>
                </a:path>
                <a:path w="11485880" h="4673600">
                  <a:moveTo>
                    <a:pt x="2224216" y="12700"/>
                  </a:moveTo>
                  <a:lnTo>
                    <a:pt x="286090" y="12700"/>
                  </a:lnTo>
                  <a:lnTo>
                    <a:pt x="286090" y="203200"/>
                  </a:lnTo>
                  <a:lnTo>
                    <a:pt x="297310" y="279400"/>
                  </a:lnTo>
                  <a:lnTo>
                    <a:pt x="325358" y="381000"/>
                  </a:lnTo>
                  <a:lnTo>
                    <a:pt x="336577" y="457200"/>
                  </a:lnTo>
                  <a:lnTo>
                    <a:pt x="339382" y="482600"/>
                  </a:lnTo>
                  <a:lnTo>
                    <a:pt x="328163" y="558800"/>
                  </a:lnTo>
                  <a:lnTo>
                    <a:pt x="314139" y="660400"/>
                  </a:lnTo>
                  <a:lnTo>
                    <a:pt x="300114" y="723900"/>
                  </a:lnTo>
                  <a:lnTo>
                    <a:pt x="297310" y="774700"/>
                  </a:lnTo>
                  <a:lnTo>
                    <a:pt x="297310" y="1034256"/>
                  </a:lnTo>
                  <a:lnTo>
                    <a:pt x="316943" y="1117600"/>
                  </a:lnTo>
                  <a:lnTo>
                    <a:pt x="356211" y="1320800"/>
                  </a:lnTo>
                  <a:lnTo>
                    <a:pt x="398283" y="1498600"/>
                  </a:lnTo>
                  <a:lnTo>
                    <a:pt x="454379" y="1714500"/>
                  </a:lnTo>
                  <a:lnTo>
                    <a:pt x="459989" y="1739174"/>
                  </a:lnTo>
                  <a:lnTo>
                    <a:pt x="459989" y="1562100"/>
                  </a:lnTo>
                  <a:lnTo>
                    <a:pt x="451574" y="1346200"/>
                  </a:lnTo>
                  <a:lnTo>
                    <a:pt x="448769" y="965200"/>
                  </a:lnTo>
                  <a:lnTo>
                    <a:pt x="448769" y="927100"/>
                  </a:lnTo>
                  <a:lnTo>
                    <a:pt x="451574" y="876300"/>
                  </a:lnTo>
                  <a:lnTo>
                    <a:pt x="462794" y="825500"/>
                  </a:lnTo>
                  <a:lnTo>
                    <a:pt x="485232" y="685800"/>
                  </a:lnTo>
                  <a:lnTo>
                    <a:pt x="493647" y="609600"/>
                  </a:lnTo>
                  <a:lnTo>
                    <a:pt x="493647" y="342900"/>
                  </a:lnTo>
                  <a:lnTo>
                    <a:pt x="476818" y="228600"/>
                  </a:lnTo>
                  <a:lnTo>
                    <a:pt x="457184" y="165100"/>
                  </a:lnTo>
                  <a:lnTo>
                    <a:pt x="471208" y="152400"/>
                  </a:lnTo>
                  <a:lnTo>
                    <a:pt x="6070816" y="152400"/>
                  </a:lnTo>
                  <a:lnTo>
                    <a:pt x="5920959" y="139700"/>
                  </a:lnTo>
                  <a:lnTo>
                    <a:pt x="5228170" y="63500"/>
                  </a:lnTo>
                  <a:lnTo>
                    <a:pt x="5099149" y="50800"/>
                  </a:lnTo>
                  <a:lnTo>
                    <a:pt x="4953299" y="38100"/>
                  </a:lnTo>
                  <a:lnTo>
                    <a:pt x="2872128" y="38100"/>
                  </a:lnTo>
                  <a:lnTo>
                    <a:pt x="2689815" y="25400"/>
                  </a:lnTo>
                  <a:lnTo>
                    <a:pt x="2224216" y="12700"/>
                  </a:lnTo>
                  <a:close/>
                </a:path>
                <a:path w="11485880" h="4673600">
                  <a:moveTo>
                    <a:pt x="10307687" y="584200"/>
                  </a:moveTo>
                  <a:lnTo>
                    <a:pt x="10304880" y="596900"/>
                  </a:lnTo>
                  <a:lnTo>
                    <a:pt x="10276832" y="673100"/>
                  </a:lnTo>
                  <a:lnTo>
                    <a:pt x="10260004" y="723900"/>
                  </a:lnTo>
                  <a:lnTo>
                    <a:pt x="10259247" y="730756"/>
                  </a:lnTo>
                  <a:lnTo>
                    <a:pt x="10293662" y="736600"/>
                  </a:lnTo>
                  <a:lnTo>
                    <a:pt x="10459145" y="736600"/>
                  </a:lnTo>
                  <a:lnTo>
                    <a:pt x="10307687" y="584200"/>
                  </a:lnTo>
                  <a:close/>
                </a:path>
                <a:path w="11485880" h="4673600">
                  <a:moveTo>
                    <a:pt x="10459145" y="584200"/>
                  </a:moveTo>
                  <a:lnTo>
                    <a:pt x="10307687" y="584200"/>
                  </a:lnTo>
                  <a:lnTo>
                    <a:pt x="10459145" y="736600"/>
                  </a:lnTo>
                  <a:lnTo>
                    <a:pt x="10459145" y="584200"/>
                  </a:lnTo>
                  <a:close/>
                </a:path>
                <a:path w="11485880" h="4673600">
                  <a:moveTo>
                    <a:pt x="6070816" y="152400"/>
                  </a:moveTo>
                  <a:lnTo>
                    <a:pt x="715227" y="152400"/>
                  </a:lnTo>
                  <a:lnTo>
                    <a:pt x="796566" y="165100"/>
                  </a:lnTo>
                  <a:lnTo>
                    <a:pt x="4005272" y="165100"/>
                  </a:lnTo>
                  <a:lnTo>
                    <a:pt x="4257705" y="177800"/>
                  </a:lnTo>
                  <a:lnTo>
                    <a:pt x="4524162" y="177800"/>
                  </a:lnTo>
                  <a:lnTo>
                    <a:pt x="4653184" y="190500"/>
                  </a:lnTo>
                  <a:lnTo>
                    <a:pt x="4947689" y="203200"/>
                  </a:lnTo>
                  <a:lnTo>
                    <a:pt x="5076710" y="215900"/>
                  </a:lnTo>
                  <a:lnTo>
                    <a:pt x="5769499" y="292100"/>
                  </a:lnTo>
                  <a:lnTo>
                    <a:pt x="6818499" y="381000"/>
                  </a:lnTo>
                  <a:lnTo>
                    <a:pt x="7937619" y="495300"/>
                  </a:lnTo>
                  <a:lnTo>
                    <a:pt x="9749528" y="660400"/>
                  </a:lnTo>
                  <a:lnTo>
                    <a:pt x="10069276" y="698500"/>
                  </a:lnTo>
                  <a:lnTo>
                    <a:pt x="10259247" y="730756"/>
                  </a:lnTo>
                  <a:lnTo>
                    <a:pt x="10260004" y="723900"/>
                  </a:lnTo>
                  <a:lnTo>
                    <a:pt x="10276832" y="673100"/>
                  </a:lnTo>
                  <a:lnTo>
                    <a:pt x="10304880" y="596900"/>
                  </a:lnTo>
                  <a:lnTo>
                    <a:pt x="10307687" y="584200"/>
                  </a:lnTo>
                  <a:lnTo>
                    <a:pt x="10459145" y="584200"/>
                  </a:lnTo>
                  <a:lnTo>
                    <a:pt x="10425489" y="571500"/>
                  </a:lnTo>
                  <a:lnTo>
                    <a:pt x="9903792" y="508000"/>
                  </a:lnTo>
                  <a:lnTo>
                    <a:pt x="8091884" y="342900"/>
                  </a:lnTo>
                  <a:lnTo>
                    <a:pt x="6969958" y="228600"/>
                  </a:lnTo>
                  <a:lnTo>
                    <a:pt x="6070816" y="152400"/>
                  </a:lnTo>
                  <a:close/>
                </a:path>
                <a:path w="11485880" h="4673600">
                  <a:moveTo>
                    <a:pt x="4005272" y="165100"/>
                  </a:moveTo>
                  <a:lnTo>
                    <a:pt x="2072756" y="165100"/>
                  </a:lnTo>
                  <a:lnTo>
                    <a:pt x="2602865" y="177800"/>
                  </a:lnTo>
                  <a:lnTo>
                    <a:pt x="2841275" y="190500"/>
                  </a:lnTo>
                  <a:lnTo>
                    <a:pt x="3326507" y="190500"/>
                  </a:lnTo>
                  <a:lnTo>
                    <a:pt x="3503210" y="177800"/>
                  </a:lnTo>
                  <a:lnTo>
                    <a:pt x="3707962" y="177800"/>
                  </a:lnTo>
                  <a:lnTo>
                    <a:pt x="4005272" y="165100"/>
                  </a:lnTo>
                  <a:close/>
                </a:path>
                <a:path w="11485880" h="4673600">
                  <a:moveTo>
                    <a:pt x="4807449" y="25400"/>
                  </a:moveTo>
                  <a:lnTo>
                    <a:pt x="3348946" y="25400"/>
                  </a:lnTo>
                  <a:lnTo>
                    <a:pt x="3175047" y="38100"/>
                  </a:lnTo>
                  <a:lnTo>
                    <a:pt x="4953299" y="38100"/>
                  </a:lnTo>
                  <a:lnTo>
                    <a:pt x="4807449" y="25400"/>
                  </a:lnTo>
                  <a:close/>
                </a:path>
                <a:path w="11485880" h="4673600">
                  <a:moveTo>
                    <a:pt x="4409165" y="12700"/>
                  </a:moveTo>
                  <a:lnTo>
                    <a:pt x="3761253" y="12700"/>
                  </a:lnTo>
                  <a:lnTo>
                    <a:pt x="3556502" y="25400"/>
                  </a:lnTo>
                  <a:lnTo>
                    <a:pt x="4675622" y="25400"/>
                  </a:lnTo>
                  <a:lnTo>
                    <a:pt x="4409165" y="12700"/>
                  </a:lnTo>
                  <a:close/>
                </a:path>
                <a:path w="11485880" h="4673600">
                  <a:moveTo>
                    <a:pt x="866687" y="0"/>
                  </a:moveTo>
                  <a:lnTo>
                    <a:pt x="316943" y="0"/>
                  </a:lnTo>
                  <a:lnTo>
                    <a:pt x="297310" y="12700"/>
                  </a:lnTo>
                  <a:lnTo>
                    <a:pt x="948026" y="12700"/>
                  </a:lnTo>
                  <a:lnTo>
                    <a:pt x="866687" y="0"/>
                  </a:lnTo>
                  <a:close/>
                </a:path>
              </a:pathLst>
            </a:custGeom>
            <a:solidFill>
              <a:srgbClr val="D93025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15" dirty="0"/>
              <a:t>Inhibidores</a:t>
            </a:r>
            <a:r>
              <a:rPr spc="-130" dirty="0"/>
              <a:t> </a:t>
            </a:r>
            <a:r>
              <a:rPr spc="-100" dirty="0"/>
              <a:t>de</a:t>
            </a:r>
            <a:r>
              <a:rPr spc="-140" dirty="0"/>
              <a:t> </a:t>
            </a:r>
            <a:r>
              <a:rPr spc="-295" dirty="0"/>
              <a:t>los</a:t>
            </a:r>
            <a:r>
              <a:rPr spc="-125" dirty="0"/>
              <a:t> </a:t>
            </a:r>
            <a:r>
              <a:rPr spc="-165" dirty="0"/>
              <a:t>canales</a:t>
            </a:r>
            <a:r>
              <a:rPr spc="-130" dirty="0"/>
              <a:t> </a:t>
            </a:r>
            <a:r>
              <a:rPr spc="-235" dirty="0"/>
              <a:t>epiteliales</a:t>
            </a:r>
            <a:r>
              <a:rPr spc="-125" dirty="0"/>
              <a:t> </a:t>
            </a:r>
            <a:r>
              <a:rPr spc="-254" dirty="0"/>
              <a:t>renales</a:t>
            </a:r>
            <a:r>
              <a:rPr spc="-130" dirty="0"/>
              <a:t> </a:t>
            </a:r>
            <a:r>
              <a:rPr spc="-100" dirty="0"/>
              <a:t>de</a:t>
            </a:r>
            <a:r>
              <a:rPr spc="-135" dirty="0"/>
              <a:t> </a:t>
            </a:r>
            <a:r>
              <a:rPr spc="-390" dirty="0"/>
              <a:t>Na+</a:t>
            </a:r>
            <a:endParaRPr spc="-390" dirty="0"/>
          </a:p>
        </p:txBody>
      </p:sp>
      <p:sp>
        <p:nvSpPr>
          <p:cNvPr id="3" name="object 3"/>
          <p:cNvSpPr/>
          <p:nvPr/>
        </p:nvSpPr>
        <p:spPr>
          <a:xfrm>
            <a:off x="0" y="5848289"/>
            <a:ext cx="12192000" cy="400685"/>
          </a:xfrm>
          <a:custGeom>
            <a:avLst/>
            <a:gdLst/>
            <a:ahLst/>
            <a:cxnLst/>
            <a:rect l="l" t="t" r="r" b="b"/>
            <a:pathLst>
              <a:path w="12192000" h="400685">
                <a:moveTo>
                  <a:pt x="12192000" y="0"/>
                </a:moveTo>
                <a:lnTo>
                  <a:pt x="0" y="0"/>
                </a:lnTo>
                <a:lnTo>
                  <a:pt x="0" y="400109"/>
                </a:lnTo>
                <a:lnTo>
                  <a:pt x="12192000" y="400109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792480">
              <a:lnSpc>
                <a:spcPct val="100000"/>
              </a:lnSpc>
              <a:spcBef>
                <a:spcPts val="1105"/>
              </a:spcBef>
            </a:pPr>
            <a:r>
              <a:rPr spc="155" dirty="0"/>
              <a:t>Reacciones</a:t>
            </a:r>
            <a:r>
              <a:rPr spc="-35" dirty="0"/>
              <a:t> </a:t>
            </a:r>
            <a:r>
              <a:rPr spc="95" dirty="0"/>
              <a:t>adversas</a:t>
            </a:r>
            <a:endParaRPr spc="95" dirty="0"/>
          </a:p>
          <a:p>
            <a:pPr marL="792480">
              <a:lnSpc>
                <a:spcPct val="100000"/>
              </a:lnSpc>
              <a:spcBef>
                <a:spcPts val="1010"/>
              </a:spcBef>
              <a:tabLst>
                <a:tab pos="1135380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pc="100" dirty="0"/>
              <a:t>Hipercaliemia</a:t>
            </a:r>
            <a:endParaRPr sz="1600">
              <a:latin typeface="Lucida Sans Unicode" panose="020B0602030504020204"/>
              <a:cs typeface="Lucida Sans Unicode" panose="020B0602030504020204"/>
            </a:endParaRPr>
          </a:p>
          <a:p>
            <a:pPr marL="792480">
              <a:lnSpc>
                <a:spcPct val="100000"/>
              </a:lnSpc>
              <a:spcBef>
                <a:spcPts val="985"/>
              </a:spcBef>
              <a:tabLst>
                <a:tab pos="1135380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pc="114" dirty="0"/>
              <a:t>Nauseas</a:t>
            </a:r>
            <a:r>
              <a:rPr spc="-70" dirty="0"/>
              <a:t> </a:t>
            </a:r>
            <a:r>
              <a:rPr spc="70" dirty="0"/>
              <a:t>y</a:t>
            </a:r>
            <a:r>
              <a:rPr spc="-60" dirty="0"/>
              <a:t> </a:t>
            </a:r>
            <a:r>
              <a:rPr spc="65" dirty="0"/>
              <a:t>vomitos</a:t>
            </a:r>
            <a:endParaRPr sz="1600">
              <a:latin typeface="Lucida Sans Unicode" panose="020B0602030504020204"/>
              <a:cs typeface="Lucida Sans Unicode" panose="020B0602030504020204"/>
            </a:endParaRPr>
          </a:p>
          <a:p>
            <a:pPr marL="792480">
              <a:lnSpc>
                <a:spcPct val="100000"/>
              </a:lnSpc>
              <a:spcBef>
                <a:spcPts val="1005"/>
              </a:spcBef>
              <a:tabLst>
                <a:tab pos="1135380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pc="85" dirty="0"/>
              <a:t>Diarrea</a:t>
            </a:r>
            <a:r>
              <a:rPr spc="-75" dirty="0"/>
              <a:t> </a:t>
            </a:r>
            <a:r>
              <a:rPr spc="70" dirty="0"/>
              <a:t>y</a:t>
            </a:r>
            <a:r>
              <a:rPr spc="-65" dirty="0"/>
              <a:t> </a:t>
            </a:r>
            <a:r>
              <a:rPr spc="195" dirty="0"/>
              <a:t>cefalea</a:t>
            </a:r>
            <a:r>
              <a:rPr spc="-70" dirty="0"/>
              <a:t> </a:t>
            </a:r>
            <a:r>
              <a:rPr spc="65" dirty="0"/>
              <a:t>(amilorida)</a:t>
            </a:r>
            <a:endParaRPr sz="1600">
              <a:latin typeface="Lucida Sans Unicode" panose="020B0602030504020204"/>
              <a:cs typeface="Lucida Sans Unicode" panose="020B0602030504020204"/>
            </a:endParaRPr>
          </a:p>
          <a:p>
            <a:pPr marL="792480">
              <a:lnSpc>
                <a:spcPct val="100000"/>
              </a:lnSpc>
              <a:spcBef>
                <a:spcPts val="1010"/>
              </a:spcBef>
              <a:tabLst>
                <a:tab pos="1135380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pc="150" dirty="0"/>
              <a:t>Calambres</a:t>
            </a:r>
            <a:r>
              <a:rPr spc="-65" dirty="0"/>
              <a:t> </a:t>
            </a:r>
            <a:r>
              <a:rPr spc="70" dirty="0"/>
              <a:t>y</a:t>
            </a:r>
            <a:r>
              <a:rPr spc="-55" dirty="0"/>
              <a:t> </a:t>
            </a:r>
            <a:r>
              <a:rPr spc="114" dirty="0"/>
              <a:t>mareos</a:t>
            </a:r>
            <a:r>
              <a:rPr spc="-60" dirty="0"/>
              <a:t> </a:t>
            </a:r>
            <a:r>
              <a:rPr spc="55" dirty="0"/>
              <a:t>(triamtereno)</a:t>
            </a:r>
            <a:endParaRPr sz="1600">
              <a:latin typeface="Lucida Sans Unicode" panose="020B0602030504020204"/>
              <a:cs typeface="Lucida Sans Unicode" panose="020B0602030504020204"/>
            </a:endParaRPr>
          </a:p>
          <a:p>
            <a:pPr marL="792480">
              <a:lnSpc>
                <a:spcPct val="100000"/>
              </a:lnSpc>
              <a:spcBef>
                <a:spcPts val="985"/>
              </a:spcBef>
              <a:tabLst>
                <a:tab pos="1135380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pc="170" dirty="0"/>
              <a:t>Anemia</a:t>
            </a:r>
            <a:r>
              <a:rPr spc="-65" dirty="0"/>
              <a:t> </a:t>
            </a:r>
            <a:r>
              <a:rPr spc="150" dirty="0"/>
              <a:t>megaloblastica</a:t>
            </a:r>
            <a:r>
              <a:rPr spc="-60" dirty="0"/>
              <a:t> </a:t>
            </a:r>
            <a:r>
              <a:rPr spc="55" dirty="0"/>
              <a:t>(triamtereno)</a:t>
            </a:r>
            <a:endParaRPr sz="1600">
              <a:latin typeface="Lucida Sans Unicode" panose="020B0602030504020204"/>
              <a:cs typeface="Lucida Sans Unicode" panose="020B0602030504020204"/>
            </a:endParaRPr>
          </a:p>
          <a:p>
            <a:pPr marL="792480">
              <a:lnSpc>
                <a:spcPct val="100000"/>
              </a:lnSpc>
              <a:spcBef>
                <a:spcPts val="1005"/>
              </a:spcBef>
              <a:tabLst>
                <a:tab pos="1135380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pc="90" dirty="0"/>
              <a:t>Tolerancia</a:t>
            </a:r>
            <a:r>
              <a:rPr spc="-65" dirty="0"/>
              <a:t> </a:t>
            </a:r>
            <a:r>
              <a:rPr spc="315" dirty="0"/>
              <a:t>a</a:t>
            </a:r>
            <a:r>
              <a:rPr spc="-65" dirty="0"/>
              <a:t> </a:t>
            </a:r>
            <a:r>
              <a:rPr spc="114" dirty="0"/>
              <a:t>la</a:t>
            </a:r>
            <a:r>
              <a:rPr spc="-65" dirty="0"/>
              <a:t> </a:t>
            </a:r>
            <a:r>
              <a:rPr spc="145" dirty="0"/>
              <a:t>glucosa</a:t>
            </a:r>
            <a:r>
              <a:rPr spc="-65" dirty="0"/>
              <a:t> </a:t>
            </a:r>
            <a:r>
              <a:rPr spc="55" dirty="0"/>
              <a:t>(triamtereno)</a:t>
            </a:r>
            <a:endParaRPr sz="1600">
              <a:latin typeface="Lucida Sans Unicode" panose="020B0602030504020204"/>
              <a:cs typeface="Lucida Sans Unicode" panose="020B0602030504020204"/>
            </a:endParaRPr>
          </a:p>
          <a:p>
            <a:pPr marL="792480">
              <a:lnSpc>
                <a:spcPct val="100000"/>
              </a:lnSpc>
              <a:spcBef>
                <a:spcPts val="1010"/>
              </a:spcBef>
              <a:tabLst>
                <a:tab pos="1135380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dirty="0"/>
              <a:t>Nefritis</a:t>
            </a:r>
            <a:r>
              <a:rPr spc="15" dirty="0"/>
              <a:t> </a:t>
            </a:r>
            <a:r>
              <a:rPr dirty="0"/>
              <a:t>intersticial</a:t>
            </a:r>
            <a:r>
              <a:rPr spc="20" dirty="0"/>
              <a:t> </a:t>
            </a:r>
            <a:r>
              <a:rPr spc="70" dirty="0"/>
              <a:t>y</a:t>
            </a:r>
            <a:r>
              <a:rPr spc="25" dirty="0"/>
              <a:t> </a:t>
            </a:r>
            <a:r>
              <a:rPr spc="135" dirty="0"/>
              <a:t>calculos</a:t>
            </a:r>
            <a:r>
              <a:rPr spc="20" dirty="0"/>
              <a:t> </a:t>
            </a:r>
            <a:r>
              <a:rPr spc="80" dirty="0"/>
              <a:t>renales</a:t>
            </a:r>
            <a:r>
              <a:rPr spc="20" dirty="0"/>
              <a:t> </a:t>
            </a:r>
            <a:r>
              <a:rPr spc="55" dirty="0"/>
              <a:t>(triamtereno)</a:t>
            </a:r>
            <a:endParaRPr sz="1600">
              <a:latin typeface="Lucida Sans Unicode" panose="020B0602030504020204"/>
              <a:cs typeface="Lucida Sans Unicode" panose="020B0602030504020204"/>
            </a:endParaRPr>
          </a:p>
          <a:p>
            <a:pPr marL="1905">
              <a:lnSpc>
                <a:spcPct val="100000"/>
              </a:lnSpc>
              <a:spcBef>
                <a:spcPts val="1160"/>
              </a:spcBef>
            </a:pPr>
          </a:p>
          <a:p>
            <a:pPr marL="14605">
              <a:lnSpc>
                <a:spcPct val="100000"/>
              </a:lnSpc>
            </a:pPr>
            <a:r>
              <a:rPr b="1" dirty="0">
                <a:latin typeface="Calibri" panose="020F0502020204030204"/>
                <a:cs typeface="Calibri" panose="020F0502020204030204"/>
              </a:rPr>
              <a:t>Están</a:t>
            </a:r>
            <a:r>
              <a:rPr b="1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b="1" spc="-10" dirty="0">
                <a:latin typeface="Calibri" panose="020F0502020204030204"/>
                <a:cs typeface="Calibri" panose="020F0502020204030204"/>
              </a:rPr>
              <a:t>contraindicados</a:t>
            </a:r>
            <a:r>
              <a:rPr b="1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b="1" dirty="0">
                <a:latin typeface="Calibri" panose="020F0502020204030204"/>
                <a:cs typeface="Calibri" panose="020F0502020204030204"/>
              </a:rPr>
              <a:t>en</a:t>
            </a:r>
            <a:r>
              <a:rPr b="1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b="1" spc="-10" dirty="0">
                <a:latin typeface="Calibri" panose="020F0502020204030204"/>
                <a:cs typeface="Calibri" panose="020F0502020204030204"/>
              </a:rPr>
              <a:t>pacientes</a:t>
            </a:r>
            <a:r>
              <a:rPr b="1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b="1" dirty="0">
                <a:latin typeface="Calibri" panose="020F0502020204030204"/>
                <a:cs typeface="Calibri" panose="020F0502020204030204"/>
              </a:rPr>
              <a:t>con</a:t>
            </a:r>
            <a:r>
              <a:rPr b="1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b="1" spc="-10" dirty="0">
                <a:latin typeface="Calibri" panose="020F0502020204030204"/>
                <a:cs typeface="Calibri" panose="020F0502020204030204"/>
              </a:rPr>
              <a:t>hipercaliemia,</a:t>
            </a:r>
            <a:r>
              <a:rPr b="1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b="1" dirty="0">
                <a:latin typeface="Calibri" panose="020F0502020204030204"/>
                <a:cs typeface="Calibri" panose="020F0502020204030204"/>
              </a:rPr>
              <a:t>así</a:t>
            </a:r>
            <a:r>
              <a:rPr b="1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b="1" dirty="0">
                <a:latin typeface="Calibri" panose="020F0502020204030204"/>
                <a:cs typeface="Calibri" panose="020F0502020204030204"/>
              </a:rPr>
              <a:t>como</a:t>
            </a:r>
            <a:r>
              <a:rPr b="1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b="1" dirty="0">
                <a:latin typeface="Calibri" panose="020F0502020204030204"/>
                <a:cs typeface="Calibri" panose="020F0502020204030204"/>
              </a:rPr>
              <a:t>en</a:t>
            </a:r>
            <a:r>
              <a:rPr b="1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b="1" spc="-10" dirty="0">
                <a:latin typeface="Calibri" panose="020F0502020204030204"/>
                <a:cs typeface="Calibri" panose="020F0502020204030204"/>
              </a:rPr>
              <a:t>pacientes</a:t>
            </a:r>
            <a:r>
              <a:rPr b="1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b="1" dirty="0">
                <a:latin typeface="Calibri" panose="020F0502020204030204"/>
                <a:cs typeface="Calibri" panose="020F0502020204030204"/>
              </a:rPr>
              <a:t>con</a:t>
            </a:r>
            <a:r>
              <a:rPr b="1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b="1" dirty="0">
                <a:latin typeface="Calibri" panose="020F0502020204030204"/>
                <a:cs typeface="Calibri" panose="020F0502020204030204"/>
              </a:rPr>
              <a:t>mayor</a:t>
            </a:r>
            <a:r>
              <a:rPr b="1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b="1" dirty="0">
                <a:latin typeface="Calibri" panose="020F0502020204030204"/>
                <a:cs typeface="Calibri" panose="020F0502020204030204"/>
              </a:rPr>
              <a:t>riesgo</a:t>
            </a:r>
            <a:r>
              <a:rPr b="1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b="1" dirty="0">
                <a:latin typeface="Calibri" panose="020F0502020204030204"/>
                <a:cs typeface="Calibri" panose="020F0502020204030204"/>
              </a:rPr>
              <a:t>de</a:t>
            </a:r>
            <a:r>
              <a:rPr b="1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b="1" spc="-10" dirty="0">
                <a:latin typeface="Calibri" panose="020F0502020204030204"/>
                <a:cs typeface="Calibri" panose="020F0502020204030204"/>
              </a:rPr>
              <a:t>contraerla</a:t>
            </a:r>
            <a:endParaRPr b="1" spc="-1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94752" y="2162555"/>
            <a:ext cx="2626360" cy="194310"/>
          </a:xfrm>
          <a:custGeom>
            <a:avLst/>
            <a:gdLst/>
            <a:ahLst/>
            <a:cxnLst/>
            <a:rect l="l" t="t" r="r" b="b"/>
            <a:pathLst>
              <a:path w="2626360" h="194310">
                <a:moveTo>
                  <a:pt x="2625876" y="0"/>
                </a:moveTo>
                <a:lnTo>
                  <a:pt x="0" y="0"/>
                </a:lnTo>
                <a:lnTo>
                  <a:pt x="0" y="193802"/>
                </a:lnTo>
                <a:lnTo>
                  <a:pt x="2625876" y="193802"/>
                </a:lnTo>
                <a:lnTo>
                  <a:pt x="2625876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70" dirty="0"/>
              <a:t>Antagonistas</a:t>
            </a:r>
            <a:r>
              <a:rPr spc="-145" dirty="0"/>
              <a:t> </a:t>
            </a:r>
            <a:r>
              <a:rPr spc="-105" dirty="0"/>
              <a:t>de</a:t>
            </a:r>
            <a:r>
              <a:rPr spc="-155" dirty="0"/>
              <a:t> </a:t>
            </a:r>
            <a:r>
              <a:rPr spc="-295" dirty="0"/>
              <a:t>los</a:t>
            </a:r>
            <a:r>
              <a:rPr spc="-140" dirty="0"/>
              <a:t> </a:t>
            </a:r>
            <a:r>
              <a:rPr spc="-229" dirty="0"/>
              <a:t>receptores</a:t>
            </a:r>
            <a:r>
              <a:rPr spc="-145" dirty="0"/>
              <a:t> </a:t>
            </a:r>
            <a:r>
              <a:rPr spc="-204" dirty="0"/>
              <a:t>mineralocorticoides</a:t>
            </a:r>
            <a:endParaRPr spc="-204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43127" y="1466088"/>
            <a:ext cx="10482072" cy="536752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737551" y="1016506"/>
            <a:ext cx="8867775" cy="340360"/>
          </a:xfrm>
          <a:custGeom>
            <a:avLst/>
            <a:gdLst/>
            <a:ahLst/>
            <a:cxnLst/>
            <a:rect l="l" t="t" r="r" b="b"/>
            <a:pathLst>
              <a:path w="8867775" h="340359">
                <a:moveTo>
                  <a:pt x="8867585" y="0"/>
                </a:moveTo>
                <a:lnTo>
                  <a:pt x="0" y="0"/>
                </a:lnTo>
                <a:lnTo>
                  <a:pt x="0" y="340310"/>
                </a:lnTo>
                <a:lnTo>
                  <a:pt x="8867585" y="340310"/>
                </a:lnTo>
                <a:lnTo>
                  <a:pt x="8867585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70" dirty="0"/>
              <a:t>Antagonistas</a:t>
            </a:r>
            <a:r>
              <a:rPr spc="-145" dirty="0"/>
              <a:t> </a:t>
            </a:r>
            <a:r>
              <a:rPr spc="-105" dirty="0"/>
              <a:t>de</a:t>
            </a:r>
            <a:r>
              <a:rPr spc="-155" dirty="0"/>
              <a:t> </a:t>
            </a:r>
            <a:r>
              <a:rPr spc="-295" dirty="0"/>
              <a:t>los</a:t>
            </a:r>
            <a:r>
              <a:rPr spc="-140" dirty="0"/>
              <a:t> </a:t>
            </a:r>
            <a:r>
              <a:rPr spc="-229" dirty="0"/>
              <a:t>receptores</a:t>
            </a:r>
            <a:r>
              <a:rPr spc="-145" dirty="0"/>
              <a:t> </a:t>
            </a:r>
            <a:r>
              <a:rPr spc="-204" dirty="0"/>
              <a:t>mineralocorticoides</a:t>
            </a:r>
            <a:endParaRPr spc="-204" dirty="0"/>
          </a:p>
        </p:txBody>
      </p:sp>
      <p:sp>
        <p:nvSpPr>
          <p:cNvPr id="3" name="object 3"/>
          <p:cNvSpPr txBox="1"/>
          <p:nvPr/>
        </p:nvSpPr>
        <p:spPr>
          <a:xfrm>
            <a:off x="1182052" y="1958340"/>
            <a:ext cx="4910455" cy="132080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2000" spc="8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Efectos</a:t>
            </a:r>
            <a:r>
              <a:rPr sz="20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en</a:t>
            </a:r>
            <a:r>
              <a:rPr sz="2000" spc="-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14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la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4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excreción</a:t>
            </a:r>
            <a:r>
              <a:rPr sz="2000" spc="-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4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urinaria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↑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Na+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-18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(&lt;2%</a:t>
            </a:r>
            <a:r>
              <a:rPr sz="20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2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de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14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la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21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carga</a:t>
            </a:r>
            <a:r>
              <a:rPr sz="20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filtrada)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y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Cl-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↓</a:t>
            </a:r>
            <a:r>
              <a:rPr sz="20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-1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K+,</a:t>
            </a:r>
            <a:r>
              <a:rPr sz="20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-9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H+,</a:t>
            </a:r>
            <a:r>
              <a:rPr sz="2000" spc="-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3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Ca</a:t>
            </a:r>
            <a:r>
              <a:rPr sz="20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-1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2+,</a:t>
            </a:r>
            <a:r>
              <a:rPr sz="2000" spc="-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Mg2+</a:t>
            </a:r>
            <a:endParaRPr sz="2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82052" y="3381755"/>
            <a:ext cx="198945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↓</a:t>
            </a:r>
            <a:r>
              <a:rPr sz="20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204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Acido</a:t>
            </a:r>
            <a:r>
              <a:rPr sz="20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8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urico</a:t>
            </a:r>
            <a:endParaRPr sz="2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82052" y="4116323"/>
            <a:ext cx="4107179" cy="89154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2000" spc="8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Efectos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en</a:t>
            </a:r>
            <a:r>
              <a:rPr sz="2000" spc="-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14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la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hemodinamia</a:t>
            </a:r>
            <a:r>
              <a:rPr sz="20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renal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Sin</a:t>
            </a:r>
            <a:r>
              <a:rPr sz="2000" spc="-13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2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efectos</a:t>
            </a:r>
            <a:endParaRPr sz="2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952016" y="3347364"/>
            <a:ext cx="3347720" cy="923925"/>
          </a:xfrm>
          <a:custGeom>
            <a:avLst/>
            <a:gdLst/>
            <a:ahLst/>
            <a:cxnLst/>
            <a:rect l="l" t="t" r="r" b="b"/>
            <a:pathLst>
              <a:path w="3347720" h="923925">
                <a:moveTo>
                  <a:pt x="3347351" y="0"/>
                </a:moveTo>
                <a:lnTo>
                  <a:pt x="0" y="0"/>
                </a:lnTo>
                <a:lnTo>
                  <a:pt x="0" y="923328"/>
                </a:lnTo>
                <a:lnTo>
                  <a:pt x="3347351" y="923328"/>
                </a:lnTo>
                <a:lnTo>
                  <a:pt x="334735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952016" y="3347364"/>
            <a:ext cx="3347720" cy="92392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746125">
              <a:lnSpc>
                <a:spcPts val="2135"/>
              </a:lnSpc>
              <a:spcBef>
                <a:spcPts val="355"/>
              </a:spcBef>
            </a:pPr>
            <a:r>
              <a:rPr sz="1800" spc="70" dirty="0">
                <a:solidFill>
                  <a:srgbClr val="17406D"/>
                </a:solidFill>
                <a:latin typeface="Tahoma" panose="020B0604030504040204"/>
                <a:cs typeface="Tahoma" panose="020B0604030504040204"/>
              </a:rPr>
              <a:t>Espironolactona:</a:t>
            </a:r>
            <a:endParaRPr sz="1800">
              <a:latin typeface="Tahoma" panose="020B0604030504040204"/>
              <a:cs typeface="Tahoma" panose="020B0604030504040204"/>
            </a:endParaRPr>
          </a:p>
          <a:p>
            <a:pPr marL="120650" marR="113030" indent="154305">
              <a:lnSpc>
                <a:spcPts val="2180"/>
              </a:lnSpc>
              <a:spcBef>
                <a:spcPts val="30"/>
              </a:spcBef>
            </a:pPr>
            <a:r>
              <a:rPr sz="1800" spc="80" dirty="0">
                <a:solidFill>
                  <a:srgbClr val="17406D"/>
                </a:solidFill>
                <a:latin typeface="Tahoma" panose="020B0604030504040204"/>
                <a:cs typeface="Tahoma" panose="020B0604030504040204"/>
              </a:rPr>
              <a:t>Efectos</a:t>
            </a:r>
            <a:r>
              <a:rPr sz="1800" spc="-65" dirty="0">
                <a:solidFill>
                  <a:srgbClr val="17406D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155" dirty="0">
                <a:solidFill>
                  <a:srgbClr val="17406D"/>
                </a:solidFill>
                <a:latin typeface="Tahoma" panose="020B0604030504040204"/>
                <a:cs typeface="Tahoma" panose="020B0604030504040204"/>
              </a:rPr>
              <a:t>en</a:t>
            </a:r>
            <a:r>
              <a:rPr sz="1800" spc="-55" dirty="0">
                <a:solidFill>
                  <a:srgbClr val="17406D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105" dirty="0">
                <a:solidFill>
                  <a:srgbClr val="17406D"/>
                </a:solidFill>
                <a:latin typeface="Tahoma" panose="020B0604030504040204"/>
                <a:cs typeface="Tahoma" panose="020B0604030504040204"/>
              </a:rPr>
              <a:t>receptores</a:t>
            </a:r>
            <a:r>
              <a:rPr sz="1800" spc="-50" dirty="0">
                <a:solidFill>
                  <a:srgbClr val="17406D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195" dirty="0">
                <a:solidFill>
                  <a:srgbClr val="17406D"/>
                </a:solidFill>
                <a:latin typeface="Tahoma" panose="020B0604030504040204"/>
                <a:cs typeface="Tahoma" panose="020B0604030504040204"/>
              </a:rPr>
              <a:t>de </a:t>
            </a:r>
            <a:r>
              <a:rPr sz="1800" spc="105" dirty="0">
                <a:solidFill>
                  <a:srgbClr val="17406D"/>
                </a:solidFill>
                <a:latin typeface="Tahoma" panose="020B0604030504040204"/>
                <a:cs typeface="Tahoma" panose="020B0604030504040204"/>
              </a:rPr>
              <a:t>progesterona</a:t>
            </a:r>
            <a:r>
              <a:rPr sz="1800" spc="-60" dirty="0">
                <a:solidFill>
                  <a:srgbClr val="17406D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60" dirty="0">
                <a:solidFill>
                  <a:srgbClr val="17406D"/>
                </a:solidFill>
                <a:latin typeface="Tahoma" panose="020B0604030504040204"/>
                <a:cs typeface="Tahoma" panose="020B0604030504040204"/>
              </a:rPr>
              <a:t>y</a:t>
            </a:r>
            <a:r>
              <a:rPr sz="1800" spc="-55" dirty="0">
                <a:solidFill>
                  <a:srgbClr val="17406D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114" dirty="0">
                <a:solidFill>
                  <a:srgbClr val="17406D"/>
                </a:solidFill>
                <a:latin typeface="Tahoma" panose="020B0604030504040204"/>
                <a:cs typeface="Tahoma" panose="020B0604030504040204"/>
              </a:rPr>
              <a:t>androgenos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94752" y="2154935"/>
            <a:ext cx="3858260" cy="201930"/>
          </a:xfrm>
          <a:custGeom>
            <a:avLst/>
            <a:gdLst/>
            <a:ahLst/>
            <a:cxnLst/>
            <a:rect l="l" t="t" r="r" b="b"/>
            <a:pathLst>
              <a:path w="3858260" h="201930">
                <a:moveTo>
                  <a:pt x="3858054" y="0"/>
                </a:moveTo>
                <a:lnTo>
                  <a:pt x="0" y="0"/>
                </a:lnTo>
                <a:lnTo>
                  <a:pt x="0" y="201421"/>
                </a:lnTo>
                <a:lnTo>
                  <a:pt x="3858054" y="201421"/>
                </a:lnTo>
                <a:lnTo>
                  <a:pt x="3858054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194752" y="2595371"/>
            <a:ext cx="4885055" cy="243840"/>
          </a:xfrm>
          <a:custGeom>
            <a:avLst/>
            <a:gdLst/>
            <a:ahLst/>
            <a:cxnLst/>
            <a:rect l="l" t="t" r="r" b="b"/>
            <a:pathLst>
              <a:path w="4885055" h="243839">
                <a:moveTo>
                  <a:pt x="4884929" y="0"/>
                </a:moveTo>
                <a:lnTo>
                  <a:pt x="0" y="0"/>
                </a:lnTo>
                <a:lnTo>
                  <a:pt x="0" y="243331"/>
                </a:lnTo>
                <a:lnTo>
                  <a:pt x="4884929" y="243331"/>
                </a:lnTo>
                <a:lnTo>
                  <a:pt x="4884929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194752" y="3028695"/>
            <a:ext cx="3035300" cy="240029"/>
          </a:xfrm>
          <a:custGeom>
            <a:avLst/>
            <a:gdLst/>
            <a:ahLst/>
            <a:cxnLst/>
            <a:rect l="l" t="t" r="r" b="b"/>
            <a:pathLst>
              <a:path w="3035300" h="240029">
                <a:moveTo>
                  <a:pt x="3035045" y="0"/>
                </a:moveTo>
                <a:lnTo>
                  <a:pt x="0" y="0"/>
                </a:lnTo>
                <a:lnTo>
                  <a:pt x="0" y="239776"/>
                </a:lnTo>
                <a:lnTo>
                  <a:pt x="3035045" y="239776"/>
                </a:lnTo>
                <a:lnTo>
                  <a:pt x="3035045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194752" y="3457955"/>
            <a:ext cx="1964055" cy="243840"/>
          </a:xfrm>
          <a:custGeom>
            <a:avLst/>
            <a:gdLst/>
            <a:ahLst/>
            <a:cxnLst/>
            <a:rect l="l" t="t" r="r" b="b"/>
            <a:pathLst>
              <a:path w="1964055" h="243839">
                <a:moveTo>
                  <a:pt x="1963445" y="0"/>
                </a:moveTo>
                <a:lnTo>
                  <a:pt x="0" y="0"/>
                </a:lnTo>
                <a:lnTo>
                  <a:pt x="0" y="243332"/>
                </a:lnTo>
                <a:lnTo>
                  <a:pt x="1963445" y="243332"/>
                </a:lnTo>
                <a:lnTo>
                  <a:pt x="1963445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194752" y="4320539"/>
            <a:ext cx="4081779" cy="194310"/>
          </a:xfrm>
          <a:custGeom>
            <a:avLst/>
            <a:gdLst/>
            <a:ahLst/>
            <a:cxnLst/>
            <a:rect l="l" t="t" r="r" b="b"/>
            <a:pathLst>
              <a:path w="4081779" h="194310">
                <a:moveTo>
                  <a:pt x="4081471" y="0"/>
                </a:moveTo>
                <a:lnTo>
                  <a:pt x="0" y="0"/>
                </a:lnTo>
                <a:lnTo>
                  <a:pt x="0" y="193802"/>
                </a:lnTo>
                <a:lnTo>
                  <a:pt x="4081471" y="193802"/>
                </a:lnTo>
                <a:lnTo>
                  <a:pt x="4081471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194752" y="4753355"/>
            <a:ext cx="1670685" cy="201930"/>
          </a:xfrm>
          <a:custGeom>
            <a:avLst/>
            <a:gdLst/>
            <a:ahLst/>
            <a:cxnLst/>
            <a:rect l="l" t="t" r="r" b="b"/>
            <a:pathLst>
              <a:path w="1670685" h="201929">
                <a:moveTo>
                  <a:pt x="1670201" y="0"/>
                </a:moveTo>
                <a:lnTo>
                  <a:pt x="0" y="0"/>
                </a:lnTo>
                <a:lnTo>
                  <a:pt x="0" y="201676"/>
                </a:lnTo>
                <a:lnTo>
                  <a:pt x="1670201" y="201676"/>
                </a:lnTo>
                <a:lnTo>
                  <a:pt x="1670201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698586" y="3449573"/>
            <a:ext cx="1854200" cy="215900"/>
          </a:xfrm>
          <a:custGeom>
            <a:avLst/>
            <a:gdLst/>
            <a:ahLst/>
            <a:cxnLst/>
            <a:rect l="l" t="t" r="r" b="b"/>
            <a:pathLst>
              <a:path w="1854200" h="215900">
                <a:moveTo>
                  <a:pt x="1854060" y="0"/>
                </a:moveTo>
                <a:lnTo>
                  <a:pt x="0" y="0"/>
                </a:lnTo>
                <a:lnTo>
                  <a:pt x="0" y="215569"/>
                </a:lnTo>
                <a:lnTo>
                  <a:pt x="1854060" y="215569"/>
                </a:lnTo>
                <a:lnTo>
                  <a:pt x="1854060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227922" y="3717797"/>
            <a:ext cx="2859405" cy="215900"/>
          </a:xfrm>
          <a:custGeom>
            <a:avLst/>
            <a:gdLst/>
            <a:ahLst/>
            <a:cxnLst/>
            <a:rect l="l" t="t" r="r" b="b"/>
            <a:pathLst>
              <a:path w="2859404" h="215900">
                <a:moveTo>
                  <a:pt x="2858827" y="0"/>
                </a:moveTo>
                <a:lnTo>
                  <a:pt x="0" y="0"/>
                </a:lnTo>
                <a:lnTo>
                  <a:pt x="0" y="215569"/>
                </a:lnTo>
                <a:lnTo>
                  <a:pt x="2858827" y="215569"/>
                </a:lnTo>
                <a:lnTo>
                  <a:pt x="2858827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8073111" y="3998366"/>
            <a:ext cx="3016885" cy="215900"/>
          </a:xfrm>
          <a:custGeom>
            <a:avLst/>
            <a:gdLst/>
            <a:ahLst/>
            <a:cxnLst/>
            <a:rect l="l" t="t" r="r" b="b"/>
            <a:pathLst>
              <a:path w="3016884" h="215900">
                <a:moveTo>
                  <a:pt x="3016788" y="0"/>
                </a:moveTo>
                <a:lnTo>
                  <a:pt x="0" y="0"/>
                </a:lnTo>
                <a:lnTo>
                  <a:pt x="0" y="215569"/>
                </a:lnTo>
                <a:lnTo>
                  <a:pt x="3016788" y="215569"/>
                </a:lnTo>
                <a:lnTo>
                  <a:pt x="3016788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70" dirty="0"/>
              <a:t>Antagonistas</a:t>
            </a:r>
            <a:r>
              <a:rPr spc="-145" dirty="0"/>
              <a:t> </a:t>
            </a:r>
            <a:r>
              <a:rPr spc="-105" dirty="0"/>
              <a:t>de</a:t>
            </a:r>
            <a:r>
              <a:rPr spc="-155" dirty="0"/>
              <a:t> </a:t>
            </a:r>
            <a:r>
              <a:rPr spc="-295" dirty="0"/>
              <a:t>los</a:t>
            </a:r>
            <a:r>
              <a:rPr spc="-140" dirty="0"/>
              <a:t> </a:t>
            </a:r>
            <a:r>
              <a:rPr spc="-229" dirty="0"/>
              <a:t>receptores</a:t>
            </a:r>
            <a:r>
              <a:rPr spc="-145" dirty="0"/>
              <a:t> </a:t>
            </a:r>
            <a:r>
              <a:rPr spc="-204" dirty="0"/>
              <a:t>mineralocorticoides</a:t>
            </a:r>
            <a:endParaRPr spc="-204" dirty="0"/>
          </a:p>
        </p:txBody>
      </p:sp>
      <p:grpSp>
        <p:nvGrpSpPr>
          <p:cNvPr id="3" name="object 3"/>
          <p:cNvGrpSpPr/>
          <p:nvPr/>
        </p:nvGrpSpPr>
        <p:grpSpPr>
          <a:xfrm>
            <a:off x="1908349" y="1515242"/>
            <a:ext cx="9114155" cy="5342890"/>
            <a:chOff x="1908349" y="1515242"/>
            <a:chExt cx="9114155" cy="534289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670047" y="2148839"/>
              <a:ext cx="7168896" cy="400202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908340" y="1515249"/>
              <a:ext cx="9114155" cy="5342890"/>
            </a:xfrm>
            <a:custGeom>
              <a:avLst/>
              <a:gdLst/>
              <a:ahLst/>
              <a:cxnLst/>
              <a:rect l="l" t="t" r="r" b="b"/>
              <a:pathLst>
                <a:path w="9114155" h="5342890">
                  <a:moveTo>
                    <a:pt x="9113660" y="1543380"/>
                  </a:moveTo>
                  <a:lnTo>
                    <a:pt x="9106979" y="1422730"/>
                  </a:lnTo>
                  <a:lnTo>
                    <a:pt x="9095854" y="1304721"/>
                  </a:lnTo>
                  <a:lnTo>
                    <a:pt x="9080271" y="1201293"/>
                  </a:lnTo>
                  <a:lnTo>
                    <a:pt x="9064688" y="1104506"/>
                  </a:lnTo>
                  <a:lnTo>
                    <a:pt x="9011285" y="857872"/>
                  </a:lnTo>
                  <a:lnTo>
                    <a:pt x="8933383" y="539648"/>
                  </a:lnTo>
                  <a:lnTo>
                    <a:pt x="8917813" y="485292"/>
                  </a:lnTo>
                  <a:lnTo>
                    <a:pt x="8871064" y="375234"/>
                  </a:lnTo>
                  <a:lnTo>
                    <a:pt x="8864397" y="373913"/>
                  </a:lnTo>
                  <a:lnTo>
                    <a:pt x="8817661" y="373913"/>
                  </a:lnTo>
                  <a:lnTo>
                    <a:pt x="8800490" y="371259"/>
                  </a:lnTo>
                  <a:lnTo>
                    <a:pt x="8757564" y="364629"/>
                  </a:lnTo>
                  <a:lnTo>
                    <a:pt x="8717509" y="363308"/>
                  </a:lnTo>
                  <a:lnTo>
                    <a:pt x="8370316" y="363308"/>
                  </a:lnTo>
                  <a:lnTo>
                    <a:pt x="8192275" y="371259"/>
                  </a:lnTo>
                  <a:lnTo>
                    <a:pt x="8085455" y="365950"/>
                  </a:lnTo>
                  <a:lnTo>
                    <a:pt x="8009776" y="359321"/>
                  </a:lnTo>
                  <a:lnTo>
                    <a:pt x="7809484" y="336791"/>
                  </a:lnTo>
                  <a:lnTo>
                    <a:pt x="7315403" y="274472"/>
                  </a:lnTo>
                  <a:lnTo>
                    <a:pt x="7188505" y="260273"/>
                  </a:lnTo>
                  <a:lnTo>
                    <a:pt x="7188505" y="430047"/>
                  </a:lnTo>
                  <a:lnTo>
                    <a:pt x="6910819" y="480314"/>
                  </a:lnTo>
                  <a:lnTo>
                    <a:pt x="6738074" y="506641"/>
                  </a:lnTo>
                  <a:lnTo>
                    <a:pt x="6424968" y="548754"/>
                  </a:lnTo>
                  <a:lnTo>
                    <a:pt x="6317005" y="559282"/>
                  </a:lnTo>
                  <a:lnTo>
                    <a:pt x="6200038" y="568502"/>
                  </a:lnTo>
                  <a:lnTo>
                    <a:pt x="6086678" y="575081"/>
                  </a:lnTo>
                  <a:lnTo>
                    <a:pt x="5964313" y="579031"/>
                  </a:lnTo>
                  <a:lnTo>
                    <a:pt x="5651208" y="582980"/>
                  </a:lnTo>
                  <a:lnTo>
                    <a:pt x="5035804" y="582980"/>
                  </a:lnTo>
                  <a:lnTo>
                    <a:pt x="4864862" y="580339"/>
                  </a:lnTo>
                  <a:lnTo>
                    <a:pt x="4690313" y="576389"/>
                  </a:lnTo>
                  <a:lnTo>
                    <a:pt x="4423994" y="564553"/>
                  </a:lnTo>
                  <a:lnTo>
                    <a:pt x="4091101" y="543496"/>
                  </a:lnTo>
                  <a:lnTo>
                    <a:pt x="3858971" y="536905"/>
                  </a:lnTo>
                  <a:lnTo>
                    <a:pt x="3787000" y="531647"/>
                  </a:lnTo>
                  <a:lnTo>
                    <a:pt x="3648443" y="517169"/>
                  </a:lnTo>
                  <a:lnTo>
                    <a:pt x="3529673" y="504012"/>
                  </a:lnTo>
                  <a:lnTo>
                    <a:pt x="3306546" y="488213"/>
                  </a:lnTo>
                  <a:lnTo>
                    <a:pt x="2962859" y="467156"/>
                  </a:lnTo>
                  <a:lnTo>
                    <a:pt x="2862084" y="459257"/>
                  </a:lnTo>
                  <a:lnTo>
                    <a:pt x="2761323" y="450049"/>
                  </a:lnTo>
                  <a:lnTo>
                    <a:pt x="2595778" y="427672"/>
                  </a:lnTo>
                  <a:lnTo>
                    <a:pt x="2415832" y="396087"/>
                  </a:lnTo>
                  <a:lnTo>
                    <a:pt x="2264676" y="363181"/>
                  </a:lnTo>
                  <a:lnTo>
                    <a:pt x="2095525" y="322389"/>
                  </a:lnTo>
                  <a:lnTo>
                    <a:pt x="2048738" y="305282"/>
                  </a:lnTo>
                  <a:lnTo>
                    <a:pt x="1870595" y="236842"/>
                  </a:lnTo>
                  <a:lnTo>
                    <a:pt x="1775231" y="189458"/>
                  </a:lnTo>
                  <a:lnTo>
                    <a:pt x="1729320" y="163017"/>
                  </a:lnTo>
                  <a:lnTo>
                    <a:pt x="1962708" y="162750"/>
                  </a:lnTo>
                  <a:lnTo>
                    <a:pt x="1976297" y="163093"/>
                  </a:lnTo>
                  <a:lnTo>
                    <a:pt x="2156561" y="177673"/>
                  </a:lnTo>
                  <a:lnTo>
                    <a:pt x="2292324" y="182981"/>
                  </a:lnTo>
                  <a:lnTo>
                    <a:pt x="2862072" y="184023"/>
                  </a:lnTo>
                  <a:lnTo>
                    <a:pt x="2862072" y="184302"/>
                  </a:lnTo>
                  <a:lnTo>
                    <a:pt x="3013405" y="184302"/>
                  </a:lnTo>
                  <a:lnTo>
                    <a:pt x="3113557" y="184302"/>
                  </a:lnTo>
                  <a:lnTo>
                    <a:pt x="3227057" y="182981"/>
                  </a:lnTo>
                  <a:lnTo>
                    <a:pt x="3427361" y="177673"/>
                  </a:lnTo>
                  <a:lnTo>
                    <a:pt x="3703332" y="161759"/>
                  </a:lnTo>
                  <a:lnTo>
                    <a:pt x="3919207" y="152476"/>
                  </a:lnTo>
                  <a:lnTo>
                    <a:pt x="4037165" y="157784"/>
                  </a:lnTo>
                  <a:lnTo>
                    <a:pt x="5568340" y="265188"/>
                  </a:lnTo>
                  <a:lnTo>
                    <a:pt x="6761239" y="381863"/>
                  </a:lnTo>
                  <a:lnTo>
                    <a:pt x="7164070" y="426948"/>
                  </a:lnTo>
                  <a:lnTo>
                    <a:pt x="7188505" y="430047"/>
                  </a:lnTo>
                  <a:lnTo>
                    <a:pt x="7188505" y="260273"/>
                  </a:lnTo>
                  <a:lnTo>
                    <a:pt x="6912584" y="229387"/>
                  </a:lnTo>
                  <a:lnTo>
                    <a:pt x="6139878" y="152476"/>
                  </a:lnTo>
                  <a:lnTo>
                    <a:pt x="5719686" y="112699"/>
                  </a:lnTo>
                  <a:lnTo>
                    <a:pt x="4188498" y="5308"/>
                  </a:lnTo>
                  <a:lnTo>
                    <a:pt x="4061637" y="0"/>
                  </a:lnTo>
                  <a:lnTo>
                    <a:pt x="3781221" y="0"/>
                  </a:lnTo>
                  <a:lnTo>
                    <a:pt x="3276015" y="25196"/>
                  </a:lnTo>
                  <a:lnTo>
                    <a:pt x="3073501" y="30492"/>
                  </a:lnTo>
                  <a:lnTo>
                    <a:pt x="2970606" y="31737"/>
                  </a:lnTo>
                  <a:lnTo>
                    <a:pt x="2445893" y="30492"/>
                  </a:lnTo>
                  <a:lnTo>
                    <a:pt x="2310130" y="25196"/>
                  </a:lnTo>
                  <a:lnTo>
                    <a:pt x="2129866" y="10604"/>
                  </a:lnTo>
                  <a:lnTo>
                    <a:pt x="1504480" y="10604"/>
                  </a:lnTo>
                  <a:lnTo>
                    <a:pt x="1277454" y="21005"/>
                  </a:lnTo>
                  <a:lnTo>
                    <a:pt x="1156220" y="21005"/>
                  </a:lnTo>
                  <a:lnTo>
                    <a:pt x="1113040" y="27584"/>
                  </a:lnTo>
                  <a:lnTo>
                    <a:pt x="1037463" y="49961"/>
                  </a:lnTo>
                  <a:lnTo>
                    <a:pt x="988872" y="61798"/>
                  </a:lnTo>
                  <a:lnTo>
                    <a:pt x="963015" y="73152"/>
                  </a:lnTo>
                  <a:lnTo>
                    <a:pt x="854621" y="98120"/>
                  </a:lnTo>
                  <a:lnTo>
                    <a:pt x="721080" y="135242"/>
                  </a:lnTo>
                  <a:lnTo>
                    <a:pt x="634288" y="161759"/>
                  </a:lnTo>
                  <a:lnTo>
                    <a:pt x="603123" y="167068"/>
                  </a:lnTo>
                  <a:lnTo>
                    <a:pt x="498525" y="241312"/>
                  </a:lnTo>
                  <a:lnTo>
                    <a:pt x="425081" y="283743"/>
                  </a:lnTo>
                  <a:lnTo>
                    <a:pt x="316026" y="352691"/>
                  </a:lnTo>
                  <a:lnTo>
                    <a:pt x="164693" y="436232"/>
                  </a:lnTo>
                  <a:lnTo>
                    <a:pt x="97929" y="478663"/>
                  </a:lnTo>
                  <a:lnTo>
                    <a:pt x="51193" y="518439"/>
                  </a:lnTo>
                  <a:lnTo>
                    <a:pt x="22263" y="562190"/>
                  </a:lnTo>
                  <a:lnTo>
                    <a:pt x="2222" y="658990"/>
                  </a:lnTo>
                  <a:lnTo>
                    <a:pt x="0" y="705396"/>
                  </a:lnTo>
                  <a:lnTo>
                    <a:pt x="0" y="983843"/>
                  </a:lnTo>
                  <a:lnTo>
                    <a:pt x="6680" y="1064729"/>
                  </a:lnTo>
                  <a:lnTo>
                    <a:pt x="24485" y="1205268"/>
                  </a:lnTo>
                  <a:lnTo>
                    <a:pt x="35610" y="1279525"/>
                  </a:lnTo>
                  <a:lnTo>
                    <a:pt x="80124" y="1471790"/>
                  </a:lnTo>
                  <a:lnTo>
                    <a:pt x="146888" y="1792655"/>
                  </a:lnTo>
                  <a:lnTo>
                    <a:pt x="164693" y="1884146"/>
                  </a:lnTo>
                  <a:lnTo>
                    <a:pt x="198081" y="2087016"/>
                  </a:lnTo>
                  <a:lnTo>
                    <a:pt x="253720" y="2508669"/>
                  </a:lnTo>
                  <a:lnTo>
                    <a:pt x="267068" y="2620048"/>
                  </a:lnTo>
                  <a:lnTo>
                    <a:pt x="280428" y="2752636"/>
                  </a:lnTo>
                  <a:lnTo>
                    <a:pt x="289331" y="2893187"/>
                  </a:lnTo>
                  <a:lnTo>
                    <a:pt x="302679" y="3161030"/>
                  </a:lnTo>
                  <a:lnTo>
                    <a:pt x="322707" y="3599916"/>
                  </a:lnTo>
                  <a:lnTo>
                    <a:pt x="327063" y="3725875"/>
                  </a:lnTo>
                  <a:lnTo>
                    <a:pt x="327164" y="3728529"/>
                  </a:lnTo>
                  <a:lnTo>
                    <a:pt x="331609" y="4001668"/>
                  </a:lnTo>
                  <a:lnTo>
                    <a:pt x="329399" y="4561217"/>
                  </a:lnTo>
                  <a:lnTo>
                    <a:pt x="329387" y="4565193"/>
                  </a:lnTo>
                  <a:lnTo>
                    <a:pt x="320484" y="4825073"/>
                  </a:lnTo>
                  <a:lnTo>
                    <a:pt x="320421" y="5041201"/>
                  </a:lnTo>
                  <a:lnTo>
                    <a:pt x="318338" y="5183073"/>
                  </a:lnTo>
                  <a:lnTo>
                    <a:pt x="318262" y="5188382"/>
                  </a:lnTo>
                  <a:lnTo>
                    <a:pt x="309359" y="5249367"/>
                  </a:lnTo>
                  <a:lnTo>
                    <a:pt x="309359" y="5342750"/>
                  </a:lnTo>
                  <a:lnTo>
                    <a:pt x="471538" y="5342750"/>
                  </a:lnTo>
                  <a:lnTo>
                    <a:pt x="471817" y="5340858"/>
                  </a:lnTo>
                  <a:lnTo>
                    <a:pt x="471817" y="4977562"/>
                  </a:lnTo>
                  <a:lnTo>
                    <a:pt x="482942" y="4717669"/>
                  </a:lnTo>
                  <a:lnTo>
                    <a:pt x="482942" y="3849192"/>
                  </a:lnTo>
                  <a:lnTo>
                    <a:pt x="480720" y="3576040"/>
                  </a:lnTo>
                  <a:lnTo>
                    <a:pt x="476275" y="3447427"/>
                  </a:lnTo>
                  <a:lnTo>
                    <a:pt x="456247" y="3008541"/>
                  </a:lnTo>
                  <a:lnTo>
                    <a:pt x="442887" y="2740710"/>
                  </a:lnTo>
                  <a:lnTo>
                    <a:pt x="431761" y="2600160"/>
                  </a:lnTo>
                  <a:lnTo>
                    <a:pt x="418401" y="2467559"/>
                  </a:lnTo>
                  <a:lnTo>
                    <a:pt x="405053" y="2356180"/>
                  </a:lnTo>
                  <a:lnTo>
                    <a:pt x="349415" y="1934540"/>
                  </a:lnTo>
                  <a:lnTo>
                    <a:pt x="316026" y="1731670"/>
                  </a:lnTo>
                  <a:lnTo>
                    <a:pt x="298221" y="1640179"/>
                  </a:lnTo>
                  <a:lnTo>
                    <a:pt x="231457" y="1319301"/>
                  </a:lnTo>
                  <a:lnTo>
                    <a:pt x="189179" y="1127048"/>
                  </a:lnTo>
                  <a:lnTo>
                    <a:pt x="175818" y="1052791"/>
                  </a:lnTo>
                  <a:lnTo>
                    <a:pt x="160248" y="912241"/>
                  </a:lnTo>
                  <a:lnTo>
                    <a:pt x="153568" y="840638"/>
                  </a:lnTo>
                  <a:lnTo>
                    <a:pt x="155790" y="811466"/>
                  </a:lnTo>
                  <a:lnTo>
                    <a:pt x="164693" y="749147"/>
                  </a:lnTo>
                  <a:lnTo>
                    <a:pt x="182499" y="698766"/>
                  </a:lnTo>
                  <a:lnTo>
                    <a:pt x="222554" y="652360"/>
                  </a:lnTo>
                  <a:lnTo>
                    <a:pt x="253580" y="629805"/>
                  </a:lnTo>
                  <a:lnTo>
                    <a:pt x="255968" y="684860"/>
                  </a:lnTo>
                  <a:lnTo>
                    <a:pt x="271043" y="818007"/>
                  </a:lnTo>
                  <a:lnTo>
                    <a:pt x="285292" y="901522"/>
                  </a:lnTo>
                  <a:lnTo>
                    <a:pt x="337235" y="1143609"/>
                  </a:lnTo>
                  <a:lnTo>
                    <a:pt x="363207" y="1261021"/>
                  </a:lnTo>
                  <a:lnTo>
                    <a:pt x="466267" y="1788756"/>
                  </a:lnTo>
                  <a:lnTo>
                    <a:pt x="510679" y="2042947"/>
                  </a:lnTo>
                  <a:lnTo>
                    <a:pt x="552564" y="2299563"/>
                  </a:lnTo>
                  <a:lnTo>
                    <a:pt x="621271" y="2671153"/>
                  </a:lnTo>
                  <a:lnTo>
                    <a:pt x="672376" y="2922930"/>
                  </a:lnTo>
                  <a:lnTo>
                    <a:pt x="801408" y="3517239"/>
                  </a:lnTo>
                  <a:lnTo>
                    <a:pt x="818172" y="3610445"/>
                  </a:lnTo>
                  <a:lnTo>
                    <a:pt x="830732" y="3700018"/>
                  </a:lnTo>
                  <a:lnTo>
                    <a:pt x="839114" y="3789578"/>
                  </a:lnTo>
                  <a:lnTo>
                    <a:pt x="844981" y="3879151"/>
                  </a:lnTo>
                  <a:lnTo>
                    <a:pt x="845820" y="3939679"/>
                  </a:lnTo>
                  <a:lnTo>
                    <a:pt x="839952" y="4080078"/>
                  </a:lnTo>
                  <a:lnTo>
                    <a:pt x="822363" y="4305224"/>
                  </a:lnTo>
                  <a:lnTo>
                    <a:pt x="817333" y="4421416"/>
                  </a:lnTo>
                  <a:lnTo>
                    <a:pt x="815657" y="4817224"/>
                  </a:lnTo>
                  <a:lnTo>
                    <a:pt x="819848" y="4866856"/>
                  </a:lnTo>
                  <a:lnTo>
                    <a:pt x="830732" y="4935855"/>
                  </a:lnTo>
                  <a:lnTo>
                    <a:pt x="866762" y="5035105"/>
                  </a:lnTo>
                  <a:lnTo>
                    <a:pt x="874306" y="5056886"/>
                  </a:lnTo>
                  <a:lnTo>
                    <a:pt x="879335" y="5065369"/>
                  </a:lnTo>
                  <a:lnTo>
                    <a:pt x="886879" y="5068989"/>
                  </a:lnTo>
                  <a:lnTo>
                    <a:pt x="933792" y="5070208"/>
                  </a:lnTo>
                  <a:lnTo>
                    <a:pt x="1025118" y="5087150"/>
                  </a:lnTo>
                  <a:lnTo>
                    <a:pt x="1084605" y="5102885"/>
                  </a:lnTo>
                  <a:lnTo>
                    <a:pt x="1188504" y="5135562"/>
                  </a:lnTo>
                  <a:lnTo>
                    <a:pt x="1271181" y="5157368"/>
                  </a:lnTo>
                  <a:lnTo>
                    <a:pt x="1226400" y="5174831"/>
                  </a:lnTo>
                  <a:lnTo>
                    <a:pt x="1167015" y="5193258"/>
                  </a:lnTo>
                  <a:lnTo>
                    <a:pt x="1030262" y="5247208"/>
                  </a:lnTo>
                  <a:lnTo>
                    <a:pt x="992479" y="5257736"/>
                  </a:lnTo>
                  <a:lnTo>
                    <a:pt x="992479" y="5342750"/>
                  </a:lnTo>
                  <a:lnTo>
                    <a:pt x="1324775" y="5342750"/>
                  </a:lnTo>
                  <a:lnTo>
                    <a:pt x="1379359" y="5327497"/>
                  </a:lnTo>
                  <a:lnTo>
                    <a:pt x="1433334" y="5306441"/>
                  </a:lnTo>
                  <a:lnTo>
                    <a:pt x="1580896" y="5268265"/>
                  </a:lnTo>
                  <a:lnTo>
                    <a:pt x="1658264" y="5253787"/>
                  </a:lnTo>
                  <a:lnTo>
                    <a:pt x="1710448" y="5244579"/>
                  </a:lnTo>
                  <a:lnTo>
                    <a:pt x="1733207" y="5240807"/>
                  </a:lnTo>
                  <a:lnTo>
                    <a:pt x="2012962" y="5283238"/>
                  </a:lnTo>
                  <a:lnTo>
                    <a:pt x="2152040" y="5301399"/>
                  </a:lnTo>
                  <a:lnTo>
                    <a:pt x="2507069" y="5342750"/>
                  </a:lnTo>
                  <a:lnTo>
                    <a:pt x="3673602" y="5342750"/>
                  </a:lnTo>
                  <a:lnTo>
                    <a:pt x="3673602" y="5277193"/>
                  </a:lnTo>
                  <a:lnTo>
                    <a:pt x="3476701" y="5262664"/>
                  </a:lnTo>
                  <a:lnTo>
                    <a:pt x="3097149" y="5232400"/>
                  </a:lnTo>
                  <a:lnTo>
                    <a:pt x="2875115" y="5213032"/>
                  </a:lnTo>
                  <a:lnTo>
                    <a:pt x="2694470" y="5194033"/>
                  </a:lnTo>
                  <a:lnTo>
                    <a:pt x="3178784" y="5180088"/>
                  </a:lnTo>
                  <a:lnTo>
                    <a:pt x="3369526" y="5178780"/>
                  </a:lnTo>
                  <a:lnTo>
                    <a:pt x="4038917" y="5180088"/>
                  </a:lnTo>
                  <a:lnTo>
                    <a:pt x="4389806" y="5189309"/>
                  </a:lnTo>
                  <a:lnTo>
                    <a:pt x="4656125" y="5193258"/>
                  </a:lnTo>
                  <a:lnTo>
                    <a:pt x="5120373" y="5207724"/>
                  </a:lnTo>
                  <a:lnTo>
                    <a:pt x="5415483" y="5219573"/>
                  </a:lnTo>
                  <a:lnTo>
                    <a:pt x="6129858" y="5240629"/>
                  </a:lnTo>
                  <a:lnTo>
                    <a:pt x="6421374" y="5253787"/>
                  </a:lnTo>
                  <a:lnTo>
                    <a:pt x="6799250" y="5266956"/>
                  </a:lnTo>
                  <a:lnTo>
                    <a:pt x="6998983" y="5277485"/>
                  </a:lnTo>
                  <a:lnTo>
                    <a:pt x="7904099" y="5277485"/>
                  </a:lnTo>
                  <a:lnTo>
                    <a:pt x="7979677" y="5266956"/>
                  </a:lnTo>
                  <a:lnTo>
                    <a:pt x="8022869" y="5266956"/>
                  </a:lnTo>
                  <a:lnTo>
                    <a:pt x="8024660" y="5263007"/>
                  </a:lnTo>
                  <a:lnTo>
                    <a:pt x="8024660" y="5256428"/>
                  </a:lnTo>
                  <a:lnTo>
                    <a:pt x="8042656" y="5201145"/>
                  </a:lnTo>
                  <a:lnTo>
                    <a:pt x="8057058" y="5139296"/>
                  </a:lnTo>
                  <a:lnTo>
                    <a:pt x="8073250" y="5049799"/>
                  </a:lnTo>
                  <a:lnTo>
                    <a:pt x="8084045" y="4937925"/>
                  </a:lnTo>
                  <a:lnTo>
                    <a:pt x="8093037" y="4712881"/>
                  </a:lnTo>
                  <a:lnTo>
                    <a:pt x="8102041" y="4410176"/>
                  </a:lnTo>
                  <a:lnTo>
                    <a:pt x="8107439" y="4296994"/>
                  </a:lnTo>
                  <a:lnTo>
                    <a:pt x="8114639" y="4178541"/>
                  </a:lnTo>
                  <a:lnTo>
                    <a:pt x="8129029" y="4057459"/>
                  </a:lnTo>
                  <a:lnTo>
                    <a:pt x="8183016" y="3683698"/>
                  </a:lnTo>
                  <a:lnTo>
                    <a:pt x="8211807" y="3453371"/>
                  </a:lnTo>
                  <a:lnTo>
                    <a:pt x="8231594" y="3254641"/>
                  </a:lnTo>
                  <a:lnTo>
                    <a:pt x="8253196" y="3012478"/>
                  </a:lnTo>
                  <a:lnTo>
                    <a:pt x="8267586" y="2759799"/>
                  </a:lnTo>
                  <a:lnTo>
                    <a:pt x="8278381" y="2515006"/>
                  </a:lnTo>
                  <a:lnTo>
                    <a:pt x="8281987" y="2388654"/>
                  </a:lnTo>
                  <a:lnTo>
                    <a:pt x="8283778" y="2109647"/>
                  </a:lnTo>
                  <a:lnTo>
                    <a:pt x="8281987" y="1967509"/>
                  </a:lnTo>
                  <a:lnTo>
                    <a:pt x="8278381" y="1830628"/>
                  </a:lnTo>
                  <a:lnTo>
                    <a:pt x="8271192" y="1712188"/>
                  </a:lnTo>
                  <a:lnTo>
                    <a:pt x="8262188" y="1605584"/>
                  </a:lnTo>
                  <a:lnTo>
                    <a:pt x="8249590" y="1498981"/>
                  </a:lnTo>
                  <a:lnTo>
                    <a:pt x="8215401" y="1291031"/>
                  </a:lnTo>
                  <a:lnTo>
                    <a:pt x="8197405" y="1212062"/>
                  </a:lnTo>
                  <a:lnTo>
                    <a:pt x="8174012" y="1130465"/>
                  </a:lnTo>
                  <a:lnTo>
                    <a:pt x="8163217" y="1083094"/>
                  </a:lnTo>
                  <a:lnTo>
                    <a:pt x="8157819" y="1065987"/>
                  </a:lnTo>
                  <a:lnTo>
                    <a:pt x="8139824" y="1030452"/>
                  </a:lnTo>
                  <a:lnTo>
                    <a:pt x="8130832" y="1014310"/>
                  </a:lnTo>
                  <a:lnTo>
                    <a:pt x="8130832" y="2120176"/>
                  </a:lnTo>
                  <a:lnTo>
                    <a:pt x="8130832" y="2175446"/>
                  </a:lnTo>
                  <a:lnTo>
                    <a:pt x="8125434" y="2362339"/>
                  </a:lnTo>
                  <a:lnTo>
                    <a:pt x="8114639" y="2607132"/>
                  </a:lnTo>
                  <a:lnTo>
                    <a:pt x="8100238" y="2859811"/>
                  </a:lnTo>
                  <a:lnTo>
                    <a:pt x="8080451" y="3101975"/>
                  </a:lnTo>
                  <a:lnTo>
                    <a:pt x="8058848" y="3302025"/>
                  </a:lnTo>
                  <a:lnTo>
                    <a:pt x="8031861" y="3531019"/>
                  </a:lnTo>
                  <a:lnTo>
                    <a:pt x="7976082" y="3904792"/>
                  </a:lnTo>
                  <a:lnTo>
                    <a:pt x="7963484" y="4027195"/>
                  </a:lnTo>
                  <a:lnTo>
                    <a:pt x="7954492" y="4144327"/>
                  </a:lnTo>
                  <a:lnTo>
                    <a:pt x="7949095" y="4257510"/>
                  </a:lnTo>
                  <a:lnTo>
                    <a:pt x="7940091" y="4561522"/>
                  </a:lnTo>
                  <a:lnTo>
                    <a:pt x="7932890" y="4785258"/>
                  </a:lnTo>
                  <a:lnTo>
                    <a:pt x="7920304" y="4897132"/>
                  </a:lnTo>
                  <a:lnTo>
                    <a:pt x="7904099" y="4986629"/>
                  </a:lnTo>
                  <a:lnTo>
                    <a:pt x="7889710" y="5049799"/>
                  </a:lnTo>
                  <a:lnTo>
                    <a:pt x="7873517" y="5103761"/>
                  </a:lnTo>
                  <a:lnTo>
                    <a:pt x="7871714" y="5112969"/>
                  </a:lnTo>
                  <a:lnTo>
                    <a:pt x="7869910" y="5114290"/>
                  </a:lnTo>
                  <a:lnTo>
                    <a:pt x="7826730" y="5114290"/>
                  </a:lnTo>
                  <a:lnTo>
                    <a:pt x="7751153" y="5124818"/>
                  </a:lnTo>
                  <a:lnTo>
                    <a:pt x="7196925" y="5126126"/>
                  </a:lnTo>
                  <a:lnTo>
                    <a:pt x="7151941" y="5124818"/>
                  </a:lnTo>
                  <a:lnTo>
                    <a:pt x="6952208" y="5114290"/>
                  </a:lnTo>
                  <a:lnTo>
                    <a:pt x="6574320" y="5101120"/>
                  </a:lnTo>
                  <a:lnTo>
                    <a:pt x="6281013" y="5087963"/>
                  </a:lnTo>
                  <a:lnTo>
                    <a:pt x="5568442" y="5068227"/>
                  </a:lnTo>
                  <a:lnTo>
                    <a:pt x="5273332" y="5055057"/>
                  </a:lnTo>
                  <a:lnTo>
                    <a:pt x="4807280" y="5040592"/>
                  </a:lnTo>
                  <a:lnTo>
                    <a:pt x="4540961" y="5036642"/>
                  </a:lnTo>
                  <a:lnTo>
                    <a:pt x="4191876" y="5027422"/>
                  </a:lnTo>
                  <a:lnTo>
                    <a:pt x="3216579" y="5026114"/>
                  </a:lnTo>
                  <a:lnTo>
                    <a:pt x="3025838" y="5027422"/>
                  </a:lnTo>
                  <a:lnTo>
                    <a:pt x="2385237" y="5045849"/>
                  </a:lnTo>
                  <a:lnTo>
                    <a:pt x="2165705" y="5049799"/>
                  </a:lnTo>
                  <a:lnTo>
                    <a:pt x="2048738" y="5055057"/>
                  </a:lnTo>
                  <a:lnTo>
                    <a:pt x="1965972" y="5064277"/>
                  </a:lnTo>
                  <a:lnTo>
                    <a:pt x="1897595" y="5069535"/>
                  </a:lnTo>
                  <a:lnTo>
                    <a:pt x="1780628" y="5070856"/>
                  </a:lnTo>
                  <a:lnTo>
                    <a:pt x="1773999" y="5070856"/>
                  </a:lnTo>
                  <a:lnTo>
                    <a:pt x="1533702" y="5031473"/>
                  </a:lnTo>
                  <a:lnTo>
                    <a:pt x="1464995" y="5016944"/>
                  </a:lnTo>
                  <a:lnTo>
                    <a:pt x="1340993" y="4983061"/>
                  </a:lnTo>
                  <a:lnTo>
                    <a:pt x="1237094" y="4950371"/>
                  </a:lnTo>
                  <a:lnTo>
                    <a:pt x="1177607" y="4934636"/>
                  </a:lnTo>
                  <a:lnTo>
                    <a:pt x="1086281" y="4917694"/>
                  </a:lnTo>
                  <a:lnTo>
                    <a:pt x="1037691" y="4916487"/>
                  </a:lnTo>
                  <a:lnTo>
                    <a:pt x="1031824" y="4912855"/>
                  </a:lnTo>
                  <a:lnTo>
                    <a:pt x="1025956" y="4904371"/>
                  </a:lnTo>
                  <a:lnTo>
                    <a:pt x="1019251" y="4882591"/>
                  </a:lnTo>
                  <a:lnTo>
                    <a:pt x="987412" y="4802708"/>
                  </a:lnTo>
                  <a:lnTo>
                    <a:pt x="979881" y="4767605"/>
                  </a:lnTo>
                  <a:lnTo>
                    <a:pt x="970661" y="4696180"/>
                  </a:lnTo>
                  <a:lnTo>
                    <a:pt x="968146" y="4655032"/>
                  </a:lnTo>
                  <a:lnTo>
                    <a:pt x="968984" y="4573930"/>
                  </a:lnTo>
                  <a:lnTo>
                    <a:pt x="974852" y="4456519"/>
                  </a:lnTo>
                  <a:lnTo>
                    <a:pt x="986574" y="4311269"/>
                  </a:lnTo>
                  <a:lnTo>
                    <a:pt x="996632" y="4150283"/>
                  </a:lnTo>
                  <a:lnTo>
                    <a:pt x="999147" y="4059504"/>
                  </a:lnTo>
                  <a:lnTo>
                    <a:pt x="999147" y="3817416"/>
                  </a:lnTo>
                  <a:lnTo>
                    <a:pt x="997470" y="3726637"/>
                  </a:lnTo>
                  <a:lnTo>
                    <a:pt x="991603" y="3637076"/>
                  </a:lnTo>
                  <a:lnTo>
                    <a:pt x="983221" y="3547503"/>
                  </a:lnTo>
                  <a:lnTo>
                    <a:pt x="970661" y="3457930"/>
                  </a:lnTo>
                  <a:lnTo>
                    <a:pt x="953897" y="3364725"/>
                  </a:lnTo>
                  <a:lnTo>
                    <a:pt x="824865" y="2770416"/>
                  </a:lnTo>
                  <a:lnTo>
                    <a:pt x="773760" y="2519857"/>
                  </a:lnTo>
                  <a:lnTo>
                    <a:pt x="705053" y="2147049"/>
                  </a:lnTo>
                  <a:lnTo>
                    <a:pt x="663168" y="1890433"/>
                  </a:lnTo>
                  <a:lnTo>
                    <a:pt x="618756" y="1636255"/>
                  </a:lnTo>
                  <a:lnTo>
                    <a:pt x="515696" y="1108506"/>
                  </a:lnTo>
                  <a:lnTo>
                    <a:pt x="489724" y="991095"/>
                  </a:lnTo>
                  <a:lnTo>
                    <a:pt x="437781" y="749007"/>
                  </a:lnTo>
                  <a:lnTo>
                    <a:pt x="423532" y="665492"/>
                  </a:lnTo>
                  <a:lnTo>
                    <a:pt x="409067" y="537845"/>
                  </a:lnTo>
                  <a:lnTo>
                    <a:pt x="467372" y="505180"/>
                  </a:lnTo>
                  <a:lnTo>
                    <a:pt x="578650" y="436232"/>
                  </a:lnTo>
                  <a:lnTo>
                    <a:pt x="649859" y="393801"/>
                  </a:lnTo>
                  <a:lnTo>
                    <a:pt x="754468" y="319544"/>
                  </a:lnTo>
                  <a:lnTo>
                    <a:pt x="787844" y="314248"/>
                  </a:lnTo>
                  <a:lnTo>
                    <a:pt x="872426" y="287731"/>
                  </a:lnTo>
                  <a:lnTo>
                    <a:pt x="1008176" y="250596"/>
                  </a:lnTo>
                  <a:lnTo>
                    <a:pt x="1010729" y="249999"/>
                  </a:lnTo>
                  <a:lnTo>
                    <a:pt x="1068057" y="249999"/>
                  </a:lnTo>
                  <a:lnTo>
                    <a:pt x="1077048" y="243420"/>
                  </a:lnTo>
                  <a:lnTo>
                    <a:pt x="1096848" y="234213"/>
                  </a:lnTo>
                  <a:lnTo>
                    <a:pt x="1117828" y="225005"/>
                  </a:lnTo>
                  <a:lnTo>
                    <a:pt x="1172870" y="212153"/>
                  </a:lnTo>
                  <a:lnTo>
                    <a:pt x="1246314" y="189611"/>
                  </a:lnTo>
                  <a:lnTo>
                    <a:pt x="1268564" y="184302"/>
                  </a:lnTo>
                  <a:lnTo>
                    <a:pt x="1290828" y="184302"/>
                  </a:lnTo>
                  <a:lnTo>
                    <a:pt x="1300568" y="182372"/>
                  </a:lnTo>
                  <a:lnTo>
                    <a:pt x="1301978" y="182880"/>
                  </a:lnTo>
                  <a:lnTo>
                    <a:pt x="1325372" y="184200"/>
                  </a:lnTo>
                  <a:lnTo>
                    <a:pt x="1332572" y="186829"/>
                  </a:lnTo>
                  <a:lnTo>
                    <a:pt x="1361363" y="209207"/>
                  </a:lnTo>
                  <a:lnTo>
                    <a:pt x="1382953" y="221043"/>
                  </a:lnTo>
                  <a:lnTo>
                    <a:pt x="1427937" y="235521"/>
                  </a:lnTo>
                  <a:lnTo>
                    <a:pt x="1467523" y="257898"/>
                  </a:lnTo>
                  <a:lnTo>
                    <a:pt x="1564690" y="307911"/>
                  </a:lnTo>
                  <a:lnTo>
                    <a:pt x="1622272" y="342125"/>
                  </a:lnTo>
                  <a:lnTo>
                    <a:pt x="1717649" y="389509"/>
                  </a:lnTo>
                  <a:lnTo>
                    <a:pt x="1895792" y="457949"/>
                  </a:lnTo>
                  <a:lnTo>
                    <a:pt x="1942579" y="475056"/>
                  </a:lnTo>
                  <a:lnTo>
                    <a:pt x="2113521" y="515848"/>
                  </a:lnTo>
                  <a:lnTo>
                    <a:pt x="2262873" y="548754"/>
                  </a:lnTo>
                  <a:lnTo>
                    <a:pt x="2442819" y="580339"/>
                  </a:lnTo>
                  <a:lnTo>
                    <a:pt x="2608364" y="602716"/>
                  </a:lnTo>
                  <a:lnTo>
                    <a:pt x="2709138" y="611924"/>
                  </a:lnTo>
                  <a:lnTo>
                    <a:pt x="2809900" y="619823"/>
                  </a:lnTo>
                  <a:lnTo>
                    <a:pt x="3153600" y="639572"/>
                  </a:lnTo>
                  <a:lnTo>
                    <a:pt x="3378530" y="655358"/>
                  </a:lnTo>
                  <a:lnTo>
                    <a:pt x="3495484" y="669836"/>
                  </a:lnTo>
                  <a:lnTo>
                    <a:pt x="3634041" y="684314"/>
                  </a:lnTo>
                  <a:lnTo>
                    <a:pt x="3706025" y="688263"/>
                  </a:lnTo>
                  <a:lnTo>
                    <a:pt x="3939946" y="696163"/>
                  </a:lnTo>
                  <a:lnTo>
                    <a:pt x="4272839" y="717219"/>
                  </a:lnTo>
                  <a:lnTo>
                    <a:pt x="4537367" y="729056"/>
                  </a:lnTo>
                  <a:lnTo>
                    <a:pt x="4713706" y="733005"/>
                  </a:lnTo>
                  <a:lnTo>
                    <a:pt x="4882858" y="735647"/>
                  </a:lnTo>
                  <a:lnTo>
                    <a:pt x="5804166" y="735647"/>
                  </a:lnTo>
                  <a:lnTo>
                    <a:pt x="6115469" y="731697"/>
                  </a:lnTo>
                  <a:lnTo>
                    <a:pt x="6239624" y="727748"/>
                  </a:lnTo>
                  <a:lnTo>
                    <a:pt x="6352984" y="721169"/>
                  </a:lnTo>
                  <a:lnTo>
                    <a:pt x="6469951" y="711949"/>
                  </a:lnTo>
                  <a:lnTo>
                    <a:pt x="6576123" y="700112"/>
                  </a:lnTo>
                  <a:lnTo>
                    <a:pt x="6891020" y="657987"/>
                  </a:lnTo>
                  <a:lnTo>
                    <a:pt x="7061962" y="632980"/>
                  </a:lnTo>
                  <a:lnTo>
                    <a:pt x="7274306" y="593509"/>
                  </a:lnTo>
                  <a:lnTo>
                    <a:pt x="7427252" y="567182"/>
                  </a:lnTo>
                  <a:lnTo>
                    <a:pt x="7547813" y="551383"/>
                  </a:lnTo>
                  <a:lnTo>
                    <a:pt x="7598194" y="548754"/>
                  </a:lnTo>
                  <a:lnTo>
                    <a:pt x="7610792" y="552704"/>
                  </a:lnTo>
                  <a:lnTo>
                    <a:pt x="7621587" y="567182"/>
                  </a:lnTo>
                  <a:lnTo>
                    <a:pt x="7661173" y="635622"/>
                  </a:lnTo>
                  <a:lnTo>
                    <a:pt x="7682776" y="680364"/>
                  </a:lnTo>
                  <a:lnTo>
                    <a:pt x="7706169" y="715899"/>
                  </a:lnTo>
                  <a:lnTo>
                    <a:pt x="7734960" y="756704"/>
                  </a:lnTo>
                  <a:lnTo>
                    <a:pt x="7803337" y="850138"/>
                  </a:lnTo>
                  <a:lnTo>
                    <a:pt x="7828521" y="894892"/>
                  </a:lnTo>
                  <a:lnTo>
                    <a:pt x="7857312" y="965962"/>
                  </a:lnTo>
                  <a:lnTo>
                    <a:pt x="7887906" y="1015974"/>
                  </a:lnTo>
                  <a:lnTo>
                    <a:pt x="7918501" y="1069924"/>
                  </a:lnTo>
                  <a:lnTo>
                    <a:pt x="7949095" y="1112050"/>
                  </a:lnTo>
                  <a:lnTo>
                    <a:pt x="8006664" y="1218653"/>
                  </a:lnTo>
                  <a:lnTo>
                    <a:pt x="8012074" y="1235760"/>
                  </a:lnTo>
                  <a:lnTo>
                    <a:pt x="8021066" y="1283131"/>
                  </a:lnTo>
                  <a:lnTo>
                    <a:pt x="8044459" y="1363421"/>
                  </a:lnTo>
                  <a:lnTo>
                    <a:pt x="8062455" y="1443697"/>
                  </a:lnTo>
                  <a:lnTo>
                    <a:pt x="8096644" y="1651647"/>
                  </a:lnTo>
                  <a:lnTo>
                    <a:pt x="8109242" y="1756930"/>
                  </a:lnTo>
                  <a:lnTo>
                    <a:pt x="8118234" y="1864855"/>
                  </a:lnTo>
                  <a:lnTo>
                    <a:pt x="8125434" y="1981987"/>
                  </a:lnTo>
                  <a:lnTo>
                    <a:pt x="8130832" y="2120176"/>
                  </a:lnTo>
                  <a:lnTo>
                    <a:pt x="8130832" y="1014310"/>
                  </a:lnTo>
                  <a:lnTo>
                    <a:pt x="8100238" y="959383"/>
                  </a:lnTo>
                  <a:lnTo>
                    <a:pt x="8071447" y="917257"/>
                  </a:lnTo>
                  <a:lnTo>
                    <a:pt x="8040865" y="863307"/>
                  </a:lnTo>
                  <a:lnTo>
                    <a:pt x="8010271" y="813295"/>
                  </a:lnTo>
                  <a:lnTo>
                    <a:pt x="7979677" y="743534"/>
                  </a:lnTo>
                  <a:lnTo>
                    <a:pt x="7956283" y="697471"/>
                  </a:lnTo>
                  <a:lnTo>
                    <a:pt x="7929296" y="660628"/>
                  </a:lnTo>
                  <a:lnTo>
                    <a:pt x="7886103" y="605345"/>
                  </a:lnTo>
                  <a:lnTo>
                    <a:pt x="7859115" y="563232"/>
                  </a:lnTo>
                  <a:lnTo>
                    <a:pt x="7835722" y="529018"/>
                  </a:lnTo>
                  <a:lnTo>
                    <a:pt x="7825651" y="508165"/>
                  </a:lnTo>
                  <a:lnTo>
                    <a:pt x="7858442" y="511810"/>
                  </a:lnTo>
                  <a:lnTo>
                    <a:pt x="7998650" y="522414"/>
                  </a:lnTo>
                  <a:lnTo>
                    <a:pt x="8118830" y="526389"/>
                  </a:lnTo>
                  <a:lnTo>
                    <a:pt x="8328038" y="525068"/>
                  </a:lnTo>
                  <a:lnTo>
                    <a:pt x="8483829" y="515785"/>
                  </a:lnTo>
                  <a:lnTo>
                    <a:pt x="8563940" y="515785"/>
                  </a:lnTo>
                  <a:lnTo>
                    <a:pt x="8604009" y="517118"/>
                  </a:lnTo>
                  <a:lnTo>
                    <a:pt x="8666315" y="526389"/>
                  </a:lnTo>
                  <a:lnTo>
                    <a:pt x="8713051" y="526389"/>
                  </a:lnTo>
                  <a:lnTo>
                    <a:pt x="8764245" y="637768"/>
                  </a:lnTo>
                  <a:lnTo>
                    <a:pt x="8782050" y="692137"/>
                  </a:lnTo>
                  <a:lnTo>
                    <a:pt x="8857717" y="1010361"/>
                  </a:lnTo>
                  <a:lnTo>
                    <a:pt x="8911133" y="1256982"/>
                  </a:lnTo>
                  <a:lnTo>
                    <a:pt x="8928938" y="1353781"/>
                  </a:lnTo>
                  <a:lnTo>
                    <a:pt x="8942286" y="1457198"/>
                  </a:lnTo>
                  <a:lnTo>
                    <a:pt x="8953411" y="1575206"/>
                  </a:lnTo>
                  <a:lnTo>
                    <a:pt x="8960091" y="1713103"/>
                  </a:lnTo>
                  <a:lnTo>
                    <a:pt x="8955646" y="1882825"/>
                  </a:lnTo>
                  <a:lnTo>
                    <a:pt x="8948966" y="2006142"/>
                  </a:lnTo>
                  <a:lnTo>
                    <a:pt x="8940063" y="2146681"/>
                  </a:lnTo>
                  <a:lnTo>
                    <a:pt x="8926716" y="2291219"/>
                  </a:lnTo>
                  <a:lnTo>
                    <a:pt x="8911133" y="2429116"/>
                  </a:lnTo>
                  <a:lnTo>
                    <a:pt x="8891105" y="2572308"/>
                  </a:lnTo>
                  <a:lnTo>
                    <a:pt x="8866619" y="2723464"/>
                  </a:lnTo>
                  <a:lnTo>
                    <a:pt x="8837689" y="2879928"/>
                  </a:lnTo>
                  <a:lnTo>
                    <a:pt x="8797633" y="3061576"/>
                  </a:lnTo>
                  <a:lnTo>
                    <a:pt x="8750897" y="3248533"/>
                  </a:lnTo>
                  <a:lnTo>
                    <a:pt x="8706383" y="3412947"/>
                  </a:lnTo>
                  <a:lnTo>
                    <a:pt x="8655190" y="3573386"/>
                  </a:lnTo>
                  <a:lnTo>
                    <a:pt x="8592871" y="3749738"/>
                  </a:lnTo>
                  <a:lnTo>
                    <a:pt x="8528329" y="3919461"/>
                  </a:lnTo>
                  <a:lnTo>
                    <a:pt x="8472691" y="4061333"/>
                  </a:lnTo>
                  <a:lnTo>
                    <a:pt x="8417052" y="4197908"/>
                  </a:lnTo>
                  <a:lnTo>
                    <a:pt x="8261274" y="4561217"/>
                  </a:lnTo>
                  <a:lnTo>
                    <a:pt x="8221205" y="4659338"/>
                  </a:lnTo>
                  <a:lnTo>
                    <a:pt x="8190052" y="4752149"/>
                  </a:lnTo>
                  <a:lnTo>
                    <a:pt x="8167789" y="4830381"/>
                  </a:lnTo>
                  <a:lnTo>
                    <a:pt x="8156664" y="4888712"/>
                  </a:lnTo>
                  <a:lnTo>
                    <a:pt x="8152219" y="4941760"/>
                  </a:lnTo>
                  <a:lnTo>
                    <a:pt x="8149996" y="4988166"/>
                  </a:lnTo>
                  <a:lnTo>
                    <a:pt x="8149996" y="5183073"/>
                  </a:lnTo>
                  <a:lnTo>
                    <a:pt x="8156664" y="5303736"/>
                  </a:lnTo>
                  <a:lnTo>
                    <a:pt x="8157527" y="5340858"/>
                  </a:lnTo>
                  <a:lnTo>
                    <a:pt x="8157578" y="5342750"/>
                  </a:lnTo>
                  <a:lnTo>
                    <a:pt x="8310232" y="5342750"/>
                  </a:lnTo>
                  <a:lnTo>
                    <a:pt x="8310232" y="5151259"/>
                  </a:lnTo>
                  <a:lnTo>
                    <a:pt x="8305774" y="5077003"/>
                  </a:lnTo>
                  <a:lnTo>
                    <a:pt x="8310232" y="5041201"/>
                  </a:lnTo>
                  <a:lnTo>
                    <a:pt x="8321357" y="4982857"/>
                  </a:lnTo>
                  <a:lnTo>
                    <a:pt x="8341385" y="4904625"/>
                  </a:lnTo>
                  <a:lnTo>
                    <a:pt x="8374774" y="4811814"/>
                  </a:lnTo>
                  <a:lnTo>
                    <a:pt x="8412607" y="4713694"/>
                  </a:lnTo>
                  <a:lnTo>
                    <a:pt x="8568398" y="4350385"/>
                  </a:lnTo>
                  <a:lnTo>
                    <a:pt x="8681898" y="4071937"/>
                  </a:lnTo>
                  <a:lnTo>
                    <a:pt x="8746439" y="3900894"/>
                  </a:lnTo>
                  <a:lnTo>
                    <a:pt x="8806536" y="3725875"/>
                  </a:lnTo>
                  <a:lnTo>
                    <a:pt x="8857717" y="3565436"/>
                  </a:lnTo>
                  <a:lnTo>
                    <a:pt x="8904453" y="3401022"/>
                  </a:lnTo>
                  <a:lnTo>
                    <a:pt x="8951189" y="3214065"/>
                  </a:lnTo>
                  <a:lnTo>
                    <a:pt x="8989022" y="3032404"/>
                  </a:lnTo>
                  <a:lnTo>
                    <a:pt x="9017952" y="2875953"/>
                  </a:lnTo>
                  <a:lnTo>
                    <a:pt x="9042438" y="2724797"/>
                  </a:lnTo>
                  <a:lnTo>
                    <a:pt x="9062466" y="2581592"/>
                  </a:lnTo>
                  <a:lnTo>
                    <a:pt x="9078049" y="2443696"/>
                  </a:lnTo>
                  <a:lnTo>
                    <a:pt x="9091397" y="2299170"/>
                  </a:lnTo>
                  <a:lnTo>
                    <a:pt x="9102522" y="2158619"/>
                  </a:lnTo>
                  <a:lnTo>
                    <a:pt x="9109202" y="2035302"/>
                  </a:lnTo>
                  <a:lnTo>
                    <a:pt x="9111424" y="1917293"/>
                  </a:lnTo>
                  <a:lnTo>
                    <a:pt x="9113660" y="1652117"/>
                  </a:lnTo>
                  <a:lnTo>
                    <a:pt x="9113660" y="1543380"/>
                  </a:lnTo>
                  <a:close/>
                </a:path>
              </a:pathLst>
            </a:custGeom>
            <a:solidFill>
              <a:srgbClr val="D93025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70" dirty="0"/>
              <a:t>Antagonistas</a:t>
            </a:r>
            <a:r>
              <a:rPr spc="-145" dirty="0"/>
              <a:t> </a:t>
            </a:r>
            <a:r>
              <a:rPr spc="-105" dirty="0"/>
              <a:t>de</a:t>
            </a:r>
            <a:r>
              <a:rPr spc="-155" dirty="0"/>
              <a:t> </a:t>
            </a:r>
            <a:r>
              <a:rPr spc="-295" dirty="0"/>
              <a:t>los</a:t>
            </a:r>
            <a:r>
              <a:rPr spc="-140" dirty="0"/>
              <a:t> </a:t>
            </a:r>
            <a:r>
              <a:rPr spc="-229" dirty="0"/>
              <a:t>receptores</a:t>
            </a:r>
            <a:r>
              <a:rPr spc="-145" dirty="0"/>
              <a:t> </a:t>
            </a:r>
            <a:r>
              <a:rPr spc="-204" dirty="0"/>
              <a:t>mineralocorticoides</a:t>
            </a:r>
            <a:endParaRPr spc="-204" dirty="0"/>
          </a:p>
        </p:txBody>
      </p:sp>
      <p:sp>
        <p:nvSpPr>
          <p:cNvPr id="3" name="object 3"/>
          <p:cNvSpPr txBox="1"/>
          <p:nvPr/>
        </p:nvSpPr>
        <p:spPr>
          <a:xfrm>
            <a:off x="1182052" y="1958340"/>
            <a:ext cx="2651760" cy="89154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2000" spc="1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Reacciones</a:t>
            </a:r>
            <a:r>
              <a:rPr sz="2000" spc="-3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9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adversas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000" spc="1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Hipercaliemia</a:t>
            </a:r>
            <a:endParaRPr sz="2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94752" y="2976879"/>
            <a:ext cx="7305040" cy="279400"/>
          </a:xfrm>
          <a:prstGeom prst="rect">
            <a:avLst/>
          </a:prstGeom>
          <a:solidFill>
            <a:srgbClr val="D93025">
              <a:alpha val="39999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85"/>
              </a:lnSpc>
              <a:tabLst>
                <a:tab pos="342265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000" spc="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Diarrea,</a:t>
            </a:r>
            <a:r>
              <a:rPr sz="2000" spc="-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gastritis,</a:t>
            </a:r>
            <a:r>
              <a:rPr sz="2000" spc="-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hemorragia</a:t>
            </a:r>
            <a:r>
              <a:rPr sz="2000" spc="-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ga</a:t>
            </a:r>
            <a:r>
              <a:rPr sz="2000" spc="10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́</a:t>
            </a:r>
            <a:r>
              <a:rPr sz="2000" spc="1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strica</a:t>
            </a:r>
            <a:r>
              <a:rPr sz="20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y</a:t>
            </a:r>
            <a:r>
              <a:rPr sz="20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8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u</a:t>
            </a:r>
            <a:r>
              <a:rPr sz="2000" spc="85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́</a:t>
            </a:r>
            <a:r>
              <a:rPr sz="2000" spc="8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lceras</a:t>
            </a:r>
            <a:r>
              <a:rPr sz="2000" spc="-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pe</a:t>
            </a:r>
            <a:r>
              <a:rPr sz="2000" spc="125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́</a:t>
            </a:r>
            <a:r>
              <a:rPr sz="2000" spc="1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pticas</a:t>
            </a:r>
            <a:endParaRPr sz="2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94752" y="3409695"/>
            <a:ext cx="6991984" cy="275590"/>
          </a:xfrm>
          <a:prstGeom prst="rect">
            <a:avLst/>
          </a:prstGeom>
          <a:solidFill>
            <a:srgbClr val="D93025">
              <a:alpha val="39999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70"/>
              </a:lnSpc>
              <a:tabLst>
                <a:tab pos="342265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000" spc="13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Ginecomastia,</a:t>
            </a:r>
            <a:r>
              <a:rPr sz="2000" spc="-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3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impotencia,</a:t>
            </a:r>
            <a:r>
              <a:rPr sz="2000" spc="-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8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disminucio</a:t>
            </a:r>
            <a:r>
              <a:rPr sz="2000" spc="8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́</a:t>
            </a:r>
            <a:r>
              <a:rPr sz="2000" spc="8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n</a:t>
            </a:r>
            <a:r>
              <a:rPr sz="2000" spc="-4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2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de</a:t>
            </a:r>
            <a:r>
              <a:rPr sz="2000" spc="-4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14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la</a:t>
            </a:r>
            <a:r>
              <a:rPr sz="2000" spc="-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8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libido</a:t>
            </a:r>
            <a:r>
              <a:rPr sz="2000" spc="-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9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</a:t>
            </a:r>
            <a:endParaRPr sz="2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24952" y="3686555"/>
            <a:ext cx="3386454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8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irregularidades</a:t>
            </a:r>
            <a:r>
              <a:rPr sz="2000" spc="-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menstruales</a:t>
            </a:r>
            <a:endParaRPr sz="2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94752" y="4144264"/>
            <a:ext cx="7649209" cy="279400"/>
          </a:xfrm>
          <a:prstGeom prst="rect">
            <a:avLst/>
          </a:prstGeom>
          <a:solidFill>
            <a:srgbClr val="D93025">
              <a:alpha val="39999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85"/>
              </a:lnSpc>
              <a:tabLst>
                <a:tab pos="342265" algn="l"/>
              </a:tabLst>
            </a:pPr>
            <a:r>
              <a:rPr sz="1600" spc="75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600" dirty="0">
                <a:solidFill>
                  <a:srgbClr val="0F6FC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000" spc="114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Somnolencia,</a:t>
            </a:r>
            <a:r>
              <a:rPr sz="20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9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letargo,</a:t>
            </a:r>
            <a:r>
              <a:rPr sz="20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0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ataxia,</a:t>
            </a:r>
            <a:r>
              <a:rPr sz="2000" spc="-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8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confusio</a:t>
            </a:r>
            <a:r>
              <a:rPr sz="2000" spc="85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́</a:t>
            </a:r>
            <a:r>
              <a:rPr sz="2000" spc="8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n</a:t>
            </a:r>
            <a:r>
              <a:rPr sz="2000" spc="-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y</a:t>
            </a:r>
            <a:r>
              <a:rPr sz="2000" spc="-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1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dolor</a:t>
            </a:r>
            <a:r>
              <a:rPr sz="20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2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de</a:t>
            </a:r>
            <a:r>
              <a:rPr sz="2000" spc="-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2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cabeza</a:t>
            </a:r>
            <a:endParaRPr sz="2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48752" y="2162555"/>
            <a:ext cx="2472055" cy="194310"/>
          </a:xfrm>
          <a:custGeom>
            <a:avLst/>
            <a:gdLst/>
            <a:ahLst/>
            <a:cxnLst/>
            <a:rect l="l" t="t" r="r" b="b"/>
            <a:pathLst>
              <a:path w="2472054" h="194310">
                <a:moveTo>
                  <a:pt x="2471876" y="0"/>
                </a:moveTo>
                <a:lnTo>
                  <a:pt x="0" y="0"/>
                </a:lnTo>
                <a:lnTo>
                  <a:pt x="0" y="193802"/>
                </a:lnTo>
                <a:lnTo>
                  <a:pt x="2471876" y="193802"/>
                </a:lnTo>
                <a:lnTo>
                  <a:pt x="2471876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194752" y="2595371"/>
            <a:ext cx="2047239" cy="240029"/>
          </a:xfrm>
          <a:custGeom>
            <a:avLst/>
            <a:gdLst/>
            <a:ahLst/>
            <a:cxnLst/>
            <a:rect l="l" t="t" r="r" b="b"/>
            <a:pathLst>
              <a:path w="2047239" h="240030">
                <a:moveTo>
                  <a:pt x="2046756" y="0"/>
                </a:moveTo>
                <a:lnTo>
                  <a:pt x="0" y="0"/>
                </a:lnTo>
                <a:lnTo>
                  <a:pt x="0" y="239521"/>
                </a:lnTo>
                <a:lnTo>
                  <a:pt x="2046756" y="239521"/>
                </a:lnTo>
                <a:lnTo>
                  <a:pt x="2046756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537652" y="3762755"/>
            <a:ext cx="3431540" cy="243204"/>
          </a:xfrm>
          <a:custGeom>
            <a:avLst/>
            <a:gdLst/>
            <a:ahLst/>
            <a:cxnLst/>
            <a:rect l="l" t="t" r="r" b="b"/>
            <a:pathLst>
              <a:path w="3431540" h="243204">
                <a:moveTo>
                  <a:pt x="3431054" y="0"/>
                </a:moveTo>
                <a:lnTo>
                  <a:pt x="0" y="0"/>
                </a:lnTo>
                <a:lnTo>
                  <a:pt x="0" y="243078"/>
                </a:lnTo>
                <a:lnTo>
                  <a:pt x="3431054" y="243078"/>
                </a:lnTo>
                <a:lnTo>
                  <a:pt x="3431054" y="0"/>
                </a:lnTo>
                <a:close/>
              </a:path>
            </a:pathLst>
          </a:custGeom>
          <a:solidFill>
            <a:srgbClr val="D9302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60248" y="1152144"/>
            <a:ext cx="11204448" cy="5233416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566672" y="0"/>
            <a:ext cx="905865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2461" y="635"/>
            <a:ext cx="11711940" cy="6570980"/>
            <a:chOff x="212461" y="635"/>
            <a:chExt cx="11711940" cy="657098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26136" y="344423"/>
              <a:ext cx="11597640" cy="622706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2461" y="635"/>
              <a:ext cx="2573750" cy="8280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5952</Words>
  <Application>WPS Presentation</Application>
  <PresentationFormat>On-screen Show (4:3)</PresentationFormat>
  <Paragraphs>358</Paragraphs>
  <Slides>48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62" baseType="lpstr">
      <vt:lpstr>Arial</vt:lpstr>
      <vt:lpstr>SimSun</vt:lpstr>
      <vt:lpstr>Wingdings</vt:lpstr>
      <vt:lpstr>Verdana</vt:lpstr>
      <vt:lpstr>Tahoma</vt:lpstr>
      <vt:lpstr>Trebuchet MS</vt:lpstr>
      <vt:lpstr>Lucida Sans Unicode</vt:lpstr>
      <vt:lpstr>Microsoft Sans Serif</vt:lpstr>
      <vt:lpstr>Microsoft YaHei</vt:lpstr>
      <vt:lpstr>Arial Unicode MS</vt:lpstr>
      <vt:lpstr>Calibri</vt:lpstr>
      <vt:lpstr>Times New Roman</vt:lpstr>
      <vt:lpstr>Calibri</vt:lpstr>
      <vt:lpstr>Office Theme</vt:lpstr>
      <vt:lpstr>DIURÉTICOS</vt:lpstr>
      <vt:lpstr>Mecanismos generales de transporte epitelial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FARMACOS DIURÉTICOS</vt:lpstr>
      <vt:lpstr>PowerPoint 演示文稿</vt:lpstr>
      <vt:lpstr>PowerPoint 演示文稿</vt:lpstr>
      <vt:lpstr>PowerPoint 演示文稿</vt:lpstr>
      <vt:lpstr>PowerPoint 演示文稿</vt:lpstr>
      <vt:lpstr>FARMACOS DIURÉTICOS</vt:lpstr>
      <vt:lpstr>Inhibidores de la anhidrasa carbonica</vt:lpstr>
      <vt:lpstr>Inhibidores de la anhidrasa carbonica</vt:lpstr>
      <vt:lpstr>Inhibidores de la anhidrasa carbonica</vt:lpstr>
      <vt:lpstr>Inhibidores de la anhidrasa carbonica</vt:lpstr>
      <vt:lpstr>PowerPoint 演示文稿</vt:lpstr>
      <vt:lpstr>Diuréticos osmóticos</vt:lpstr>
      <vt:lpstr>Diuréticos osmóticos</vt:lpstr>
      <vt:lpstr>Diuréticos osmóticos</vt:lpstr>
      <vt:lpstr>Diuréticos osmóticos</vt:lpstr>
      <vt:lpstr>Diuréticos osmóticos</vt:lpstr>
      <vt:lpstr>PowerPoint 演示文稿</vt:lpstr>
      <vt:lpstr>Diuréticos de asa</vt:lpstr>
      <vt:lpstr>Diuréticos de asa</vt:lpstr>
      <vt:lpstr>Diuréticos de asa</vt:lpstr>
      <vt:lpstr>Diuréticos de asa</vt:lpstr>
      <vt:lpstr>Diuréticos de asa</vt:lpstr>
      <vt:lpstr>Diuréticos tiazídicos y semenjantes</vt:lpstr>
      <vt:lpstr>Diuréticos tiazídicos y semenjantes</vt:lpstr>
      <vt:lpstr>Diuréticos tiazídicos y semenjantes</vt:lpstr>
      <vt:lpstr>Diuréticos tiazídicos y semenjantes</vt:lpstr>
      <vt:lpstr>Diuréticos tiazídicos y semenjantes</vt:lpstr>
      <vt:lpstr>Diuréticos tiazídicos y semenjantes</vt:lpstr>
      <vt:lpstr>Inhibidores de los canales epiteliales renales de Na+</vt:lpstr>
      <vt:lpstr>Inhibidores de los canales epiteliales renales de Na+</vt:lpstr>
      <vt:lpstr>Inhibidores de los canales epiteliales renales de Na+</vt:lpstr>
      <vt:lpstr>Inhibidores de los canales epiteliales renales de Na+</vt:lpstr>
      <vt:lpstr>Antagonistas de los receptores mineralocorticoides</vt:lpstr>
      <vt:lpstr>Antagonistas de los receptores mineralocorticoides</vt:lpstr>
      <vt:lpstr>Antagonistas de los receptores mineralocorticoides</vt:lpstr>
      <vt:lpstr>Antagonistas de los receptores mineralocorticoides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DIURÉTICOS</dc:title>
  <dc:creator/>
  <cp:lastModifiedBy>david</cp:lastModifiedBy>
  <cp:revision>1</cp:revision>
  <dcterms:created xsi:type="dcterms:W3CDTF">2026-08-27T02:38:39Z</dcterms:created>
  <dcterms:modified xsi:type="dcterms:W3CDTF">2026-08-27T02:38:39Z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2024-08-08T20:00:00Z</vt:filetime>
  </property>
  <property fmtid="{D5CDD505-2E9C-101B-9397-08002B2CF9AE}" pid="4" name="Creator">
    <vt:lpwstr>PowerPoint</vt:lpwstr>
  </property>
  <property fmtid="{D5CDD505-2E9C-101B-9397-08002B2CF9AE}" pid="5" name="LastSaved">
    <vt:filetime>2026-08-17T20:00:00Z</vt:filetime>
  </property>
  <property fmtid="{D5CDD505-2E9C-101B-9397-08002B2CF9AE}" pid="6" name="Producer">
    <vt:lpwstr>iLovePDF</vt:lpwstr>
  </property>
  <property fmtid="{D5CDD505-2E9C-101B-9397-08002B2CF9AE}" pid="7" name="ICV">
    <vt:lpwstr>EEBE74A7692E4BAE8DAA71B6716457D4_12</vt:lpwstr>
  </property>
  <property fmtid="{D5CDD505-2E9C-101B-9397-08002B2CF9AE}" pid="8" name="KSOProductBuildVer">
    <vt:lpwstr>3082-12.2.0.23206</vt:lpwstr>
  </property>
</Properties>
</file>