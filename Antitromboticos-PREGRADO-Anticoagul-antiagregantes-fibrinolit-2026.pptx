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78" r:id="rId2"/>
    <p:sldId id="307" r:id="rId3"/>
    <p:sldId id="333" r:id="rId4"/>
    <p:sldId id="272" r:id="rId5"/>
    <p:sldId id="275" r:id="rId6"/>
    <p:sldId id="276" r:id="rId7"/>
    <p:sldId id="277" r:id="rId8"/>
    <p:sldId id="305" r:id="rId9"/>
    <p:sldId id="338" r:id="rId10"/>
    <p:sldId id="256" r:id="rId11"/>
    <p:sldId id="257" r:id="rId12"/>
    <p:sldId id="324" r:id="rId13"/>
    <p:sldId id="258" r:id="rId14"/>
    <p:sldId id="322" r:id="rId15"/>
    <p:sldId id="259" r:id="rId16"/>
    <p:sldId id="260" r:id="rId17"/>
    <p:sldId id="261" r:id="rId18"/>
    <p:sldId id="301" r:id="rId19"/>
    <p:sldId id="355" r:id="rId20"/>
    <p:sldId id="262" r:id="rId21"/>
    <p:sldId id="340" r:id="rId22"/>
    <p:sldId id="334" r:id="rId23"/>
    <p:sldId id="300" r:id="rId24"/>
    <p:sldId id="316" r:id="rId25"/>
    <p:sldId id="351" r:id="rId26"/>
    <p:sldId id="352" r:id="rId27"/>
    <p:sldId id="353" r:id="rId28"/>
    <p:sldId id="306" r:id="rId29"/>
    <p:sldId id="314" r:id="rId30"/>
    <p:sldId id="325" r:id="rId31"/>
    <p:sldId id="356" r:id="rId32"/>
    <p:sldId id="321" r:id="rId33"/>
    <p:sldId id="319" r:id="rId34"/>
    <p:sldId id="286" r:id="rId35"/>
    <p:sldId id="327" r:id="rId36"/>
    <p:sldId id="337" r:id="rId37"/>
    <p:sldId id="359" r:id="rId38"/>
    <p:sldId id="263" r:id="rId39"/>
    <p:sldId id="287" r:id="rId40"/>
    <p:sldId id="269" r:id="rId41"/>
    <p:sldId id="265" r:id="rId42"/>
    <p:sldId id="289" r:id="rId43"/>
    <p:sldId id="290" r:id="rId44"/>
    <p:sldId id="357" r:id="rId45"/>
    <p:sldId id="311" r:id="rId46"/>
    <p:sldId id="266" r:id="rId47"/>
    <p:sldId id="358" r:id="rId48"/>
    <p:sldId id="267" r:id="rId49"/>
    <p:sldId id="291" r:id="rId50"/>
    <p:sldId id="346" r:id="rId51"/>
    <p:sldId id="281" r:id="rId52"/>
    <p:sldId id="282" r:id="rId53"/>
    <p:sldId id="283" r:id="rId54"/>
    <p:sldId id="284" r:id="rId55"/>
    <p:sldId id="336" r:id="rId56"/>
    <p:sldId id="328" r:id="rId57"/>
    <p:sldId id="308" r:id="rId58"/>
    <p:sldId id="297" r:id="rId59"/>
    <p:sldId id="279" r:id="rId60"/>
    <p:sldId id="292" r:id="rId61"/>
    <p:sldId id="354" r:id="rId62"/>
    <p:sldId id="330" r:id="rId63"/>
    <p:sldId id="343" r:id="rId64"/>
    <p:sldId id="293" r:id="rId65"/>
    <p:sldId id="294" r:id="rId66"/>
    <p:sldId id="332" r:id="rId67"/>
    <p:sldId id="303" r:id="rId68"/>
  </p:sldIdLst>
  <p:sldSz cx="9144000" cy="6858000" type="screen4x3"/>
  <p:notesSz cx="6858000" cy="9144000"/>
  <p:defaultTextStyle>
    <a:defPPr>
      <a:defRPr lang="es-V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 autoAdjust="0"/>
    <p:restoredTop sz="94621" autoAdjust="0"/>
  </p:normalViewPr>
  <p:slideViewPr>
    <p:cSldViewPr>
      <p:cViewPr varScale="1">
        <p:scale>
          <a:sx n="70" d="100"/>
          <a:sy n="70" d="100"/>
        </p:scale>
        <p:origin x="11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/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3" name="2 Marcador de fecha">
            <a:extLst/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D96263C-5F8C-4644-94E1-B4DC6EBC5791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4" name="3 Marcador de imagen de diapositiva">
            <a:extLst/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VE" noProof="0"/>
          </a:p>
        </p:txBody>
      </p:sp>
      <p:sp>
        <p:nvSpPr>
          <p:cNvPr id="5" name="4 Marcador de notas">
            <a:extLst/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VE" noProof="0"/>
          </a:p>
        </p:txBody>
      </p:sp>
      <p:sp>
        <p:nvSpPr>
          <p:cNvPr id="6" name="5 Marcador de pie de página">
            <a:extLst/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6 Marcador de número de diapositiva">
            <a:extLst/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0283B5D-8829-4C6B-9EAE-0B7F0A22C5D9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ES_tradnl" altLang="en-US" smtClean="0"/>
          </a:p>
        </p:txBody>
      </p:sp>
      <p:sp>
        <p:nvSpPr>
          <p:cNvPr id="4100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B1D15A7-D146-4839-8C7E-73EBA48725E7}" type="slidenum">
              <a:rPr lang="es-VE" altLang="es-VE" smtClean="0"/>
              <a:pPr/>
              <a:t>1</a:t>
            </a:fld>
            <a:endParaRPr lang="es-VE" altLang="es-VE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s-VE" altLang="es-VE" smtClean="0"/>
          </a:p>
        </p:txBody>
      </p:sp>
      <p:sp>
        <p:nvSpPr>
          <p:cNvPr id="5939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278134C-9EBB-4A61-9822-1861008D411D}" type="slidenum">
              <a:rPr lang="es-VE" altLang="es-VE" smtClean="0"/>
              <a:pPr/>
              <a:t>54</a:t>
            </a:fld>
            <a:endParaRPr lang="es-VE" altLang="es-VE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VE" altLang="es-VE" smtClean="0"/>
          </a:p>
        </p:txBody>
      </p:sp>
      <p:sp>
        <p:nvSpPr>
          <p:cNvPr id="65540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728A899-C573-4DCF-8E24-9D102552BF76}" type="slidenum">
              <a:rPr lang="es-VE" altLang="es-VE" smtClean="0"/>
              <a:pPr/>
              <a:t>59</a:t>
            </a:fld>
            <a:endParaRPr lang="es-VE" altLang="es-VE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45C7DE-3734-4F37-8461-2449FF8042F1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5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B4120-2864-4B9E-B60A-0B8492C6A6B0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82554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5C5A2F-102D-4AB9-BD73-715E433B611D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5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143E5-8C0D-4784-A996-798CFED23297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60103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B7BA3-3C4E-45FF-A1B8-E5D225EE9C9E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5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3C7E4-43F3-4145-944C-86E8BF8BBA12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412275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DAFA6-3BB0-4B58-93BC-B5C388C2263F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6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A5415-760B-4EEC-AF5D-AF746E8CFEC9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78031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3D0CE-C3A6-4CD0-91D7-4DB1F20CFC42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8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9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2BE7A-71CF-4F71-8CA0-540CF9AD3B82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05931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8ACC7-B21A-4F6A-8006-9ED2B29FADEC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4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5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4029E-DBCE-403A-AF6C-11BBA2C22841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06054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3BFB8-4E06-4E20-9480-6090FBE9996F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3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4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75B32-0397-4BDF-A9BA-5123D86A25B8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567205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DBC2D-B3E7-4C44-8BD9-81D5CE061745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6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CA9D6-8A75-4C8E-A60A-04F36B075EFD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87877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VE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EBCEDB-1776-4719-A916-F72E695EC695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6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7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99648-67FC-432A-8234-12A829FD46B5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35908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0B55A-F03B-44E7-99EF-2C59613C00DB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5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02149-A5FB-4F66-99E7-1A46A1CE0F29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2377909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3 Marcador de fecha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93DB3-BE29-4C98-9CEB-C908A28C24EF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5" name="4 Marcador de pie de página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7C739A-2618-4892-A5DF-7D586A22A646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316484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844612F-4DC3-4B4C-A8F6-BEE8D03FBC30}" type="datetimeFigureOut">
              <a:rPr lang="es-VE"/>
              <a:pPr>
                <a:defRPr/>
              </a:pPr>
              <a:t>12/8/2026</a:t>
            </a:fld>
            <a:endParaRPr lang="es-VE"/>
          </a:p>
        </p:txBody>
      </p:sp>
      <p:sp>
        <p:nvSpPr>
          <p:cNvPr id="5" name="4 Marcador de pie de página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VE"/>
          </a:p>
        </p:txBody>
      </p:sp>
      <p:sp>
        <p:nvSpPr>
          <p:cNvPr id="6" name="5 Marcador de número de diapositiva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8D3605C-F948-4216-A9DE-0483297EF91F}" type="slidenum">
              <a:rPr lang="es-VE" altLang="es-VE"/>
              <a:pPr>
                <a:defRPr/>
              </a:pPr>
              <a:t>‹#›</a:t>
            </a:fld>
            <a:endParaRPr lang="es-VE" alt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dscape.com/viewpublication/7750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/>
          </p:cNvSpPr>
          <p:nvPr>
            <p:ph type="title" idx="4294967295"/>
          </p:nvPr>
        </p:nvSpPr>
        <p:spPr>
          <a:xfrm>
            <a:off x="457200" y="620713"/>
            <a:ext cx="8229600" cy="1584325"/>
          </a:xfrm>
        </p:spPr>
        <p:txBody>
          <a:bodyPr/>
          <a:lstStyle/>
          <a:p>
            <a:pPr eaLnBrk="1" hangingPunct="1"/>
            <a:r>
              <a:rPr lang="es-ES" altLang="es-VE" sz="2800" b="1" smtClean="0"/>
              <a:t/>
            </a:r>
            <a:br>
              <a:rPr lang="es-ES" altLang="es-VE" sz="2800" b="1" smtClean="0"/>
            </a:br>
            <a:r>
              <a:rPr lang="es-ES" altLang="es-VE" sz="2800" b="1" smtClean="0"/>
              <a:t/>
            </a:r>
            <a:br>
              <a:rPr lang="es-ES" altLang="es-VE" sz="2800" b="1" smtClean="0"/>
            </a:br>
            <a:r>
              <a:rPr lang="es-ES" altLang="es-VE" sz="2800" b="1" smtClean="0"/>
              <a:t/>
            </a:r>
            <a:br>
              <a:rPr lang="es-ES" altLang="es-VE" sz="2800" b="1" smtClean="0"/>
            </a:br>
            <a:r>
              <a:rPr lang="es-ES" altLang="es-VE" sz="2800" b="1" smtClean="0"/>
              <a:t/>
            </a:r>
            <a:br>
              <a:rPr lang="es-ES" altLang="es-VE" sz="2800" b="1" smtClean="0"/>
            </a:br>
            <a:r>
              <a:rPr lang="es-ES" altLang="es-VE" sz="2800" b="1" smtClean="0"/>
              <a:t>LA MEDICACIÓN ANTITROMBÓTICA </a:t>
            </a:r>
            <a:br>
              <a:rPr lang="es-ES" altLang="es-VE" sz="2800" b="1" smtClean="0"/>
            </a:br>
            <a:r>
              <a:rPr lang="es-ES" altLang="es-VE" sz="2800" b="1" smtClean="0"/>
              <a:t/>
            </a:r>
            <a:br>
              <a:rPr lang="es-ES" altLang="es-VE" sz="2800" b="1" smtClean="0"/>
            </a:br>
            <a:r>
              <a:rPr lang="es-ES" altLang="es-VE" sz="2800" b="1" smtClean="0"/>
              <a:t>Antiagregantes plaquetarios, Heparinas, Anticoagulantes orales.    Fibrinolíticos</a:t>
            </a:r>
            <a:r>
              <a:rPr lang="es-ES" altLang="es-VE" sz="2400" b="1" smtClean="0"/>
              <a:t/>
            </a:r>
            <a:br>
              <a:rPr lang="es-ES" altLang="es-VE" sz="2400" b="1" smtClean="0"/>
            </a:br>
            <a:r>
              <a:rPr lang="es-ES" altLang="es-VE" sz="2400" b="1" smtClean="0"/>
              <a:t/>
            </a:r>
            <a:br>
              <a:rPr lang="es-ES" altLang="es-VE" sz="2400" b="1" smtClean="0"/>
            </a:br>
            <a:r>
              <a:rPr lang="es-ES" altLang="es-VE" sz="2400" b="1" smtClean="0"/>
              <a:t/>
            </a:r>
            <a:br>
              <a:rPr lang="es-ES" altLang="es-VE" sz="2400" b="1" smtClean="0"/>
            </a:br>
            <a:r>
              <a:rPr lang="es-ES" altLang="es-VE" sz="2400" b="1" smtClean="0"/>
              <a:t>Eduardo Romero Vecchione</a:t>
            </a:r>
            <a:br>
              <a:rPr lang="es-ES" altLang="es-VE" sz="2400" b="1" smtClean="0"/>
            </a:br>
            <a:r>
              <a:rPr lang="es-ES" altLang="es-VE" sz="2000" b="1" smtClean="0"/>
              <a:t>Lab. Estudios Cardiovasculares. Cátedra de Farmacología.  Esc. Medicina JM Vargas. UCV</a:t>
            </a:r>
            <a:r>
              <a:rPr lang="es-ES" altLang="es-VE" sz="2400" b="1" smtClean="0"/>
              <a:t/>
            </a:r>
            <a:br>
              <a:rPr lang="es-ES" altLang="es-VE" sz="2400" b="1" smtClean="0"/>
            </a:br>
            <a:endParaRPr lang="es-ES" altLang="es-VE" sz="2400" b="1" smtClean="0"/>
          </a:p>
        </p:txBody>
      </p:sp>
      <p:pic>
        <p:nvPicPr>
          <p:cNvPr id="3075" name="Picture 4" descr="trombo con fibrin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4005263"/>
            <a:ext cx="3162300" cy="205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Subtítulo">
            <a:extLst/>
          </p:cNvPr>
          <p:cNvSpPr>
            <a:spLocks noGrp="1"/>
          </p:cNvSpPr>
          <p:nvPr>
            <p:ph type="subTitle" idx="1"/>
          </p:nvPr>
        </p:nvSpPr>
        <p:spPr>
          <a:xfrm>
            <a:off x="1371600" y="1484313"/>
            <a:ext cx="6400800" cy="475297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/>
          <a:p>
            <a:pPr>
              <a:defRPr/>
            </a:pPr>
            <a:endParaRPr lang="es-VE" altLang="es-VE" sz="2400" b="1" dirty="0" smtClean="0">
              <a:solidFill>
                <a:schemeClr val="tx1"/>
              </a:solidFill>
            </a:endParaRPr>
          </a:p>
          <a:p>
            <a:pPr>
              <a:defRPr/>
            </a:pPr>
            <a:r>
              <a:rPr lang="es-VE" altLang="es-VE" sz="2400" b="1" dirty="0" smtClean="0">
                <a:solidFill>
                  <a:schemeClr val="tx1"/>
                </a:solidFill>
              </a:rPr>
              <a:t>Indicaciones:</a:t>
            </a:r>
          </a:p>
          <a:p>
            <a:pPr algn="just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1. Prevención primaria de la trombosis arterial o venosa</a:t>
            </a:r>
          </a:p>
          <a:p>
            <a:pPr algn="just">
              <a:buFont typeface="Arial" charset="0"/>
              <a:buNone/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2. Prevención </a:t>
            </a:r>
            <a:r>
              <a:rPr lang="es-VE" sz="2000" b="1" dirty="0">
                <a:solidFill>
                  <a:schemeClr val="tx1"/>
                </a:solidFill>
              </a:rPr>
              <a:t>secundaria de la trombosis</a:t>
            </a:r>
          </a:p>
          <a:p>
            <a:pPr algn="just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                      Heparinas</a:t>
            </a:r>
          </a:p>
          <a:p>
            <a:pPr algn="just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                      Antagonistas vitamina K (en desuso)</a:t>
            </a:r>
            <a:endParaRPr lang="es-VE" sz="2000" b="1" dirty="0">
              <a:solidFill>
                <a:schemeClr val="tx1"/>
              </a:solidFill>
            </a:endParaRPr>
          </a:p>
          <a:p>
            <a:pPr algn="just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                      Anticoagulantes orales (</a:t>
            </a:r>
            <a:r>
              <a:rPr lang="es-VE" sz="2000" b="1" dirty="0" err="1" smtClean="0">
                <a:solidFill>
                  <a:schemeClr val="tx1"/>
                </a:solidFill>
              </a:rPr>
              <a:t>iFX</a:t>
            </a:r>
            <a:r>
              <a:rPr lang="es-VE" sz="2000" b="1" dirty="0" smtClean="0">
                <a:solidFill>
                  <a:schemeClr val="tx1"/>
                </a:solidFill>
              </a:rPr>
              <a:t>, </a:t>
            </a:r>
            <a:r>
              <a:rPr lang="es-VE" sz="2000" b="1" dirty="0" err="1" smtClean="0">
                <a:solidFill>
                  <a:schemeClr val="tx1"/>
                </a:solidFill>
              </a:rPr>
              <a:t>iFXa</a:t>
            </a:r>
            <a:r>
              <a:rPr lang="es-VE" sz="2000" b="1" dirty="0" smtClean="0">
                <a:solidFill>
                  <a:schemeClr val="tx1"/>
                </a:solidFill>
              </a:rPr>
              <a:t>)</a:t>
            </a:r>
          </a:p>
          <a:p>
            <a:pPr algn="just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                      Antiagregantes </a:t>
            </a:r>
            <a:r>
              <a:rPr lang="es-VE" sz="2000" b="1" dirty="0">
                <a:solidFill>
                  <a:schemeClr val="tx1"/>
                </a:solidFill>
              </a:rPr>
              <a:t>plaquetarios</a:t>
            </a:r>
          </a:p>
          <a:p>
            <a:pPr algn="just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   </a:t>
            </a:r>
            <a:endParaRPr lang="es-VE" sz="2000" b="1" dirty="0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3. Disolución </a:t>
            </a:r>
            <a:r>
              <a:rPr lang="es-VE" sz="2000" b="1" dirty="0">
                <a:solidFill>
                  <a:schemeClr val="tx1"/>
                </a:solidFill>
              </a:rPr>
              <a:t>del trombo formado agudamente</a:t>
            </a:r>
            <a:r>
              <a:rPr lang="es-VE" sz="2000" b="1" dirty="0"/>
              <a:t> </a:t>
            </a:r>
          </a:p>
          <a:p>
            <a:pPr algn="l">
              <a:defRPr/>
            </a:pPr>
            <a:endParaRPr lang="es-VE" sz="2000" b="1" dirty="0" smtClean="0">
              <a:solidFill>
                <a:schemeClr val="tx1"/>
              </a:solidFill>
            </a:endParaRPr>
          </a:p>
          <a:p>
            <a:pPr algn="l">
              <a:defRPr/>
            </a:pPr>
            <a:r>
              <a:rPr lang="es-VE" sz="2000" b="1" dirty="0" smtClean="0">
                <a:solidFill>
                  <a:schemeClr val="tx1"/>
                </a:solidFill>
              </a:rPr>
              <a:t> 4. </a:t>
            </a:r>
            <a:r>
              <a:rPr lang="es-VE" sz="2000" b="1" dirty="0" err="1" smtClean="0">
                <a:solidFill>
                  <a:schemeClr val="tx1"/>
                </a:solidFill>
              </a:rPr>
              <a:t>Trombolíticos</a:t>
            </a:r>
            <a:r>
              <a:rPr lang="es-VE" sz="2000" b="1" dirty="0" smtClean="0">
                <a:solidFill>
                  <a:schemeClr val="tx1"/>
                </a:solidFill>
              </a:rPr>
              <a:t> (</a:t>
            </a:r>
            <a:r>
              <a:rPr lang="es-VE" sz="2000" b="1" dirty="0" err="1" smtClean="0">
                <a:solidFill>
                  <a:schemeClr val="tx1"/>
                </a:solidFill>
              </a:rPr>
              <a:t>Fibrinolíticos</a:t>
            </a:r>
            <a:r>
              <a:rPr lang="es-VE" sz="2000" b="1" dirty="0" smtClean="0">
                <a:solidFill>
                  <a:schemeClr val="tx1"/>
                </a:solidFill>
              </a:rPr>
              <a:t>)</a:t>
            </a:r>
          </a:p>
          <a:p>
            <a:pPr algn="just">
              <a:buFont typeface="Arial" charset="0"/>
              <a:buNone/>
              <a:defRPr/>
            </a:pPr>
            <a:endParaRPr lang="es-VE" sz="2000" b="1" dirty="0">
              <a:solidFill>
                <a:schemeClr val="tx1"/>
              </a:solidFill>
            </a:endParaRPr>
          </a:p>
          <a:p>
            <a:pPr>
              <a:buFont typeface="Arial" charset="0"/>
              <a:buNone/>
              <a:defRPr/>
            </a:pPr>
            <a:r>
              <a:rPr lang="es-VE" sz="2400" dirty="0" smtClean="0"/>
              <a:t> </a:t>
            </a:r>
            <a:endParaRPr lang="es-VE" sz="2400" dirty="0"/>
          </a:p>
        </p:txBody>
      </p:sp>
      <p:sp>
        <p:nvSpPr>
          <p:cNvPr id="4098" name="3 Título"/>
          <p:cNvSpPr>
            <a:spLocks noGrp="1"/>
          </p:cNvSpPr>
          <p:nvPr>
            <p:ph type="ctrTitle"/>
          </p:nvPr>
        </p:nvSpPr>
        <p:spPr>
          <a:xfrm>
            <a:off x="685800" y="333375"/>
            <a:ext cx="7772400" cy="1008063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b="1" dirty="0" smtClean="0"/>
              <a:t>ANTITROMB</a:t>
            </a:r>
            <a:r>
              <a:rPr lang="es-VE" sz="2400" b="1" dirty="0" smtClean="0"/>
              <a:t>Ó</a:t>
            </a:r>
            <a:r>
              <a:rPr lang="es-VE" altLang="es-VE" sz="2400" b="1" dirty="0" smtClean="0"/>
              <a:t>TICOS</a:t>
            </a:r>
            <a:br>
              <a:rPr lang="es-VE" altLang="es-VE" sz="2400" b="1" dirty="0" smtClean="0"/>
            </a:br>
            <a:endParaRPr lang="es-VE" altLang="es-VE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n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13" y="1497013"/>
            <a:ext cx="7064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CuadroTexto 4"/>
          <p:cNvSpPr txBox="1">
            <a:spLocks noChangeArrowheads="1"/>
          </p:cNvSpPr>
          <p:nvPr/>
        </p:nvSpPr>
        <p:spPr bwMode="auto">
          <a:xfrm>
            <a:off x="2962275" y="5492750"/>
            <a:ext cx="3052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2400" b="1">
                <a:solidFill>
                  <a:srgbClr val="FF0000"/>
                </a:solidFill>
              </a:rPr>
              <a:t>Ruptura erosión placa</a:t>
            </a:r>
          </a:p>
        </p:txBody>
      </p:sp>
      <p:sp>
        <p:nvSpPr>
          <p:cNvPr id="6148" name="CuadroTexto 5"/>
          <p:cNvSpPr txBox="1">
            <a:spLocks noChangeArrowheads="1"/>
          </p:cNvSpPr>
          <p:nvPr/>
        </p:nvSpPr>
        <p:spPr bwMode="auto">
          <a:xfrm>
            <a:off x="1547813" y="3905250"/>
            <a:ext cx="14144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Disfuncion endotelial</a:t>
            </a:r>
          </a:p>
        </p:txBody>
      </p:sp>
      <p:sp>
        <p:nvSpPr>
          <p:cNvPr id="6149" name="CuadroTexto 6"/>
          <p:cNvSpPr txBox="1">
            <a:spLocks noChangeArrowheads="1"/>
          </p:cNvSpPr>
          <p:nvPr/>
        </p:nvSpPr>
        <p:spPr bwMode="auto">
          <a:xfrm>
            <a:off x="1692275" y="3240088"/>
            <a:ext cx="1465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Estres roce </a:t>
            </a:r>
          </a:p>
        </p:txBody>
      </p:sp>
      <p:sp>
        <p:nvSpPr>
          <p:cNvPr id="6150" name="CuadroTexto 7"/>
          <p:cNvSpPr txBox="1">
            <a:spLocks noChangeArrowheads="1"/>
          </p:cNvSpPr>
          <p:nvPr/>
        </p:nvSpPr>
        <p:spPr bwMode="auto">
          <a:xfrm>
            <a:off x="2124075" y="2693988"/>
            <a:ext cx="2014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Plaquetas activa</a:t>
            </a:r>
            <a:r>
              <a:rPr lang="en-US" altLang="es-VE" sz="1600">
                <a:solidFill>
                  <a:schemeClr val="bg1"/>
                </a:solidFill>
              </a:rPr>
              <a:t>das</a:t>
            </a:r>
          </a:p>
        </p:txBody>
      </p:sp>
      <p:sp>
        <p:nvSpPr>
          <p:cNvPr id="6151" name="CuadroTexto 8"/>
          <p:cNvSpPr txBox="1">
            <a:spLocks noChangeArrowheads="1"/>
          </p:cNvSpPr>
          <p:nvPr/>
        </p:nvSpPr>
        <p:spPr bwMode="auto">
          <a:xfrm>
            <a:off x="4446588" y="2479675"/>
            <a:ext cx="21415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Catecolaminas circulantes</a:t>
            </a:r>
          </a:p>
        </p:txBody>
      </p:sp>
      <p:sp>
        <p:nvSpPr>
          <p:cNvPr id="6152" name="CuadroTexto 9"/>
          <p:cNvSpPr txBox="1">
            <a:spLocks noChangeArrowheads="1"/>
          </p:cNvSpPr>
          <p:nvPr/>
        </p:nvSpPr>
        <p:spPr bwMode="auto">
          <a:xfrm>
            <a:off x="5657850" y="3073400"/>
            <a:ext cx="13922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Fibrinogeno</a:t>
            </a:r>
          </a:p>
        </p:txBody>
      </p:sp>
      <p:sp>
        <p:nvSpPr>
          <p:cNvPr id="6153" name="CuadroTexto 10"/>
          <p:cNvSpPr txBox="1">
            <a:spLocks noChangeArrowheads="1"/>
          </p:cNvSpPr>
          <p:nvPr/>
        </p:nvSpPr>
        <p:spPr bwMode="auto">
          <a:xfrm>
            <a:off x="6015038" y="3905250"/>
            <a:ext cx="1035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PAI-1/ ON</a:t>
            </a:r>
          </a:p>
        </p:txBody>
      </p:sp>
      <p:sp>
        <p:nvSpPr>
          <p:cNvPr id="6154" name="CuadroTexto 11"/>
          <p:cNvSpPr txBox="1">
            <a:spLocks noChangeArrowheads="1"/>
          </p:cNvSpPr>
          <p:nvPr/>
        </p:nvSpPr>
        <p:spPr bwMode="auto">
          <a:xfrm rot="10800000" flipV="1">
            <a:off x="1039813" y="461963"/>
            <a:ext cx="70643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s-VE" sz="2000" b="1"/>
              <a:t>LA TROMBOSIS ARTERIAL y el IM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s-VE" sz="2000" b="1"/>
              <a:t> CONCIERTO DE FACTORES CON UN DIRECTOR  PRINCIPAL: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s-VE" sz="2000" b="1"/>
              <a:t>erosión, fisura, ruptura  de PLACA INESTABLE  </a:t>
            </a:r>
          </a:p>
        </p:txBody>
      </p:sp>
      <p:sp>
        <p:nvSpPr>
          <p:cNvPr id="6155" name="CuadroTexto 12"/>
          <p:cNvSpPr txBox="1">
            <a:spLocks noChangeArrowheads="1"/>
          </p:cNvSpPr>
          <p:nvPr/>
        </p:nvSpPr>
        <p:spPr bwMode="auto">
          <a:xfrm>
            <a:off x="3651250" y="3305175"/>
            <a:ext cx="14366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Tromboxano A2</a:t>
            </a:r>
            <a:r>
              <a:rPr lang="en-US" altLang="es-VE" sz="1600">
                <a:solidFill>
                  <a:schemeClr val="bg1"/>
                </a:solidFill>
              </a:rPr>
              <a:t>/ </a:t>
            </a:r>
            <a:r>
              <a:rPr lang="en-US" altLang="es-VE" sz="1600" b="1">
                <a:solidFill>
                  <a:schemeClr val="bg1"/>
                </a:solidFill>
              </a:rPr>
              <a:t>Prostaciclina</a:t>
            </a:r>
          </a:p>
        </p:txBody>
      </p:sp>
      <p:sp>
        <p:nvSpPr>
          <p:cNvPr id="6156" name="CuadroTexto 13"/>
          <p:cNvSpPr txBox="1">
            <a:spLocks noChangeArrowheads="1"/>
          </p:cNvSpPr>
          <p:nvPr/>
        </p:nvSpPr>
        <p:spPr bwMode="auto">
          <a:xfrm>
            <a:off x="1692275" y="2051050"/>
            <a:ext cx="2063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VE" sz="1600" b="1">
                <a:solidFill>
                  <a:schemeClr val="bg1"/>
                </a:solidFill>
              </a:rPr>
              <a:t>LDL/ HDL/trigliceridos</a:t>
            </a:r>
          </a:p>
        </p:txBody>
      </p:sp>
      <p:sp>
        <p:nvSpPr>
          <p:cNvPr id="6157" name="CuadroTexto 1"/>
          <p:cNvSpPr txBox="1">
            <a:spLocks noChangeArrowheads="1"/>
          </p:cNvSpPr>
          <p:nvPr/>
        </p:nvSpPr>
        <p:spPr bwMode="auto">
          <a:xfrm>
            <a:off x="5657850" y="3578225"/>
            <a:ext cx="21542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s-VE" sz="1400" b="1">
                <a:solidFill>
                  <a:schemeClr val="bg1"/>
                </a:solidFill>
                <a:latin typeface="Arial" panose="020B0604020202020204" pitchFamily="34" charset="0"/>
              </a:rPr>
              <a:t>MMP-9 / LT CD4+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ES" altLang="es-VE" sz="2400" b="1" dirty="0" smtClean="0"/>
              <a:t/>
            </a:r>
            <a:br>
              <a:rPr lang="es-ES" altLang="es-VE" sz="2400" b="1" dirty="0" smtClean="0"/>
            </a:br>
            <a:r>
              <a:rPr lang="es-ES" altLang="es-VE" sz="2400" b="1" dirty="0" smtClean="0"/>
              <a:t>Indicaciones en SCA 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1331913" y="1600200"/>
            <a:ext cx="7354887" cy="452596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ES" altLang="es-VE" sz="2400" b="1" dirty="0" smtClean="0"/>
              <a:t>                                          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ES" altLang="es-VE" sz="2400" b="1" dirty="0" smtClean="0"/>
              <a:t>                                         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ES" altLang="es-VE" sz="2400" b="1" dirty="0" smtClean="0"/>
          </a:p>
          <a:p>
            <a:pPr eaLnBrk="1" hangingPunct="1">
              <a:defRPr/>
            </a:pPr>
            <a:r>
              <a:rPr lang="es-ES" altLang="es-VE" sz="2400" b="1" dirty="0" smtClean="0"/>
              <a:t>ANGINA  INESTABLE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ES" altLang="es-VE" sz="2400" b="1" dirty="0" smtClean="0"/>
          </a:p>
          <a:p>
            <a:pPr eaLnBrk="1" hangingPunct="1">
              <a:defRPr/>
            </a:pPr>
            <a:r>
              <a:rPr lang="es-ES" altLang="es-VE" sz="2400" b="1" dirty="0" smtClean="0"/>
              <a:t> INFARTO AGUDO DE MIOCARDIO  (NST, ST)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ES" altLang="es-VE" sz="2400" b="1" dirty="0" smtClean="0"/>
          </a:p>
          <a:p>
            <a:pPr eaLnBrk="1" hangingPunct="1">
              <a:defRPr/>
            </a:pPr>
            <a:r>
              <a:rPr lang="es-ES" altLang="es-VE" sz="2400" b="1" dirty="0" smtClean="0"/>
              <a:t>Pre, </a:t>
            </a:r>
            <a:r>
              <a:rPr lang="es-ES" altLang="es-VE" sz="2400" b="1" dirty="0" err="1" smtClean="0"/>
              <a:t>posPRÓTESIS</a:t>
            </a:r>
            <a:r>
              <a:rPr lang="es-ES" altLang="es-VE" sz="2400" b="1" dirty="0" smtClean="0"/>
              <a:t> ENDOVASCULAR (</a:t>
            </a:r>
            <a:r>
              <a:rPr lang="es-ES" altLang="es-VE" sz="2400" b="1" i="1" dirty="0" err="1" smtClean="0"/>
              <a:t>stent</a:t>
            </a:r>
            <a:r>
              <a:rPr lang="es-ES" altLang="es-VE" sz="2400" b="1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ES" altLang="es-VE" sz="2800" b="1" dirty="0" smtClean="0"/>
              <a:t>Embolismo pulmonar 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ES" altLang="es-VE" sz="2800" b="1" smtClean="0"/>
              <a:t>2. Embolismo pulmonar.  Vía cava inferior (trombósis venosa profunda).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altLang="es-VE" sz="2800" b="1" smtClean="0"/>
              <a:t>- Microémbolos por covid-19</a:t>
            </a:r>
          </a:p>
        </p:txBody>
      </p:sp>
      <p:pic>
        <p:nvPicPr>
          <p:cNvPr id="8196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2965450"/>
            <a:ext cx="4714875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ES" altLang="es-VE" sz="2800" b="1" dirty="0" smtClean="0"/>
              <a:t>3. ICTUS. En fibrilación auricular, prevenir embolismo cerebral  desde aurícula izquierda (90% orejuela)</a:t>
            </a:r>
          </a:p>
        </p:txBody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457200" y="1628775"/>
            <a:ext cx="8229600" cy="4525963"/>
          </a:xfrm>
        </p:spPr>
        <p:txBody>
          <a:bodyPr/>
          <a:lstStyle/>
          <a:p>
            <a:pPr>
              <a:defRPr/>
            </a:pPr>
            <a:endParaRPr lang="es-ES" altLang="es-VE" sz="28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ES" altLang="es-VE" sz="2800" b="1" dirty="0"/>
          </a:p>
          <a:p>
            <a:pPr>
              <a:defRPr/>
            </a:pPr>
            <a:r>
              <a:rPr lang="es-ES" altLang="es-VE" sz="2800" b="1" dirty="0"/>
              <a:t>E</a:t>
            </a:r>
            <a:r>
              <a:rPr lang="es-ES" altLang="es-VE" sz="2800" b="1" dirty="0" smtClean="0"/>
              <a:t>mbolo ascendente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ES" altLang="es-VE" sz="2800" b="1" dirty="0"/>
              <a:t> </a:t>
            </a:r>
            <a:r>
              <a:rPr lang="es-ES" altLang="es-VE" sz="2800" b="1" dirty="0" smtClean="0"/>
              <a:t>    vía</a:t>
            </a:r>
            <a:r>
              <a:rPr lang="es-ES" altLang="es-VE" sz="2800" dirty="0" smtClean="0"/>
              <a:t> </a:t>
            </a:r>
            <a:r>
              <a:rPr lang="es-ES" altLang="es-VE" sz="2800" b="1" dirty="0" smtClean="0"/>
              <a:t>arterias</a:t>
            </a:r>
            <a:r>
              <a:rPr lang="es-ES" altLang="es-VE" sz="2800" dirty="0" smtClean="0"/>
              <a:t> </a:t>
            </a:r>
            <a:r>
              <a:rPr lang="es-ES" altLang="es-VE" sz="2800" b="1" dirty="0" smtClean="0"/>
              <a:t>carótidas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ES" altLang="es-VE" sz="2800" b="1" dirty="0" smtClean="0"/>
          </a:p>
          <a:p>
            <a:pPr>
              <a:defRPr/>
            </a:pPr>
            <a:r>
              <a:rPr lang="es-ES" altLang="es-VE" sz="2800" b="1" dirty="0" smtClean="0"/>
              <a:t>Ictus isquémico </a:t>
            </a:r>
          </a:p>
          <a:p>
            <a:pPr>
              <a:defRPr/>
            </a:pPr>
            <a:endParaRPr lang="es-ES" altLang="es-VE" sz="2800" b="1" dirty="0"/>
          </a:p>
          <a:p>
            <a:pPr>
              <a:defRPr/>
            </a:pPr>
            <a:r>
              <a:rPr lang="es-ES" altLang="es-VE" sz="2800" b="1" dirty="0" smtClean="0"/>
              <a:t>Embolo de 2 mm puede causar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ES" altLang="es-VE" sz="2800" b="1" dirty="0"/>
              <a:t> </a:t>
            </a:r>
            <a:r>
              <a:rPr lang="es-ES" altLang="es-VE" sz="2800" b="1" dirty="0" smtClean="0"/>
              <a:t>   ictus grave</a:t>
            </a:r>
            <a:endParaRPr lang="es-ES" altLang="es-VE" sz="2800" dirty="0" smtClean="0"/>
          </a:p>
        </p:txBody>
      </p:sp>
      <p:pic>
        <p:nvPicPr>
          <p:cNvPr id="9220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073525"/>
            <a:ext cx="2032000" cy="229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398588"/>
            <a:ext cx="1763712" cy="268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90762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ES" altLang="es-VE" sz="2800" b="1" dirty="0" smtClean="0"/>
              <a:t>4. Prevención EMBOLISMO PULMONAR posoperatorio en cirugía traumatológica (rodilla, cadera)</a:t>
            </a:r>
            <a:br>
              <a:rPr lang="es-ES" altLang="es-VE" sz="2800" b="1" dirty="0" smtClean="0"/>
            </a:br>
            <a:r>
              <a:rPr lang="es-ES" altLang="es-VE" sz="2800" b="1" dirty="0" smtClean="0"/>
              <a:t/>
            </a:r>
            <a:br>
              <a:rPr lang="es-ES" altLang="es-VE" sz="2800" b="1" dirty="0" smtClean="0"/>
            </a:br>
            <a:r>
              <a:rPr lang="es-ES" altLang="es-VE" sz="2800" b="1" dirty="0" smtClean="0"/>
              <a:t>En cirugía abdominal o pelviana </a:t>
            </a:r>
          </a:p>
        </p:txBody>
      </p:sp>
      <p:pic>
        <p:nvPicPr>
          <p:cNvPr id="10243" name="Picture 4" descr="Protesis cadera prevenir tromb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930525"/>
            <a:ext cx="252095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Título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b="1" dirty="0" smtClean="0"/>
              <a:t>5. TROMBOSIS VENOSA PROFUNDA</a:t>
            </a:r>
            <a:br>
              <a:rPr lang="es-VE" altLang="es-VE" sz="2400" b="1" dirty="0" smtClean="0"/>
            </a:br>
            <a:r>
              <a:rPr lang="es-VE" altLang="es-VE" sz="2400" b="1" dirty="0" smtClean="0"/>
              <a:t>(Etiología: trauma de </a:t>
            </a:r>
            <a:r>
              <a:rPr lang="es-VE" altLang="es-VE" sz="2400" b="1" dirty="0" err="1" smtClean="0"/>
              <a:t>MIs</a:t>
            </a:r>
            <a:r>
              <a:rPr lang="es-VE" altLang="es-VE" sz="2400" b="1" dirty="0" smtClean="0"/>
              <a:t>, infección, reposo prolongado, cáncer viajes largos, varices) </a:t>
            </a:r>
          </a:p>
        </p:txBody>
      </p:sp>
      <p:pic>
        <p:nvPicPr>
          <p:cNvPr id="11267" name="3 Marcador de contenido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9738" y="2125663"/>
            <a:ext cx="5724525" cy="3762375"/>
          </a:xfrm>
        </p:spPr>
      </p:pic>
      <p:sp>
        <p:nvSpPr>
          <p:cNvPr id="11268" name="3 CuadroTexto"/>
          <p:cNvSpPr txBox="1">
            <a:spLocks noChangeArrowheads="1"/>
          </p:cNvSpPr>
          <p:nvPr/>
        </p:nvSpPr>
        <p:spPr bwMode="auto">
          <a:xfrm>
            <a:off x="5643563" y="1571625"/>
            <a:ext cx="20970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latin typeface="Arial" panose="020B0604020202020204" pitchFamily="34" charset="0"/>
              </a:rPr>
              <a:t>Al púlmón , vía AD , VD, 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685800" y="1484313"/>
            <a:ext cx="7772400" cy="1439862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b="1" dirty="0" smtClean="0">
                <a:solidFill>
                  <a:schemeClr val="folHlink"/>
                </a:solidFill>
              </a:rPr>
              <a:t>HEPARINAS</a:t>
            </a:r>
            <a:endParaRPr lang="en-US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655763"/>
          </a:xfrm>
        </p:spPr>
        <p:txBody>
          <a:bodyPr/>
          <a:lstStyle/>
          <a:p>
            <a:pPr>
              <a:defRPr/>
            </a:pPr>
            <a:r>
              <a:rPr lang="es-MX" altLang="es-VE" b="1" dirty="0">
                <a:solidFill>
                  <a:schemeClr val="folHlink"/>
                </a:solidFill>
              </a:rPr>
              <a:t>HEPARINA NO </a:t>
            </a:r>
            <a:r>
              <a:rPr lang="es-MX" altLang="es-VE" b="1" dirty="0" smtClean="0">
                <a:solidFill>
                  <a:schemeClr val="folHlink"/>
                </a:solidFill>
              </a:rPr>
              <a:t>FRACCIONADA</a:t>
            </a:r>
          </a:p>
          <a:p>
            <a:pPr>
              <a:defRPr/>
            </a:pPr>
            <a:endParaRPr lang="es-MX" altLang="es-VE" b="1" dirty="0" smtClean="0">
              <a:solidFill>
                <a:schemeClr val="folHlink"/>
              </a:solidFill>
            </a:endParaRPr>
          </a:p>
          <a:p>
            <a:pPr>
              <a:defRPr/>
            </a:pPr>
            <a:r>
              <a:rPr lang="es-MX" altLang="es-VE" b="1" dirty="0" smtClean="0">
                <a:solidFill>
                  <a:schemeClr val="folHlink"/>
                </a:solidFill>
              </a:rPr>
              <a:t>HEPARINAS FRACCIONADAS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Título">
            <a:extLst/>
          </p:cNvPr>
          <p:cNvSpPr>
            <a:spLocks noGrp="1"/>
          </p:cNvSpPr>
          <p:nvPr>
            <p:ph type="ctrTitle"/>
          </p:nvPr>
        </p:nvSpPr>
        <p:spPr>
          <a:xfrm>
            <a:off x="684213" y="333375"/>
            <a:ext cx="7772400" cy="1000125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>
                <a:solidFill>
                  <a:schemeClr val="folHlink"/>
                </a:solidFill>
              </a:rPr>
              <a:t>HEPARINA </a:t>
            </a:r>
            <a:r>
              <a:rPr lang="es-MX" altLang="es-VE" sz="2400" b="1" dirty="0">
                <a:solidFill>
                  <a:schemeClr val="folHlink"/>
                </a:solidFill>
              </a:rPr>
              <a:t>NO </a:t>
            </a:r>
            <a:r>
              <a:rPr lang="es-MX" altLang="es-VE" sz="2400" b="1" dirty="0" smtClean="0">
                <a:solidFill>
                  <a:schemeClr val="folHlink"/>
                </a:solidFill>
              </a:rPr>
              <a:t>FRACCIONADA (HEPARINA)</a:t>
            </a:r>
            <a:endParaRPr lang="es-VE" altLang="es-VE" sz="2400" b="1" dirty="0">
              <a:solidFill>
                <a:schemeClr val="folHlink"/>
              </a:solidFill>
            </a:endParaRPr>
          </a:p>
        </p:txBody>
      </p:sp>
      <p:sp>
        <p:nvSpPr>
          <p:cNvPr id="13315" name="2 Subtítulo"/>
          <p:cNvSpPr>
            <a:spLocks noGrp="1"/>
          </p:cNvSpPr>
          <p:nvPr>
            <p:ph type="subTitle" idx="1"/>
          </p:nvPr>
        </p:nvSpPr>
        <p:spPr>
          <a:xfrm>
            <a:off x="1371600" y="1428750"/>
            <a:ext cx="6400800" cy="421005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chemeClr val="tx1"/>
                </a:solidFill>
              </a:rPr>
              <a:t>Heparina. Proteoglicano </a:t>
            </a:r>
          </a:p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chemeClr val="tx1"/>
                </a:solidFill>
              </a:rPr>
              <a:t>-Polímero de acido glucurónico y N-acetil D-glucosamina, sulfatado, fuertes cargas iónicas negativas en cada unidad (SO3-).</a:t>
            </a:r>
          </a:p>
          <a:p>
            <a:pPr algn="just" eaLnBrk="1" hangingPunct="1">
              <a:lnSpc>
                <a:spcPct val="90000"/>
              </a:lnSpc>
            </a:pPr>
            <a:endParaRPr lang="es-MX" altLang="es-VE" sz="2000" b="1" smtClean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chemeClr val="tx1"/>
                </a:solidFill>
              </a:rPr>
              <a:t>PM 700.000 a 1.000.000                         </a:t>
            </a:r>
          </a:p>
          <a:p>
            <a:pPr algn="just" eaLnBrk="1" hangingPunct="1">
              <a:lnSpc>
                <a:spcPct val="90000"/>
              </a:lnSpc>
            </a:pPr>
            <a:endParaRPr lang="es-MX" altLang="es-VE" sz="2000" b="1" smtClean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rgbClr val="FF0000"/>
                </a:solidFill>
              </a:rPr>
              <a:t>NO SE ABSORBE VIA ORAL       </a:t>
            </a:r>
          </a:p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rgbClr val="FF0000"/>
                </a:solidFill>
              </a:rPr>
              <a:t>Origen: Células cebadas de intestino o pulmón de cerdo</a:t>
            </a:r>
            <a:r>
              <a:rPr lang="es-MX" altLang="es-VE" sz="2000" b="1" smtClean="0">
                <a:solidFill>
                  <a:schemeClr val="tx1"/>
                </a:solidFill>
              </a:rPr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chemeClr val="tx1"/>
                </a:solidFill>
              </a:rPr>
              <a:t>Al purificar, se retiran residuos de otros proteoglicanos.</a:t>
            </a:r>
          </a:p>
          <a:p>
            <a:pPr algn="just" eaLnBrk="1" hangingPunct="1">
              <a:lnSpc>
                <a:spcPct val="90000"/>
              </a:lnSpc>
            </a:pPr>
            <a:endParaRPr lang="es-MX" altLang="es-VE" sz="2000" b="1" smtClean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s-MX" altLang="es-VE" sz="2000" b="1" smtClean="0">
                <a:solidFill>
                  <a:schemeClr val="tx1"/>
                </a:solidFill>
              </a:rPr>
              <a:t>Heparan sulfato. En superficie del endotelio vascular. Glicocalix</a:t>
            </a:r>
          </a:p>
          <a:p>
            <a:pPr algn="just" eaLnBrk="1" hangingPunct="1">
              <a:lnSpc>
                <a:spcPct val="90000"/>
              </a:lnSpc>
            </a:pPr>
            <a:endParaRPr lang="es-VE" altLang="es-VE" sz="2000" b="1" smtClean="0">
              <a:solidFill>
                <a:schemeClr val="tx1"/>
              </a:solidFill>
            </a:endParaRPr>
          </a:p>
        </p:txBody>
      </p:sp>
      <p:pic>
        <p:nvPicPr>
          <p:cNvPr id="13316" name="4 Ima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397125"/>
            <a:ext cx="2928938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Título">
            <a:extLst/>
          </p:cNvPr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1143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/>
              <a:t>HEPARINA </a:t>
            </a:r>
            <a:r>
              <a:rPr lang="es-VE" altLang="es-VE" sz="2400" dirty="0"/>
              <a:t>NO </a:t>
            </a:r>
            <a:r>
              <a:rPr lang="es-VE" altLang="es-VE" sz="2400" dirty="0" smtClean="0"/>
              <a:t>FRACCIONADA</a:t>
            </a:r>
            <a:r>
              <a:rPr lang="es-MX" altLang="es-VE" sz="2400" b="1" dirty="0" smtClean="0"/>
              <a:t>. </a:t>
            </a:r>
            <a:r>
              <a:rPr lang="es-MX" altLang="es-VE" sz="2400" b="1" dirty="0">
                <a:solidFill>
                  <a:schemeClr val="tx2"/>
                </a:solidFill>
              </a:rPr>
              <a:t>Mecanismo de acción</a:t>
            </a:r>
            <a:br>
              <a:rPr lang="es-MX" altLang="es-VE" sz="2400" b="1" dirty="0">
                <a:solidFill>
                  <a:schemeClr val="tx2"/>
                </a:solidFill>
              </a:rPr>
            </a:br>
            <a:endParaRPr lang="es-VE" altLang="es-VE" sz="2400" b="1" dirty="0"/>
          </a:p>
        </p:txBody>
      </p:sp>
      <p:sp>
        <p:nvSpPr>
          <p:cNvPr id="1536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Inhibe factores de coagulación de la VIA INTRINSECA y de la VIA FINAL COMÚN de la coagulación.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              factores principales i :  trombina (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IIa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                                                       factor   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Xa</a:t>
            </a:r>
            <a:endParaRPr lang="es-MX" altLang="es-VE" sz="2000" b="1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s-MX" altLang="es-VE" sz="2000" b="1" dirty="0" smtClean="0">
                <a:solidFill>
                  <a:schemeClr val="folHlink"/>
                </a:solidFill>
              </a:rPr>
              <a:t>Adicionales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chemeClr val="folHlink"/>
                </a:solidFill>
              </a:rPr>
              <a:t>      factor   </a:t>
            </a:r>
            <a:r>
              <a:rPr lang="es-MX" altLang="es-VE" sz="2000" b="1" dirty="0" err="1" smtClean="0">
                <a:solidFill>
                  <a:schemeClr val="folHlink"/>
                </a:solidFill>
              </a:rPr>
              <a:t>XIIa</a:t>
            </a:r>
            <a:r>
              <a:rPr lang="es-MX" altLang="es-VE" sz="2000" b="1" dirty="0" smtClean="0">
                <a:solidFill>
                  <a:schemeClr val="folHlink"/>
                </a:solidFill>
              </a:rPr>
              <a:t>, XI a y </a:t>
            </a:r>
            <a:r>
              <a:rPr lang="es-MX" altLang="es-VE" sz="2000" b="1" dirty="0" err="1" smtClean="0">
                <a:solidFill>
                  <a:schemeClr val="folHlink"/>
                </a:solidFill>
              </a:rPr>
              <a:t>IXa</a:t>
            </a:r>
            <a:endParaRPr lang="es-MX" altLang="es-VE" sz="2000" b="1" dirty="0" smtClean="0">
              <a:solidFill>
                <a:schemeClr val="folHlink"/>
              </a:solidFill>
            </a:endParaRPr>
          </a:p>
          <a:p>
            <a:pPr eaLnBrk="1" hangingPunct="1">
              <a:defRPr/>
            </a:pP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NOTA. Otro </a:t>
            </a:r>
            <a:r>
              <a:rPr lang="es-MX" altLang="es-VE" sz="2000" b="1" dirty="0" err="1" smtClean="0"/>
              <a:t>glucosaminoglicano</a:t>
            </a:r>
            <a:r>
              <a:rPr lang="es-MX" altLang="es-VE" sz="2000" b="1" dirty="0" smtClean="0"/>
              <a:t>: </a:t>
            </a:r>
            <a:r>
              <a:rPr lang="es-MX" altLang="es-VE" sz="2000" b="1" dirty="0" err="1" smtClean="0"/>
              <a:t>dermatan</a:t>
            </a:r>
            <a:r>
              <a:rPr lang="es-MX" altLang="es-VE" sz="2000" b="1" dirty="0" smtClean="0"/>
              <a:t> sulfato, presente en piel , válvulas cardiacas, arterias, tiene efecto anticoagulante </a:t>
            </a:r>
          </a:p>
        </p:txBody>
      </p:sp>
      <p:pic>
        <p:nvPicPr>
          <p:cNvPr id="14340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152775"/>
            <a:ext cx="303847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rma libre 2"/>
          <p:cNvSpPr/>
          <p:nvPr/>
        </p:nvSpPr>
        <p:spPr>
          <a:xfrm>
            <a:off x="6973888" y="3016250"/>
            <a:ext cx="546100" cy="422275"/>
          </a:xfrm>
          <a:custGeom>
            <a:avLst/>
            <a:gdLst>
              <a:gd name="connsiteX0" fmla="*/ 0 w 545910"/>
              <a:gd name="connsiteY0" fmla="*/ 122830 h 423081"/>
              <a:gd name="connsiteX1" fmla="*/ 13648 w 545910"/>
              <a:gd name="connsiteY1" fmla="*/ 204717 h 423081"/>
              <a:gd name="connsiteX2" fmla="*/ 54591 w 545910"/>
              <a:gd name="connsiteY2" fmla="*/ 300251 h 423081"/>
              <a:gd name="connsiteX3" fmla="*/ 122830 w 545910"/>
              <a:gd name="connsiteY3" fmla="*/ 382138 h 423081"/>
              <a:gd name="connsiteX4" fmla="*/ 163773 w 545910"/>
              <a:gd name="connsiteY4" fmla="*/ 409433 h 423081"/>
              <a:gd name="connsiteX5" fmla="*/ 204716 w 545910"/>
              <a:gd name="connsiteY5" fmla="*/ 423081 h 423081"/>
              <a:gd name="connsiteX6" fmla="*/ 286603 w 545910"/>
              <a:gd name="connsiteY6" fmla="*/ 409433 h 423081"/>
              <a:gd name="connsiteX7" fmla="*/ 327546 w 545910"/>
              <a:gd name="connsiteY7" fmla="*/ 395785 h 423081"/>
              <a:gd name="connsiteX8" fmla="*/ 423081 w 545910"/>
              <a:gd name="connsiteY8" fmla="*/ 368490 h 423081"/>
              <a:gd name="connsiteX9" fmla="*/ 464024 w 545910"/>
              <a:gd name="connsiteY9" fmla="*/ 341194 h 423081"/>
              <a:gd name="connsiteX10" fmla="*/ 491319 w 545910"/>
              <a:gd name="connsiteY10" fmla="*/ 300251 h 423081"/>
              <a:gd name="connsiteX11" fmla="*/ 532263 w 545910"/>
              <a:gd name="connsiteY11" fmla="*/ 259308 h 423081"/>
              <a:gd name="connsiteX12" fmla="*/ 545910 w 545910"/>
              <a:gd name="connsiteY12" fmla="*/ 218364 h 423081"/>
              <a:gd name="connsiteX13" fmla="*/ 532263 w 545910"/>
              <a:gd name="connsiteY13" fmla="*/ 95535 h 423081"/>
              <a:gd name="connsiteX14" fmla="*/ 518615 w 545910"/>
              <a:gd name="connsiteY14" fmla="*/ 54591 h 423081"/>
              <a:gd name="connsiteX15" fmla="*/ 477672 w 545910"/>
              <a:gd name="connsiteY15" fmla="*/ 27296 h 423081"/>
              <a:gd name="connsiteX16" fmla="*/ 354842 w 545910"/>
              <a:gd name="connsiteY16" fmla="*/ 0 h 423081"/>
              <a:gd name="connsiteX17" fmla="*/ 191069 w 545910"/>
              <a:gd name="connsiteY17" fmla="*/ 13648 h 423081"/>
              <a:gd name="connsiteX18" fmla="*/ 109182 w 545910"/>
              <a:gd name="connsiteY18" fmla="*/ 68239 h 423081"/>
              <a:gd name="connsiteX19" fmla="*/ 81887 w 545910"/>
              <a:gd name="connsiteY19" fmla="*/ 81887 h 423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45910" h="423081">
                <a:moveTo>
                  <a:pt x="0" y="122830"/>
                </a:moveTo>
                <a:cubicBezTo>
                  <a:pt x="4549" y="150126"/>
                  <a:pt x="7645" y="177704"/>
                  <a:pt x="13648" y="204717"/>
                </a:cubicBezTo>
                <a:cubicBezTo>
                  <a:pt x="20608" y="236039"/>
                  <a:pt x="39416" y="273696"/>
                  <a:pt x="54591" y="300251"/>
                </a:cubicBezTo>
                <a:cubicBezTo>
                  <a:pt x="74109" y="334407"/>
                  <a:pt x="92039" y="356479"/>
                  <a:pt x="122830" y="382138"/>
                </a:cubicBezTo>
                <a:cubicBezTo>
                  <a:pt x="135431" y="392639"/>
                  <a:pt x="149102" y="402098"/>
                  <a:pt x="163773" y="409433"/>
                </a:cubicBezTo>
                <a:cubicBezTo>
                  <a:pt x="176640" y="415867"/>
                  <a:pt x="191068" y="418532"/>
                  <a:pt x="204716" y="423081"/>
                </a:cubicBezTo>
                <a:cubicBezTo>
                  <a:pt x="232012" y="418532"/>
                  <a:pt x="259590" y="415436"/>
                  <a:pt x="286603" y="409433"/>
                </a:cubicBezTo>
                <a:cubicBezTo>
                  <a:pt x="300646" y="406312"/>
                  <a:pt x="313714" y="399737"/>
                  <a:pt x="327546" y="395785"/>
                </a:cubicBezTo>
                <a:cubicBezTo>
                  <a:pt x="447513" y="361509"/>
                  <a:pt x="324905" y="401215"/>
                  <a:pt x="423081" y="368490"/>
                </a:cubicBezTo>
                <a:cubicBezTo>
                  <a:pt x="436729" y="359391"/>
                  <a:pt x="452426" y="352792"/>
                  <a:pt x="464024" y="341194"/>
                </a:cubicBezTo>
                <a:cubicBezTo>
                  <a:pt x="475622" y="329596"/>
                  <a:pt x="480818" y="312852"/>
                  <a:pt x="491319" y="300251"/>
                </a:cubicBezTo>
                <a:cubicBezTo>
                  <a:pt x="503675" y="285424"/>
                  <a:pt x="518615" y="272956"/>
                  <a:pt x="532263" y="259308"/>
                </a:cubicBezTo>
                <a:cubicBezTo>
                  <a:pt x="536812" y="245660"/>
                  <a:pt x="545910" y="232750"/>
                  <a:pt x="545910" y="218364"/>
                </a:cubicBezTo>
                <a:cubicBezTo>
                  <a:pt x="545910" y="177169"/>
                  <a:pt x="539035" y="136169"/>
                  <a:pt x="532263" y="95535"/>
                </a:cubicBezTo>
                <a:cubicBezTo>
                  <a:pt x="529898" y="81344"/>
                  <a:pt x="527602" y="65825"/>
                  <a:pt x="518615" y="54591"/>
                </a:cubicBezTo>
                <a:cubicBezTo>
                  <a:pt x="508369" y="41783"/>
                  <a:pt x="492343" y="34631"/>
                  <a:pt x="477672" y="27296"/>
                </a:cubicBezTo>
                <a:cubicBezTo>
                  <a:pt x="444074" y="10497"/>
                  <a:pt x="386294" y="5242"/>
                  <a:pt x="354842" y="0"/>
                </a:cubicBezTo>
                <a:cubicBezTo>
                  <a:pt x="300251" y="4549"/>
                  <a:pt x="243851" y="-1014"/>
                  <a:pt x="191069" y="13648"/>
                </a:cubicBezTo>
                <a:cubicBezTo>
                  <a:pt x="159461" y="22428"/>
                  <a:pt x="138524" y="53568"/>
                  <a:pt x="109182" y="68239"/>
                </a:cubicBezTo>
                <a:lnTo>
                  <a:pt x="81887" y="81887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  <p:sp>
        <p:nvSpPr>
          <p:cNvPr id="4" name="Forma libre 3"/>
          <p:cNvSpPr/>
          <p:nvPr/>
        </p:nvSpPr>
        <p:spPr>
          <a:xfrm>
            <a:off x="7288213" y="3671888"/>
            <a:ext cx="1268412" cy="490537"/>
          </a:xfrm>
          <a:custGeom>
            <a:avLst/>
            <a:gdLst>
              <a:gd name="connsiteX0" fmla="*/ 477672 w 1269242"/>
              <a:gd name="connsiteY0" fmla="*/ 13648 h 491319"/>
              <a:gd name="connsiteX1" fmla="*/ 313899 w 1269242"/>
              <a:gd name="connsiteY1" fmla="*/ 27295 h 491319"/>
              <a:gd name="connsiteX2" fmla="*/ 259308 w 1269242"/>
              <a:gd name="connsiteY2" fmla="*/ 40943 h 491319"/>
              <a:gd name="connsiteX3" fmla="*/ 122830 w 1269242"/>
              <a:gd name="connsiteY3" fmla="*/ 54591 h 491319"/>
              <a:gd name="connsiteX4" fmla="*/ 0 w 1269242"/>
              <a:gd name="connsiteY4" fmla="*/ 122830 h 491319"/>
              <a:gd name="connsiteX5" fmla="*/ 13648 w 1269242"/>
              <a:gd name="connsiteY5" fmla="*/ 286603 h 491319"/>
              <a:gd name="connsiteX6" fmla="*/ 27296 w 1269242"/>
              <a:gd name="connsiteY6" fmla="*/ 327546 h 491319"/>
              <a:gd name="connsiteX7" fmla="*/ 68239 w 1269242"/>
              <a:gd name="connsiteY7" fmla="*/ 341194 h 491319"/>
              <a:gd name="connsiteX8" fmla="*/ 191069 w 1269242"/>
              <a:gd name="connsiteY8" fmla="*/ 395785 h 491319"/>
              <a:gd name="connsiteX9" fmla="*/ 272956 w 1269242"/>
              <a:gd name="connsiteY9" fmla="*/ 423080 h 491319"/>
              <a:gd name="connsiteX10" fmla="*/ 382138 w 1269242"/>
              <a:gd name="connsiteY10" fmla="*/ 450376 h 491319"/>
              <a:gd name="connsiteX11" fmla="*/ 436729 w 1269242"/>
              <a:gd name="connsiteY11" fmla="*/ 464024 h 491319"/>
              <a:gd name="connsiteX12" fmla="*/ 477672 w 1269242"/>
              <a:gd name="connsiteY12" fmla="*/ 477671 h 491319"/>
              <a:gd name="connsiteX13" fmla="*/ 586854 w 1269242"/>
              <a:gd name="connsiteY13" fmla="*/ 491319 h 491319"/>
              <a:gd name="connsiteX14" fmla="*/ 1078174 w 1269242"/>
              <a:gd name="connsiteY14" fmla="*/ 477671 h 491319"/>
              <a:gd name="connsiteX15" fmla="*/ 1160060 w 1269242"/>
              <a:gd name="connsiteY15" fmla="*/ 450376 h 491319"/>
              <a:gd name="connsiteX16" fmla="*/ 1214651 w 1269242"/>
              <a:gd name="connsiteY16" fmla="*/ 436728 h 491319"/>
              <a:gd name="connsiteX17" fmla="*/ 1269242 w 1269242"/>
              <a:gd name="connsiteY17" fmla="*/ 313898 h 491319"/>
              <a:gd name="connsiteX18" fmla="*/ 1228299 w 1269242"/>
              <a:gd name="connsiteY18" fmla="*/ 177421 h 491319"/>
              <a:gd name="connsiteX19" fmla="*/ 1146412 w 1269242"/>
              <a:gd name="connsiteY19" fmla="*/ 150125 h 491319"/>
              <a:gd name="connsiteX20" fmla="*/ 1037230 w 1269242"/>
              <a:gd name="connsiteY20" fmla="*/ 109182 h 491319"/>
              <a:gd name="connsiteX21" fmla="*/ 955344 w 1269242"/>
              <a:gd name="connsiteY21" fmla="*/ 81886 h 491319"/>
              <a:gd name="connsiteX22" fmla="*/ 859809 w 1269242"/>
              <a:gd name="connsiteY22" fmla="*/ 27295 h 491319"/>
              <a:gd name="connsiteX23" fmla="*/ 777923 w 1269242"/>
              <a:gd name="connsiteY23" fmla="*/ 0 h 491319"/>
              <a:gd name="connsiteX24" fmla="*/ 559559 w 1269242"/>
              <a:gd name="connsiteY24" fmla="*/ 0 h 49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69242" h="491319">
                <a:moveTo>
                  <a:pt x="477672" y="13648"/>
                </a:moveTo>
                <a:cubicBezTo>
                  <a:pt x="423081" y="18197"/>
                  <a:pt x="368256" y="20500"/>
                  <a:pt x="313899" y="27295"/>
                </a:cubicBezTo>
                <a:cubicBezTo>
                  <a:pt x="295287" y="29621"/>
                  <a:pt x="277877" y="38290"/>
                  <a:pt x="259308" y="40943"/>
                </a:cubicBezTo>
                <a:cubicBezTo>
                  <a:pt x="214048" y="47409"/>
                  <a:pt x="168323" y="50042"/>
                  <a:pt x="122830" y="54591"/>
                </a:cubicBezTo>
                <a:cubicBezTo>
                  <a:pt x="22633" y="87990"/>
                  <a:pt x="61289" y="61541"/>
                  <a:pt x="0" y="122830"/>
                </a:cubicBezTo>
                <a:cubicBezTo>
                  <a:pt x="4549" y="177421"/>
                  <a:pt x="6408" y="232303"/>
                  <a:pt x="13648" y="286603"/>
                </a:cubicBezTo>
                <a:cubicBezTo>
                  <a:pt x="15549" y="300863"/>
                  <a:pt x="17124" y="317374"/>
                  <a:pt x="27296" y="327546"/>
                </a:cubicBezTo>
                <a:cubicBezTo>
                  <a:pt x="37468" y="337718"/>
                  <a:pt x="55372" y="334760"/>
                  <a:pt x="68239" y="341194"/>
                </a:cubicBezTo>
                <a:cubicBezTo>
                  <a:pt x="198005" y="406076"/>
                  <a:pt x="-20188" y="325364"/>
                  <a:pt x="191069" y="395785"/>
                </a:cubicBezTo>
                <a:lnTo>
                  <a:pt x="272956" y="423080"/>
                </a:lnTo>
                <a:lnTo>
                  <a:pt x="382138" y="450376"/>
                </a:lnTo>
                <a:cubicBezTo>
                  <a:pt x="400335" y="454925"/>
                  <a:pt x="418934" y="458093"/>
                  <a:pt x="436729" y="464024"/>
                </a:cubicBezTo>
                <a:cubicBezTo>
                  <a:pt x="450377" y="468573"/>
                  <a:pt x="463518" y="475098"/>
                  <a:pt x="477672" y="477671"/>
                </a:cubicBezTo>
                <a:cubicBezTo>
                  <a:pt x="513758" y="484232"/>
                  <a:pt x="550460" y="486770"/>
                  <a:pt x="586854" y="491319"/>
                </a:cubicBezTo>
                <a:cubicBezTo>
                  <a:pt x="750627" y="486770"/>
                  <a:pt x="914754" y="489344"/>
                  <a:pt x="1078174" y="477671"/>
                </a:cubicBezTo>
                <a:cubicBezTo>
                  <a:pt x="1106873" y="475621"/>
                  <a:pt x="1132147" y="457354"/>
                  <a:pt x="1160060" y="450376"/>
                </a:cubicBezTo>
                <a:lnTo>
                  <a:pt x="1214651" y="436728"/>
                </a:lnTo>
                <a:cubicBezTo>
                  <a:pt x="1247134" y="339281"/>
                  <a:pt x="1225988" y="378782"/>
                  <a:pt x="1269242" y="313898"/>
                </a:cubicBezTo>
                <a:cubicBezTo>
                  <a:pt x="1265425" y="287177"/>
                  <a:pt x="1267244" y="201761"/>
                  <a:pt x="1228299" y="177421"/>
                </a:cubicBezTo>
                <a:cubicBezTo>
                  <a:pt x="1203900" y="162172"/>
                  <a:pt x="1170352" y="166085"/>
                  <a:pt x="1146412" y="150125"/>
                </a:cubicBezTo>
                <a:cubicBezTo>
                  <a:pt x="1075160" y="102624"/>
                  <a:pt x="1137121" y="136426"/>
                  <a:pt x="1037230" y="109182"/>
                </a:cubicBezTo>
                <a:cubicBezTo>
                  <a:pt x="1009472" y="101611"/>
                  <a:pt x="979284" y="97845"/>
                  <a:pt x="955344" y="81886"/>
                </a:cubicBezTo>
                <a:cubicBezTo>
                  <a:pt x="918416" y="57268"/>
                  <a:pt x="903093" y="44609"/>
                  <a:pt x="859809" y="27295"/>
                </a:cubicBezTo>
                <a:cubicBezTo>
                  <a:pt x="833095" y="16609"/>
                  <a:pt x="806695" y="0"/>
                  <a:pt x="777923" y="0"/>
                </a:cubicBezTo>
                <a:lnTo>
                  <a:pt x="559559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dirty="0"/>
              <a:t>HEPARINA NO FRACCIONADA </a:t>
            </a:r>
          </a:p>
        </p:txBody>
      </p:sp>
      <p:sp>
        <p:nvSpPr>
          <p:cNvPr id="1536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/>
              <a:t>Eficacia varía de lote a lote*.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s-MX" altLang="es-VE" sz="2400" b="1" dirty="0" smtClean="0"/>
          </a:p>
          <a:p>
            <a:pPr eaLnBrk="1" hangingPunct="1">
              <a:defRPr/>
            </a:pPr>
            <a:r>
              <a:rPr lang="es-MX" altLang="es-VE" sz="2400" b="1" dirty="0" smtClean="0">
                <a:solidFill>
                  <a:srgbClr val="FF0000"/>
                </a:solidFill>
              </a:rPr>
              <a:t>Altas dosis son tóxicas (causa hemorragia) + inhibición de agregación de plaquetas.</a:t>
            </a: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s-MX" altLang="es-VE" sz="2400" b="1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s-MX" altLang="es-VE" sz="24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400" b="1" dirty="0" smtClean="0">
                <a:solidFill>
                  <a:srgbClr val="FF0000"/>
                </a:solidFill>
              </a:rPr>
              <a:t>Efecto metabólico. Libera proteína-lipasa,  disminuye triglicéridos</a:t>
            </a:r>
            <a:r>
              <a:rPr lang="es-MX" altLang="es-VE" sz="2400" b="1" dirty="0" smtClean="0"/>
              <a:t>: glicerol y ácidos grasos libres, en dosis no anticoagulantes. (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Uso en caso de riesgo alto pancreatitis</a:t>
            </a:r>
            <a:r>
              <a:rPr lang="es-MX" altLang="es-VE" sz="2400" b="1" dirty="0" smtClean="0"/>
              <a:t>)</a:t>
            </a:r>
          </a:p>
          <a:p>
            <a:pPr eaLnBrk="1" hangingPunct="1">
              <a:defRPr/>
            </a:pPr>
            <a:endParaRPr lang="es-MX" altLang="es-VE" sz="2400" b="1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s-MX" altLang="es-VE" sz="2400" b="1" dirty="0" smtClean="0"/>
              <a:t> </a:t>
            </a:r>
            <a:r>
              <a:rPr lang="es-MX" altLang="es-VE" sz="1400" dirty="0" smtClean="0"/>
              <a:t>* </a:t>
            </a:r>
            <a:r>
              <a:rPr lang="es-MX" altLang="es-VE" sz="1400" dirty="0" err="1" smtClean="0"/>
              <a:t>Pharmacotherapy</a:t>
            </a:r>
            <a:r>
              <a:rPr lang="es-MX" altLang="es-VE" sz="1400" dirty="0" smtClean="0"/>
              <a:t>. 2010; 30: 428- 431</a:t>
            </a:r>
            <a:endParaRPr lang="es-VE" altLang="es-VE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Título">
            <a:extLst/>
          </p:cNvPr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93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HEPARINAS DE BAJO PM</a:t>
            </a:r>
            <a:r>
              <a:rPr lang="es-MX" altLang="es-VE" sz="2800" b="1" dirty="0" smtClean="0">
                <a:solidFill>
                  <a:srgbClr val="FF0000"/>
                </a:solidFill>
              </a:rPr>
              <a:t>   </a:t>
            </a:r>
            <a:endParaRPr lang="es-VE" altLang="es-VE" sz="2800" b="1" dirty="0">
              <a:solidFill>
                <a:srgbClr val="FF0000"/>
              </a:solidFill>
            </a:endParaRPr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>
          <a:xfrm>
            <a:off x="428625" y="1214438"/>
            <a:ext cx="8229600" cy="4883150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HEPARINAS DE BAJO </a:t>
            </a:r>
            <a:r>
              <a:rPr lang="es-MX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 </a:t>
            </a:r>
            <a:r>
              <a:rPr lang="es-MX" sz="2400" b="1" dirty="0" smtClean="0"/>
              <a:t>( </a:t>
            </a:r>
            <a:r>
              <a:rPr lang="es-MX" sz="2400" b="1" dirty="0" smtClean="0">
                <a:solidFill>
                  <a:srgbClr val="FF0000"/>
                </a:solidFill>
              </a:rPr>
              <a:t>PM 3.500 </a:t>
            </a:r>
            <a:r>
              <a:rPr lang="es-MX" sz="2400" b="1" dirty="0">
                <a:solidFill>
                  <a:srgbClr val="FF0000"/>
                </a:solidFill>
              </a:rPr>
              <a:t>– </a:t>
            </a:r>
            <a:r>
              <a:rPr lang="es-MX" sz="2400" b="1" dirty="0" smtClean="0">
                <a:solidFill>
                  <a:srgbClr val="FF0000"/>
                </a:solidFill>
              </a:rPr>
              <a:t>6.000</a:t>
            </a:r>
            <a:r>
              <a:rPr lang="es-MX" sz="2400" b="1" dirty="0" smtClean="0"/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MX" sz="2400" b="1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400" b="1" dirty="0" smtClean="0">
                <a:solidFill>
                  <a:srgbClr val="FF0000"/>
                </a:solidFill>
              </a:rPr>
              <a:t>La Heparina </a:t>
            </a:r>
            <a:r>
              <a:rPr lang="es-MX" sz="2400" b="1" dirty="0">
                <a:solidFill>
                  <a:srgbClr val="FF0000"/>
                </a:solidFill>
              </a:rPr>
              <a:t>no fraccionada. (0.1 – 1.0 </a:t>
            </a:r>
            <a:r>
              <a:rPr lang="es-MX" sz="2400" b="1" dirty="0" smtClean="0">
                <a:solidFill>
                  <a:srgbClr val="FF0000"/>
                </a:solidFill>
              </a:rPr>
              <a:t> U/</a:t>
            </a:r>
            <a:r>
              <a:rPr lang="es-MX" sz="2400" b="1" dirty="0" err="1" smtClean="0">
                <a:solidFill>
                  <a:srgbClr val="FF0000"/>
                </a:solidFill>
              </a:rPr>
              <a:t>mL</a:t>
            </a:r>
            <a:r>
              <a:rPr lang="es-MX" sz="2400" b="1" dirty="0" smtClean="0">
                <a:solidFill>
                  <a:srgbClr val="FF0000"/>
                </a:solidFill>
              </a:rPr>
              <a:t>) </a:t>
            </a:r>
            <a:r>
              <a:rPr lang="es-MX" sz="2400" b="1" dirty="0">
                <a:solidFill>
                  <a:srgbClr val="FF0000"/>
                </a:solidFill>
              </a:rPr>
              <a:t>inhibe rápidamente  la </a:t>
            </a:r>
            <a:r>
              <a:rPr lang="es-MX" sz="2400" b="1" dirty="0" smtClean="0">
                <a:solidFill>
                  <a:srgbClr val="FF0000"/>
                </a:solidFill>
              </a:rPr>
              <a:t>trombina (</a:t>
            </a:r>
            <a:r>
              <a:rPr lang="es-MX" sz="2400" b="1" dirty="0" err="1" smtClean="0">
                <a:solidFill>
                  <a:srgbClr val="FF0000"/>
                </a:solidFill>
              </a:rPr>
              <a:t>IIa</a:t>
            </a:r>
            <a:r>
              <a:rPr lang="es-MX" sz="2400" b="1" dirty="0" smtClean="0">
                <a:solidFill>
                  <a:srgbClr val="FF0000"/>
                </a:solidFill>
              </a:rPr>
              <a:t>)  </a:t>
            </a:r>
            <a:r>
              <a:rPr lang="es-MX" sz="2400" b="1" dirty="0">
                <a:solidFill>
                  <a:srgbClr val="FF0000"/>
                </a:solidFill>
              </a:rPr>
              <a:t>y factor </a:t>
            </a:r>
            <a:r>
              <a:rPr lang="es-MX" sz="2400" b="1" dirty="0" err="1">
                <a:solidFill>
                  <a:srgbClr val="FF0000"/>
                </a:solidFill>
              </a:rPr>
              <a:t>Xa</a:t>
            </a:r>
            <a:r>
              <a:rPr lang="es-MX" sz="2400" b="1" dirty="0">
                <a:solidFill>
                  <a:srgbClr val="FF0000"/>
                </a:solidFill>
              </a:rPr>
              <a:t>.  Adicional inhibe </a:t>
            </a:r>
            <a:r>
              <a:rPr lang="es-MX" sz="2400" b="1" dirty="0" err="1">
                <a:solidFill>
                  <a:srgbClr val="FF0000"/>
                </a:solidFill>
              </a:rPr>
              <a:t>XIIa</a:t>
            </a:r>
            <a:r>
              <a:rPr lang="es-MX" sz="2400" b="1" dirty="0">
                <a:solidFill>
                  <a:srgbClr val="FF0000"/>
                </a:solidFill>
              </a:rPr>
              <a:t>, </a:t>
            </a:r>
            <a:r>
              <a:rPr lang="es-MX" sz="2400" b="1" dirty="0" err="1">
                <a:solidFill>
                  <a:srgbClr val="FF0000"/>
                </a:solidFill>
              </a:rPr>
              <a:t>XIa</a:t>
            </a:r>
            <a:r>
              <a:rPr lang="es-MX" sz="2400" b="1" dirty="0">
                <a:solidFill>
                  <a:srgbClr val="FF0000"/>
                </a:solidFill>
              </a:rPr>
              <a:t> y </a:t>
            </a:r>
            <a:r>
              <a:rPr lang="es-MX" sz="2400" b="1" dirty="0" err="1">
                <a:solidFill>
                  <a:srgbClr val="FF0000"/>
                </a:solidFill>
              </a:rPr>
              <a:t>IXa</a:t>
            </a:r>
            <a:r>
              <a:rPr lang="es-MX" sz="2400" b="1" dirty="0">
                <a:solidFill>
                  <a:srgbClr val="FF0000"/>
                </a:solidFill>
              </a:rPr>
              <a:t>. </a:t>
            </a:r>
            <a:endParaRPr lang="es-MX" sz="2400" b="1" dirty="0" smtClean="0">
              <a:solidFill>
                <a:srgbClr val="FF0000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MX" sz="2400" b="1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400" b="1" dirty="0" smtClean="0">
                <a:solidFill>
                  <a:srgbClr val="FF0000"/>
                </a:solidFill>
              </a:rPr>
              <a:t>PROLONGAN  </a:t>
            </a:r>
            <a:r>
              <a:rPr lang="es-MX" sz="2400" b="1" dirty="0">
                <a:solidFill>
                  <a:srgbClr val="FF0000"/>
                </a:solidFill>
              </a:rPr>
              <a:t>PTT (tiempo de </a:t>
            </a:r>
            <a:r>
              <a:rPr lang="es-MX" sz="2400" b="1" dirty="0" smtClean="0">
                <a:solidFill>
                  <a:srgbClr val="FF0000"/>
                </a:solidFill>
              </a:rPr>
              <a:t>tromboplastina)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MX" sz="2400" b="1" dirty="0" smtClean="0">
              <a:solidFill>
                <a:srgbClr val="FF0000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400" b="1" dirty="0" smtClean="0">
                <a:solidFill>
                  <a:srgbClr val="FF0000"/>
                </a:solidFill>
              </a:rPr>
              <a:t>AFECTAN </a:t>
            </a:r>
            <a:r>
              <a:rPr lang="es-MX" sz="2400" b="1" dirty="0">
                <a:solidFill>
                  <a:srgbClr val="FF0000"/>
                </a:solidFill>
              </a:rPr>
              <a:t>POCO EL PT (tiempo de protrombina).  </a:t>
            </a:r>
            <a:endParaRPr lang="es-MX" sz="2400" b="1" dirty="0" smtClean="0">
              <a:solidFill>
                <a:srgbClr val="FF0000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MX" sz="2400" b="1" dirty="0" smtClean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400" b="1" dirty="0" smtClean="0"/>
              <a:t>TIEMPO </a:t>
            </a:r>
            <a:r>
              <a:rPr lang="es-MX" sz="2400" b="1" dirty="0"/>
              <a:t>DE COAGULACIÓN: prolongado.  Optimo: de 1,8 a 2,5 veces mayor al basal. 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s-MX" sz="1800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MX" sz="1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MX" sz="1800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MX" sz="1800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s-MX" sz="1800" dirty="0"/>
          </a:p>
          <a:p>
            <a:pPr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es-MX" sz="1800" dirty="0"/>
              <a:t>  </a:t>
            </a:r>
            <a:endParaRPr lang="es-VE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400" b="1" dirty="0"/>
              <a:t>Mecanismo acción heparinas bajo peso molecular</a:t>
            </a:r>
            <a:br>
              <a:rPr lang="es-VE" sz="2400" b="1" dirty="0"/>
            </a:br>
            <a:r>
              <a:rPr lang="es-VE" sz="2400" b="1" dirty="0" err="1"/>
              <a:t>enoxaparina</a:t>
            </a:r>
            <a:r>
              <a:rPr lang="es-VE" sz="2400" b="1" dirty="0"/>
              <a:t> (</a:t>
            </a:r>
            <a:r>
              <a:rPr lang="es-VE" sz="2400" b="1" dirty="0" err="1"/>
              <a:t>Clexane</a:t>
            </a:r>
            <a:r>
              <a:rPr lang="es-VE" sz="2400" b="1" dirty="0"/>
              <a:t>), </a:t>
            </a:r>
            <a:r>
              <a:rPr lang="es-VE" sz="2400" b="1" dirty="0" err="1"/>
              <a:t>deltaparina</a:t>
            </a:r>
            <a:r>
              <a:rPr lang="es-VE" sz="2400" b="1" dirty="0"/>
              <a:t> (</a:t>
            </a:r>
            <a:r>
              <a:rPr lang="es-VE" sz="2400" b="1" dirty="0" err="1"/>
              <a:t>Fragmin</a:t>
            </a:r>
            <a:r>
              <a:rPr lang="es-VE" sz="2400" b="1" dirty="0"/>
              <a:t>)</a:t>
            </a:r>
            <a:br>
              <a:rPr lang="es-VE" sz="2400" b="1" dirty="0"/>
            </a:br>
            <a:r>
              <a:rPr lang="es-VE" sz="1200" dirty="0"/>
              <a:t>Walker CPR. Br J </a:t>
            </a:r>
            <a:r>
              <a:rPr lang="es-VE" sz="1200" dirty="0" err="1"/>
              <a:t>Anaesthe</a:t>
            </a:r>
            <a:r>
              <a:rPr lang="es-VE" sz="1200" dirty="0"/>
              <a:t>. 2002; 88: 848- 863</a:t>
            </a:r>
            <a:endParaRPr lang="es-VE" sz="2400" dirty="0"/>
          </a:p>
        </p:txBody>
      </p:sp>
      <p:sp>
        <p:nvSpPr>
          <p:cNvPr id="17411" name="5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s-VE" altLang="es-VE" sz="1600" smtClean="0"/>
              <a:t>Inhibición de Antitrombina III, repercute en  reducción de actividad  de Factor Xa  y IIa (trombina)</a:t>
            </a:r>
          </a:p>
        </p:txBody>
      </p:sp>
      <p:pic>
        <p:nvPicPr>
          <p:cNvPr id="174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47875"/>
            <a:ext cx="681355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7 CuadroTexto"/>
          <p:cNvSpPr txBox="1">
            <a:spLocks noChangeArrowheads="1"/>
          </p:cNvSpPr>
          <p:nvPr/>
        </p:nvSpPr>
        <p:spPr bwMode="auto">
          <a:xfrm>
            <a:off x="2714625" y="4929188"/>
            <a:ext cx="15001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VE" altLang="es-VE" sz="1800">
                <a:latin typeface="Arial" panose="020B0604020202020204" pitchFamily="34" charset="0"/>
              </a:rPr>
              <a:t>Enoxaparina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VE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VE" altLang="es-VE" sz="1800">
                <a:latin typeface="Arial" panose="020B0604020202020204" pitchFamily="34" charset="0"/>
              </a:rPr>
              <a:t>Deltaparina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/>
              <a:t>HEPARINAS USO CLINICO</a:t>
            </a:r>
            <a:endParaRPr lang="es-VE" altLang="es-VE" sz="2400" b="1" dirty="0"/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1. Trombosis </a:t>
            </a:r>
            <a:r>
              <a:rPr lang="es-MX" sz="2000" b="1" dirty="0"/>
              <a:t>venosa Profunda y embolismo pulmonar, </a:t>
            </a:r>
            <a:r>
              <a:rPr lang="es-MX" sz="2000" dirty="0"/>
              <a:t>por 4- 5 días junto con anticoagulante oral</a:t>
            </a:r>
            <a:r>
              <a:rPr lang="es-MX" sz="2000" dirty="0" smtClean="0"/>
              <a:t>.  (preferibles Bajo </a:t>
            </a:r>
            <a:r>
              <a:rPr lang="es-MX" sz="2000" dirty="0"/>
              <a:t>PM)*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2. Angina </a:t>
            </a:r>
            <a:r>
              <a:rPr lang="es-MX" sz="2000" b="1" dirty="0"/>
              <a:t>inestable</a:t>
            </a:r>
            <a:r>
              <a:rPr lang="es-MX" sz="2000" dirty="0"/>
              <a:t> </a:t>
            </a:r>
            <a:r>
              <a:rPr lang="es-MX" sz="2000" dirty="0" smtClean="0"/>
              <a:t>(preferibles Bajo </a:t>
            </a:r>
            <a:r>
              <a:rPr lang="es-MX" sz="2000" dirty="0"/>
              <a:t>PM)*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3. Infarto </a:t>
            </a:r>
            <a:r>
              <a:rPr lang="es-MX" sz="2000" b="1" dirty="0"/>
              <a:t>agudo de miocardio ST</a:t>
            </a:r>
            <a:r>
              <a:rPr lang="es-MX" sz="2000" dirty="0"/>
              <a:t> *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4. Durante </a:t>
            </a:r>
            <a:r>
              <a:rPr lang="es-MX" sz="2000" b="1" dirty="0"/>
              <a:t>y después de angioplastia</a:t>
            </a:r>
            <a:r>
              <a:rPr lang="es-MX" sz="2000" dirty="0"/>
              <a:t> coronaria con prótesis </a:t>
            </a:r>
            <a:r>
              <a:rPr lang="es-MX" sz="2000" dirty="0" err="1"/>
              <a:t>endovascular</a:t>
            </a:r>
            <a:r>
              <a:rPr lang="es-MX" sz="2000" dirty="0"/>
              <a:t> (</a:t>
            </a:r>
            <a:r>
              <a:rPr lang="es-MX" sz="2000" i="1" dirty="0" err="1"/>
              <a:t>stent</a:t>
            </a:r>
            <a:r>
              <a:rPr lang="es-MX" sz="2000" dirty="0"/>
              <a:t>)  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s-MX" sz="200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5. Cirugía </a:t>
            </a:r>
            <a:r>
              <a:rPr lang="es-MX" sz="2000" b="1" dirty="0"/>
              <a:t>de puente </a:t>
            </a:r>
            <a:r>
              <a:rPr lang="es-MX" sz="2000" b="1" dirty="0" err="1"/>
              <a:t>aorto</a:t>
            </a:r>
            <a:r>
              <a:rPr lang="es-MX" sz="2000" b="1" dirty="0"/>
              <a:t>-coronario</a:t>
            </a:r>
            <a:r>
              <a:rPr lang="es-MX" sz="2000" dirty="0"/>
              <a:t> (dosis alta)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6. Cirugía </a:t>
            </a:r>
            <a:r>
              <a:rPr lang="es-MX" sz="2000" b="1" dirty="0"/>
              <a:t>corrección anomalías congénitas cardíacas </a:t>
            </a:r>
            <a:r>
              <a:rPr lang="es-MX" sz="2000" dirty="0"/>
              <a:t>con bomba de circulación extracorpórea. (dosis alta)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7.</a:t>
            </a:r>
            <a:r>
              <a:rPr lang="es-MX" sz="2000" dirty="0" smtClean="0"/>
              <a:t> Casos </a:t>
            </a:r>
            <a:r>
              <a:rPr lang="es-MX" sz="2000" dirty="0"/>
              <a:t>selectos de </a:t>
            </a:r>
            <a:r>
              <a:rPr lang="es-MX" sz="2000" b="1" dirty="0"/>
              <a:t>coagulación </a:t>
            </a:r>
            <a:r>
              <a:rPr lang="es-MX" sz="2000" b="1" dirty="0" err="1"/>
              <a:t>intravascular</a:t>
            </a:r>
            <a:r>
              <a:rPr lang="es-MX" sz="2000" b="1" dirty="0"/>
              <a:t> diseminada</a:t>
            </a:r>
            <a:r>
              <a:rPr lang="es-MX" sz="2000" dirty="0"/>
              <a:t> (hemorragia</a:t>
            </a:r>
            <a:r>
              <a:rPr lang="es-MX" sz="2000" dirty="0" smtClean="0"/>
              <a:t>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HEPARINA </a:t>
            </a:r>
            <a:r>
              <a:rPr lang="es-MX" altLang="es-VE" sz="2000" b="1" dirty="0"/>
              <a:t>No fraccionada. Vía de administración : </a:t>
            </a:r>
            <a:r>
              <a:rPr lang="es-MX" altLang="es-VE" sz="2000" b="1" dirty="0">
                <a:solidFill>
                  <a:schemeClr val="tx2"/>
                </a:solidFill>
              </a:rPr>
              <a:t>intravenosa 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MX" sz="2000" dirty="0" smtClean="0"/>
              <a:t>*</a:t>
            </a:r>
            <a:r>
              <a:rPr lang="es-MX" sz="1500" dirty="0"/>
              <a:t>Am </a:t>
            </a:r>
            <a:r>
              <a:rPr lang="es-MX" sz="1500" dirty="0" err="1"/>
              <a:t>Heart</a:t>
            </a:r>
            <a:r>
              <a:rPr lang="es-MX" sz="1500" dirty="0"/>
              <a:t> J.  2010; 159: 684- 660</a:t>
            </a:r>
            <a:endParaRPr lang="es-VE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>
                <a:solidFill>
                  <a:srgbClr val="FF0000"/>
                </a:solidFill>
              </a:rPr>
              <a:t>HEPARINAS DE BAJO PM</a:t>
            </a:r>
            <a:br>
              <a:rPr lang="es-MX" altLang="es-VE" sz="2400" b="1" dirty="0">
                <a:solidFill>
                  <a:srgbClr val="FF0000"/>
                </a:solidFill>
              </a:rPr>
            </a:br>
            <a:endParaRPr lang="es-VE" altLang="es-VE" sz="2400" b="1" dirty="0"/>
          </a:p>
        </p:txBody>
      </p:sp>
      <p:sp>
        <p:nvSpPr>
          <p:cNvPr id="22531" name="2 Marcador de contenido"/>
          <p:cNvSpPr>
            <a:spLocks noGrp="1"/>
          </p:cNvSpPr>
          <p:nvPr>
            <p:ph idx="1"/>
          </p:nvPr>
        </p:nvSpPr>
        <p:spPr>
          <a:xfrm>
            <a:off x="500063" y="1417638"/>
            <a:ext cx="8229600" cy="4751387"/>
          </a:xfrm>
        </p:spPr>
        <p:txBody>
          <a:bodyPr/>
          <a:lstStyle/>
          <a:p>
            <a:pPr eaLnBrk="1" hangingPunct="1">
              <a:defRPr/>
            </a:pP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HEPARINAS DE BAJO PM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 Vía de administración: subcutánea.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 No requieren monitoreo de pruebas de coagulación. </a:t>
            </a:r>
            <a:r>
              <a:rPr lang="es-MX" altLang="es-VE" sz="2000" b="1" dirty="0" smtClean="0"/>
              <a:t>Perfil F-cinético estable, Administrar por Kg de peso del paciente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Se pueden administrar fuera del hospital.  Ventajas:  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menos hemorragia , menos trombocitopenia y menos osteopenia al compararlas con heparina no fraccionada</a:t>
            </a:r>
            <a:r>
              <a:rPr lang="es-MX" altLang="es-VE" sz="2000" b="1" dirty="0" smtClean="0"/>
              <a:t>*</a:t>
            </a:r>
            <a:endParaRPr lang="es-MX" altLang="es-VE" sz="1200" b="1" dirty="0" smtClean="0"/>
          </a:p>
          <a:p>
            <a:pPr eaLnBrk="1" hangingPunct="1">
              <a:defRPr/>
            </a:pPr>
            <a:r>
              <a:rPr lang="es-MX" altLang="es-VE" sz="2000" b="1" dirty="0" smtClean="0"/>
              <a:t>Heparina no cruza la barrera placentaria.  Suspender 24 h </a:t>
            </a:r>
            <a:r>
              <a:rPr lang="es-MX" altLang="es-VE" sz="2000" b="1" dirty="0" err="1" smtClean="0"/>
              <a:t>antepartum</a:t>
            </a:r>
            <a:r>
              <a:rPr lang="es-MX" altLang="es-VE" sz="2000" b="1" dirty="0" smtClean="0"/>
              <a:t> para evitar peligro hemorragia.</a:t>
            </a:r>
          </a:p>
          <a:p>
            <a:pPr eaLnBrk="1" hangingPunct="1">
              <a:defRPr/>
            </a:pPr>
            <a:r>
              <a:rPr lang="es-MX" altLang="es-VE" sz="2000" b="1" dirty="0" smtClean="0"/>
              <a:t>T de tromboplastina para controlar efecto anticoagulante: </a:t>
            </a:r>
            <a:r>
              <a:rPr lang="es-MX" altLang="es-VE" sz="2000" b="1" dirty="0" err="1" smtClean="0"/>
              <a:t>aPTT</a:t>
            </a:r>
            <a:r>
              <a:rPr lang="es-MX" altLang="es-VE" sz="2000" b="1" dirty="0" smtClean="0"/>
              <a:t> cada 6 horas, para ajustar dosis, medir antes de iniciar infusión (basal)</a:t>
            </a:r>
            <a:r>
              <a:rPr lang="es-MX" altLang="es-VE" sz="2000" dirty="0" smtClean="0"/>
              <a:t>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s-MX" altLang="es-VE" sz="1400" dirty="0" smtClean="0"/>
              <a:t>*</a:t>
            </a:r>
            <a:r>
              <a:rPr lang="es-MX" altLang="es-VE" sz="1400" dirty="0" err="1" smtClean="0"/>
              <a:t>Arterioscler</a:t>
            </a:r>
            <a:r>
              <a:rPr lang="es-MX" altLang="es-VE" sz="1400" dirty="0" smtClean="0"/>
              <a:t> </a:t>
            </a:r>
            <a:r>
              <a:rPr lang="es-MX" altLang="es-VE" sz="1400" dirty="0" err="1" smtClean="0"/>
              <a:t>Thromb</a:t>
            </a:r>
            <a:r>
              <a:rPr lang="es-MX" altLang="es-VE" sz="1400" dirty="0" smtClean="0"/>
              <a:t> </a:t>
            </a:r>
            <a:r>
              <a:rPr lang="es-MX" altLang="es-VE" sz="1400" dirty="0" err="1" smtClean="0"/>
              <a:t>Vasc</a:t>
            </a:r>
            <a:r>
              <a:rPr lang="es-MX" altLang="es-VE" sz="1400" dirty="0" smtClean="0"/>
              <a:t> Biol. 2007; 27: 1238- 1247</a:t>
            </a:r>
            <a:endParaRPr lang="es-MX" altLang="es-VE" sz="2000" dirty="0" smtClean="0"/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s-VE" altLang="es-VE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Título">
            <a:extLst/>
          </p:cNvPr>
          <p:cNvSpPr>
            <a:spLocks noGrp="1"/>
          </p:cNvSpPr>
          <p:nvPr>
            <p:ph type="title"/>
          </p:nvPr>
        </p:nvSpPr>
        <p:spPr>
          <a:xfrm>
            <a:off x="914400" y="260350"/>
            <a:ext cx="7473950" cy="1143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>
                <a:solidFill>
                  <a:srgbClr val="C00000"/>
                </a:solidFill>
              </a:rPr>
              <a:t>HEPARINAS DE BAJO PESO MOLECULAR</a:t>
            </a:r>
            <a:r>
              <a:rPr lang="es-MX" altLang="es-VE" sz="2400" dirty="0">
                <a:solidFill>
                  <a:srgbClr val="C00000"/>
                </a:solidFill>
              </a:rPr>
              <a:t> </a:t>
            </a:r>
            <a:endParaRPr lang="es-VE" altLang="es-VE" sz="2400" dirty="0">
              <a:solidFill>
                <a:srgbClr val="C00000"/>
              </a:solidFill>
            </a:endParaRPr>
          </a:p>
        </p:txBody>
      </p:sp>
      <p:sp>
        <p:nvSpPr>
          <p:cNvPr id="22531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altLang="es-VE" sz="2000" b="1" dirty="0" err="1" smtClean="0">
                <a:solidFill>
                  <a:srgbClr val="FF0000"/>
                </a:solidFill>
              </a:rPr>
              <a:t>Enoxaparina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(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Clexane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) 1 mg/kg. ERC calcular TFG y ajustar dosis</a:t>
            </a:r>
          </a:p>
          <a:p>
            <a:pPr eaLnBrk="1" hangingPunct="1">
              <a:defRPr/>
            </a:pPr>
            <a:r>
              <a:rPr lang="es-MX" altLang="es-VE" sz="2000" b="1" dirty="0" err="1" smtClean="0"/>
              <a:t>Deltaparina</a:t>
            </a:r>
            <a:r>
              <a:rPr lang="es-MX" altLang="es-VE" sz="2000" b="1" dirty="0" smtClean="0"/>
              <a:t>  (</a:t>
            </a:r>
            <a:r>
              <a:rPr lang="es-MX" altLang="es-VE" sz="2000" b="1" dirty="0" err="1" smtClean="0"/>
              <a:t>Fragmin</a:t>
            </a:r>
            <a:r>
              <a:rPr lang="es-MX" altLang="es-VE" sz="2000" b="1" dirty="0" smtClean="0"/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1300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1300" dirty="0" smtClean="0"/>
              <a:t>OTRAS: </a:t>
            </a:r>
            <a:r>
              <a:rPr lang="es-MX" altLang="es-VE" sz="1300" dirty="0" err="1" smtClean="0"/>
              <a:t>Tinzaparina</a:t>
            </a:r>
            <a:r>
              <a:rPr lang="es-MX" altLang="es-VE" sz="1300" dirty="0" smtClean="0"/>
              <a:t>, </a:t>
            </a:r>
            <a:r>
              <a:rPr lang="es-MX" altLang="es-VE" sz="1300" dirty="0" err="1" smtClean="0"/>
              <a:t>Ardeparina</a:t>
            </a:r>
            <a:r>
              <a:rPr lang="es-MX" altLang="es-VE" sz="1300" dirty="0" smtClean="0"/>
              <a:t>, </a:t>
            </a:r>
            <a:r>
              <a:rPr lang="es-MX" altLang="es-VE" sz="1300" dirty="0" err="1" smtClean="0"/>
              <a:t>Nadroparina</a:t>
            </a:r>
            <a:r>
              <a:rPr lang="es-MX" altLang="es-VE" sz="1300" dirty="0" smtClean="0"/>
              <a:t>, </a:t>
            </a:r>
            <a:r>
              <a:rPr lang="es-MX" altLang="es-VE" sz="1300" dirty="0" err="1" smtClean="0"/>
              <a:t>Reviparina</a:t>
            </a:r>
            <a:r>
              <a:rPr lang="es-MX" altLang="es-VE" sz="1300" dirty="0" smtClean="0"/>
              <a:t>, </a:t>
            </a:r>
            <a:r>
              <a:rPr lang="es-MX" altLang="es-VE" sz="1300" dirty="0" err="1"/>
              <a:t>Bemiparina</a:t>
            </a:r>
            <a:r>
              <a:rPr lang="es-MX" altLang="es-VE" sz="1300" dirty="0" smtClean="0"/>
              <a:t>                 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1300" dirty="0" smtClean="0"/>
              <a:t>                                      </a:t>
            </a:r>
          </a:p>
          <a:p>
            <a:pPr eaLnBrk="1" hangingPunct="1">
              <a:defRPr/>
            </a:pPr>
            <a:endParaRPr lang="es-MX" altLang="es-VE" sz="1200" dirty="0" smtClean="0">
              <a:solidFill>
                <a:srgbClr val="C00000"/>
              </a:solidFill>
            </a:endParaRPr>
          </a:p>
          <a:p>
            <a:pPr eaLnBrk="1" hangingPunct="1">
              <a:defRPr/>
            </a:pPr>
            <a:r>
              <a:rPr lang="es-MX" altLang="es-VE" sz="2000" dirty="0" smtClean="0">
                <a:solidFill>
                  <a:srgbClr val="C00000"/>
                </a:solidFill>
              </a:rPr>
              <a:t>HEPARINAS SINTÉTICAS</a:t>
            </a:r>
          </a:p>
          <a:p>
            <a:pPr eaLnBrk="1" hangingPunct="1">
              <a:defRPr/>
            </a:pPr>
            <a:r>
              <a:rPr lang="es-MX" altLang="es-VE" sz="2000" b="1" dirty="0" err="1" smtClean="0">
                <a:solidFill>
                  <a:srgbClr val="FF0000"/>
                </a:solidFill>
              </a:rPr>
              <a:t>Fondaparinux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(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Arixtra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)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err="1" smtClean="0">
                <a:solidFill>
                  <a:srgbClr val="FF0000"/>
                </a:solidFill>
              </a:rPr>
              <a:t>Fondaparinux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es un 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pentasacárido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de la región 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antitrombínica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de la heparina.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b="1" dirty="0" smtClean="0">
              <a:solidFill>
                <a:srgbClr val="FF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Produce menos trombocitopenia que la heparina</a:t>
            </a:r>
          </a:p>
          <a:p>
            <a:pPr eaLnBrk="1" hangingPunct="1">
              <a:defRPr/>
            </a:pPr>
            <a:r>
              <a:rPr lang="es-MX" altLang="es-VE" sz="2000" b="1" dirty="0" smtClean="0"/>
              <a:t>  </a:t>
            </a:r>
            <a:r>
              <a:rPr lang="es-MX" altLang="es-VE" sz="2000" b="1" dirty="0" err="1" smtClean="0"/>
              <a:t>Idraparinux</a:t>
            </a: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VE" altLang="es-VE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3 Ima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85875"/>
            <a:ext cx="671512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/>
          </p:cNvPr>
          <p:cNvSpPr txBox="1"/>
          <p:nvPr/>
        </p:nvSpPr>
        <p:spPr>
          <a:xfrm>
            <a:off x="3276600" y="765175"/>
            <a:ext cx="3024188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s-VE" dirty="0"/>
              <a:t>Diferencias HNF y HBPM</a:t>
            </a:r>
          </a:p>
        </p:txBody>
      </p:sp>
      <p:sp>
        <p:nvSpPr>
          <p:cNvPr id="3" name="Estrella de 5 puntas 2"/>
          <p:cNvSpPr/>
          <p:nvPr/>
        </p:nvSpPr>
        <p:spPr>
          <a:xfrm>
            <a:off x="7596188" y="1773238"/>
            <a:ext cx="261937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Estrella de 5 puntas 3"/>
          <p:cNvSpPr/>
          <p:nvPr/>
        </p:nvSpPr>
        <p:spPr>
          <a:xfrm>
            <a:off x="7596188" y="2852738"/>
            <a:ext cx="261937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Estrella de 5 puntas 4"/>
          <p:cNvSpPr/>
          <p:nvPr/>
        </p:nvSpPr>
        <p:spPr>
          <a:xfrm>
            <a:off x="7688263" y="4221163"/>
            <a:ext cx="169862" cy="2159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800" dirty="0" smtClean="0"/>
              <a:t>Dosis de Heparinas en </a:t>
            </a:r>
            <a:r>
              <a:rPr lang="es-VE" sz="2800" dirty="0" err="1" smtClean="0"/>
              <a:t>preangioplastia</a:t>
            </a:r>
            <a:r>
              <a:rPr lang="es-VE" sz="2800" dirty="0" smtClean="0"/>
              <a:t> STEMI</a:t>
            </a:r>
            <a:br>
              <a:rPr lang="es-VE" sz="2800" dirty="0" smtClean="0"/>
            </a:br>
            <a:r>
              <a:rPr lang="es-VE" sz="2800" dirty="0" smtClean="0"/>
              <a:t>Guías Europeas 2017</a:t>
            </a:r>
            <a:endParaRPr lang="es-VE" sz="2800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</p:nvPr>
        </p:nvGraphicFramePr>
        <p:xfrm>
          <a:off x="1763713" y="1600200"/>
          <a:ext cx="5400675" cy="384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6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985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Medicamento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Dosis </a:t>
                      </a:r>
                      <a:r>
                        <a:rPr lang="es-VE" sz="1800" dirty="0" err="1" smtClean="0"/>
                        <a:t>preangioplastia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Heparina NF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70- 100 U/kg</a:t>
                      </a:r>
                      <a:r>
                        <a:rPr lang="es-VE" sz="1800" baseline="0" dirty="0" smtClean="0"/>
                        <a:t> </a:t>
                      </a:r>
                      <a:r>
                        <a:rPr lang="es-VE" sz="1800" baseline="0" dirty="0" err="1" smtClean="0"/>
                        <a:t>i.v</a:t>
                      </a:r>
                      <a:r>
                        <a:rPr lang="es-VE" sz="1800" baseline="0" dirty="0" smtClean="0"/>
                        <a:t>.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s-VE" sz="1800" dirty="0" err="1" smtClean="0"/>
                        <a:t>Enoxaparina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0,5 mg/kg en bolo </a:t>
                      </a:r>
                      <a:r>
                        <a:rPr lang="es-VE" sz="1800" dirty="0" err="1" smtClean="0"/>
                        <a:t>i.v</a:t>
                      </a:r>
                      <a:r>
                        <a:rPr lang="es-VE" sz="1800" dirty="0" smtClean="0"/>
                        <a:t>.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s-VE" sz="1800" dirty="0" err="1" smtClean="0"/>
                        <a:t>Bivaluridina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0,75 mg/kg </a:t>
                      </a:r>
                      <a:r>
                        <a:rPr lang="es-VE" sz="1800" dirty="0" err="1" smtClean="0"/>
                        <a:t>i.v</a:t>
                      </a:r>
                      <a:r>
                        <a:rPr lang="es-VE" sz="1800" dirty="0" smtClean="0"/>
                        <a:t>.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VE" sz="1800" dirty="0" err="1" smtClean="0"/>
                        <a:t>Fondaparinux</a:t>
                      </a:r>
                      <a:endParaRPr lang="es-VE" sz="1800" dirty="0" smtClean="0"/>
                    </a:p>
                    <a:p>
                      <a:endParaRPr lang="es-VE" sz="1800" dirty="0"/>
                    </a:p>
                  </a:txBody>
                  <a:tcPr marL="91441" marR="91441" marT="45719" marB="45719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No recomendada</a:t>
                      </a:r>
                      <a:endParaRPr lang="es-VE" sz="1800" dirty="0"/>
                    </a:p>
                  </a:txBody>
                  <a:tcPr marL="91441" marR="91441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Título">
            <a:extLst/>
          </p:cNvPr>
          <p:cNvSpPr>
            <a:spLocks noGrp="1"/>
          </p:cNvSpPr>
          <p:nvPr>
            <p:ph type="title"/>
          </p:nvPr>
        </p:nvSpPr>
        <p:spPr>
          <a:xfrm>
            <a:off x="214313" y="214313"/>
            <a:ext cx="8534400" cy="122396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/>
              <a:t>INDICACIONES DE HEPARINAS SINTETICAS </a:t>
            </a:r>
            <a:r>
              <a:rPr lang="es-MX" altLang="es-VE" sz="2400" b="1" dirty="0" smtClean="0"/>
              <a:t>(BAJO PM)</a:t>
            </a:r>
            <a:endParaRPr lang="es-VE" altLang="es-VE" sz="2400" b="1" dirty="0"/>
          </a:p>
        </p:txBody>
      </p:sp>
      <p:sp>
        <p:nvSpPr>
          <p:cNvPr id="25603" name="2 Marcador de contenido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69741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b="1" dirty="0"/>
          </a:p>
          <a:p>
            <a:pPr eaLnBrk="1" hangingPunct="1"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Prevención complicación isquémica angina inestable, NST-IM </a:t>
            </a:r>
          </a:p>
          <a:p>
            <a:pPr eaLnBrk="1" hangingPunct="1"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Prevención de 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trombósis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venosa profunda en cirugía de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dirty="0" smtClean="0">
                <a:solidFill>
                  <a:srgbClr val="FF0000"/>
                </a:solidFill>
              </a:rPr>
              <a:t>                                   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Cadera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                                   Rodilla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>
                <a:solidFill>
                  <a:srgbClr val="FF0000"/>
                </a:solidFill>
              </a:rPr>
              <a:t> 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                                 De próstata, ginecológica, abdominal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000" b="1" dirty="0"/>
              <a:t> </a:t>
            </a:r>
            <a:r>
              <a:rPr lang="es-MX" altLang="es-VE" sz="2000" b="1" dirty="0" smtClean="0"/>
              <a:t>                                  </a:t>
            </a:r>
          </a:p>
          <a:p>
            <a:pPr eaLnBrk="1" hangingPunct="1"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Angioplastia coronaria 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transluminal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percutánea (</a:t>
            </a:r>
            <a:r>
              <a:rPr lang="es-MX" altLang="es-VE" sz="2000" b="1" i="1" dirty="0" err="1" smtClean="0">
                <a:solidFill>
                  <a:srgbClr val="FF0000"/>
                </a:solidFill>
              </a:rPr>
              <a:t>stent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)</a:t>
            </a:r>
          </a:p>
          <a:p>
            <a:pPr eaLnBrk="1" hangingPunct="1">
              <a:defRPr/>
            </a:pPr>
            <a:r>
              <a:rPr lang="es-MX" altLang="es-VE" sz="2000" b="1" dirty="0">
                <a:solidFill>
                  <a:srgbClr val="FF0000"/>
                </a:solidFill>
              </a:rPr>
              <a:t>Recurrencia de TVP y embolismo pulmonar</a:t>
            </a:r>
            <a:endParaRPr lang="es-MX" altLang="es-VE" sz="2000" b="1" dirty="0" smtClean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s-MX" altLang="es-VE" sz="2000" b="1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COVID-19, prevención de </a:t>
            </a:r>
            <a:r>
              <a:rPr lang="es-MX" altLang="es-VE" sz="2000" b="1" dirty="0" err="1" smtClean="0">
                <a:solidFill>
                  <a:srgbClr val="FF0000"/>
                </a:solidFill>
              </a:rPr>
              <a:t>microtrombosis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 pulmonar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solidFill>
            <a:schemeClr val="bg2"/>
          </a:solidFill>
        </p:spPr>
        <p:txBody>
          <a:bodyPr/>
          <a:lstStyle/>
          <a:p>
            <a:r>
              <a:rPr lang="es-MX" altLang="es-VE" sz="2400" b="1" smtClean="0"/>
              <a:t>Heparina. Reversión del efecto</a:t>
            </a:r>
            <a:br>
              <a:rPr lang="es-MX" altLang="es-VE" sz="2400" b="1" smtClean="0"/>
            </a:br>
            <a:endParaRPr lang="en-US" altLang="es-VE" sz="2400" b="1" smtClean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400" b="1" dirty="0"/>
          </a:p>
          <a:p>
            <a:pPr lvl="1" eaLnBrk="1" hangingPunct="1">
              <a:defRPr/>
            </a:pPr>
            <a:r>
              <a:rPr lang="es-MX" altLang="es-VE" sz="2400" b="1" dirty="0" smtClean="0">
                <a:solidFill>
                  <a:srgbClr val="C00000"/>
                </a:solidFill>
              </a:rPr>
              <a:t>REVERSIÓN </a:t>
            </a:r>
            <a:r>
              <a:rPr lang="es-MX" altLang="es-VE" sz="2400" b="1" dirty="0">
                <a:solidFill>
                  <a:srgbClr val="C00000"/>
                </a:solidFill>
              </a:rPr>
              <a:t>DEL EFECTO DE LA HEPARINA</a:t>
            </a:r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400" b="1" dirty="0">
                <a:solidFill>
                  <a:srgbClr val="FF0000"/>
                </a:solidFill>
              </a:rPr>
              <a:t>PROTAMINA  (SULFATO).</a:t>
            </a:r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s-MX" altLang="es-VE" sz="2400" b="1" dirty="0">
                <a:solidFill>
                  <a:srgbClr val="FF0000"/>
                </a:solidFill>
              </a:rPr>
              <a:t>Luego de cirugía CV  abierta o </a:t>
            </a:r>
            <a:r>
              <a:rPr lang="es-MX" altLang="es-VE" sz="2400" b="1" dirty="0" err="1">
                <a:solidFill>
                  <a:srgbClr val="FF0000"/>
                </a:solidFill>
              </a:rPr>
              <a:t>endovascular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.</a:t>
            </a:r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endParaRPr lang="es-MX" altLang="es-VE" sz="2400" b="1" dirty="0"/>
          </a:p>
          <a:p>
            <a:pPr lvl="1" eaLnBrk="1" hangingPunct="1">
              <a:defRPr/>
            </a:pPr>
            <a:r>
              <a:rPr lang="es-MX" altLang="es-VE" sz="2400" b="1" dirty="0" err="1"/>
              <a:t>Protamina</a:t>
            </a:r>
            <a:r>
              <a:rPr lang="es-MX" altLang="es-VE" sz="2400" b="1" dirty="0"/>
              <a:t>: </a:t>
            </a:r>
            <a:r>
              <a:rPr lang="es-MX" altLang="es-VE" sz="2400" b="1" dirty="0" smtClean="0"/>
              <a:t>riesgo de anafilaxia </a:t>
            </a:r>
            <a:r>
              <a:rPr lang="es-MX" altLang="es-VE" sz="2400" b="1" dirty="0"/>
              <a:t>cuando hay aclaramiento acelerado como en embolismo pulmonar  agudo.  En 1 % de los pacientes. </a:t>
            </a:r>
            <a:endParaRPr lang="es-MX" altLang="es-VE" sz="2400" b="1" dirty="0" smtClean="0"/>
          </a:p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endParaRPr lang="es-VE" altLang="es-VE" sz="2000" b="1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altLang="es-VE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75312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800" b="1" dirty="0" smtClean="0"/>
              <a:t/>
            </a:r>
            <a:br>
              <a:rPr lang="es-VE" sz="2800" b="1" dirty="0" smtClean="0"/>
            </a:br>
            <a:r>
              <a:rPr lang="es-VE" sz="2800" b="1" dirty="0" smtClean="0"/>
              <a:t>Inhibidores directos o indirectos de la trombina</a:t>
            </a:r>
            <a:r>
              <a:rPr lang="es-VE" sz="2800" b="1" dirty="0"/>
              <a:t/>
            </a:r>
            <a:br>
              <a:rPr lang="es-VE" sz="2800" b="1" dirty="0"/>
            </a:br>
            <a:r>
              <a:rPr lang="es-VE" sz="2800" b="1" dirty="0" smtClean="0"/>
              <a:t/>
            </a:r>
            <a:br>
              <a:rPr lang="es-VE" sz="2800" b="1" dirty="0" smtClean="0"/>
            </a:br>
            <a:r>
              <a:rPr lang="es-VE" sz="2800" b="1" dirty="0" smtClean="0"/>
              <a:t>Fueron llamados NAO, Nuevos anticoagulantes orales </a:t>
            </a:r>
            <a:br>
              <a:rPr lang="es-VE" sz="2800" b="1" dirty="0" smtClean="0"/>
            </a:br>
            <a:r>
              <a:rPr lang="es-VE" sz="2800" b="1" dirty="0"/>
              <a:t/>
            </a:r>
            <a:br>
              <a:rPr lang="es-VE" sz="2800" b="1" dirty="0"/>
            </a:br>
            <a:r>
              <a:rPr lang="es-VE" sz="2800" b="1" dirty="0" smtClean="0"/>
              <a:t/>
            </a:r>
            <a:br>
              <a:rPr lang="es-VE" sz="2800" b="1" dirty="0" smtClean="0"/>
            </a:br>
            <a:r>
              <a:rPr lang="es-VE" sz="2800" b="1" dirty="0" smtClean="0"/>
              <a:t>(pero ya no son nuevos)</a:t>
            </a:r>
            <a:br>
              <a:rPr lang="es-VE" sz="2800" b="1" dirty="0" smtClean="0"/>
            </a:br>
            <a:r>
              <a:rPr lang="es-VE" sz="2800" b="1" dirty="0" smtClean="0"/>
              <a:t/>
            </a:r>
            <a:br>
              <a:rPr lang="es-VE" sz="2800" b="1" dirty="0" smtClean="0"/>
            </a:br>
            <a:r>
              <a:rPr lang="es-VE" sz="2000" b="1" dirty="0" smtClean="0"/>
              <a:t>(NOAC en Ingles)</a:t>
            </a:r>
            <a:endParaRPr lang="es-VE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Título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s-VE" altLang="es-VE" sz="2400" smtClean="0"/>
              <a:t>INHIBIDORES DEL ACTIVADOR DE LA TROMBINA Factor Xa y de LA TROMBINA</a:t>
            </a:r>
          </a:p>
        </p:txBody>
      </p:sp>
      <p:sp>
        <p:nvSpPr>
          <p:cNvPr id="26627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VE" altLang="es-VE" sz="2000" b="1" smtClean="0">
                <a:solidFill>
                  <a:srgbClr val="FF0000"/>
                </a:solidFill>
              </a:rPr>
              <a:t>i Fxa- RIVAROXABAN  </a:t>
            </a:r>
            <a:r>
              <a:rPr lang="es-VE" altLang="es-VE" sz="2000" b="1" smtClean="0"/>
              <a:t>Y APIXABAN , EDOXABAN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VE" altLang="es-VE" sz="2000" b="1" smtClean="0">
                <a:solidFill>
                  <a:srgbClr val="FF0000"/>
                </a:solidFill>
              </a:rPr>
              <a:t>i Trombina- DABIGATRAN </a:t>
            </a:r>
          </a:p>
        </p:txBody>
      </p:sp>
      <p:pic>
        <p:nvPicPr>
          <p:cNvPr id="26628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2279650"/>
            <a:ext cx="636270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CuadroTexto 1"/>
          <p:cNvSpPr txBox="1">
            <a:spLocks noChangeArrowheads="1"/>
          </p:cNvSpPr>
          <p:nvPr/>
        </p:nvSpPr>
        <p:spPr bwMode="auto">
          <a:xfrm>
            <a:off x="5940425" y="4652963"/>
            <a:ext cx="27463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400">
                <a:latin typeface="Arial" panose="020B0604020202020204" pitchFamily="34" charset="0"/>
              </a:rPr>
              <a:t>apixaban, edoxaban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Título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s-VE" altLang="es-VE" sz="2400" b="1" smtClean="0"/>
              <a:t>INHIBIDORES DE LA TROMBINA  (Factor II)</a:t>
            </a:r>
            <a:endParaRPr lang="es-VE" altLang="es-VE" sz="2400" smtClean="0"/>
          </a:p>
        </p:txBody>
      </p:sp>
      <p:sp>
        <p:nvSpPr>
          <p:cNvPr id="27651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DABIGATRAN</a:t>
            </a:r>
            <a:r>
              <a:rPr lang="es-VE" altLang="es-VE" sz="2000" b="1" smtClean="0"/>
              <a:t> </a:t>
            </a:r>
          </a:p>
          <a:p>
            <a:pPr>
              <a:buFont typeface="Arial" panose="020B0604020202020204" pitchFamily="34" charset="0"/>
              <a:buNone/>
            </a:pPr>
            <a:endParaRPr lang="es-VE" altLang="es-VE" sz="2000" smtClean="0"/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Indicaciones: Prevención de TVP en cirugía ortopédica de cadera, o rodilla (prótesis).  FA,  TVP,  SCA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Dosis oral: 110- 150 mg/día. 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Eventos adversos: sangramientos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>
                <a:solidFill>
                  <a:srgbClr val="C00000"/>
                </a:solidFill>
              </a:rPr>
              <a:t>Excreción: renal 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>
                <a:solidFill>
                  <a:srgbClr val="FF0000"/>
                </a:solidFill>
              </a:rPr>
              <a:t>Contraindicaciones: </a:t>
            </a:r>
            <a:r>
              <a:rPr lang="es-VE" altLang="es-VE" sz="2400" b="1" smtClean="0"/>
              <a:t>hipersensibilidad.  </a:t>
            </a:r>
            <a:r>
              <a:rPr lang="es-VE" altLang="es-VE" sz="2400" b="1" smtClean="0">
                <a:solidFill>
                  <a:srgbClr val="FF0000"/>
                </a:solidFill>
              </a:rPr>
              <a:t>ERC. TFG &lt; 30 mL/min</a:t>
            </a:r>
            <a:r>
              <a:rPr lang="es-VE" altLang="es-VE" sz="2400" b="1" smtClean="0"/>
              <a:t>. Insuficiencia hepática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000" b="1" smtClean="0"/>
              <a:t>Interacciones: ketoconazol, quinidina, rifampicina, hierba de S Juan</a:t>
            </a:r>
          </a:p>
          <a:p>
            <a:pPr>
              <a:buFont typeface="Arial" panose="020B0604020202020204" pitchFamily="34" charset="0"/>
              <a:buNone/>
            </a:pPr>
            <a:endParaRPr lang="es-VE" altLang="es-VE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800" dirty="0" err="1" smtClean="0"/>
              <a:t>Dabigatran</a:t>
            </a:r>
            <a:r>
              <a:rPr lang="es-VE" sz="2800" dirty="0" smtClean="0"/>
              <a:t> Vs. </a:t>
            </a:r>
            <a:r>
              <a:rPr lang="es-VE" sz="2800" dirty="0" err="1" smtClean="0"/>
              <a:t>Warfarina</a:t>
            </a:r>
            <a:r>
              <a:rPr lang="es-VE" sz="2800" dirty="0" smtClean="0"/>
              <a:t> en FA + riesgo alto Ictus o embolismo sistémico. RELY</a:t>
            </a:r>
            <a:r>
              <a:rPr lang="es-VE" sz="2400" dirty="0" smtClean="0"/>
              <a:t/>
            </a:r>
            <a:br>
              <a:rPr lang="es-VE" sz="2400" dirty="0" smtClean="0"/>
            </a:br>
            <a:r>
              <a:rPr lang="es-VE" sz="2400" dirty="0" smtClean="0"/>
              <a:t>(n= 18.113)</a:t>
            </a:r>
            <a:endParaRPr lang="es-VE" sz="2400" dirty="0"/>
          </a:p>
        </p:txBody>
      </p:sp>
      <p:pic>
        <p:nvPicPr>
          <p:cNvPr id="2867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1628775"/>
            <a:ext cx="5986463" cy="4400550"/>
          </a:xfrm>
        </p:spPr>
      </p:pic>
      <p:sp>
        <p:nvSpPr>
          <p:cNvPr id="28676" name="CuadroTexto 5"/>
          <p:cNvSpPr txBox="1">
            <a:spLocks noChangeArrowheads="1"/>
          </p:cNvSpPr>
          <p:nvPr/>
        </p:nvSpPr>
        <p:spPr bwMode="auto">
          <a:xfrm>
            <a:off x="971550" y="6453188"/>
            <a:ext cx="49688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400">
                <a:latin typeface="Arial" panose="020B0604020202020204" pitchFamily="34" charset="0"/>
              </a:rPr>
              <a:t>NEJM. 2009; 361: 1139- 1151</a:t>
            </a:r>
          </a:p>
        </p:txBody>
      </p:sp>
      <p:sp>
        <p:nvSpPr>
          <p:cNvPr id="28677" name="CuadroTexto 6"/>
          <p:cNvSpPr txBox="1">
            <a:spLocks noChangeArrowheads="1"/>
          </p:cNvSpPr>
          <p:nvPr/>
        </p:nvSpPr>
        <p:spPr bwMode="auto">
          <a:xfrm>
            <a:off x="6084888" y="2349500"/>
            <a:ext cx="29511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ICTUS</a:t>
            </a:r>
            <a:r>
              <a:rPr lang="es-VE" altLang="es-VE" sz="1800">
                <a:latin typeface="Arial" panose="020B0604020202020204" pitchFamily="34" charset="0"/>
              </a:rPr>
              <a:t>:                       </a:t>
            </a:r>
            <a:r>
              <a:rPr lang="es-VE" altLang="es-VE" sz="1800" b="1">
                <a:latin typeface="Arial" panose="020B0604020202020204" pitchFamily="34" charset="0"/>
              </a:rPr>
              <a:t>RR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Warf.         1,69 %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Dbg 110     1,53 %     0,91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Dbg 150     1,11 %     0,66</a:t>
            </a:r>
          </a:p>
        </p:txBody>
      </p:sp>
      <p:sp>
        <p:nvSpPr>
          <p:cNvPr id="28678" name="CuadroTexto 7"/>
          <p:cNvSpPr txBox="1">
            <a:spLocks noChangeArrowheads="1"/>
          </p:cNvSpPr>
          <p:nvPr/>
        </p:nvSpPr>
        <p:spPr bwMode="auto">
          <a:xfrm>
            <a:off x="6237288" y="4479925"/>
            <a:ext cx="279876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MORTALIDAD            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Warf          4,13 %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Dbg 110    3,75 %    0,05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Dbg 150    3,64 %    0,01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400" dirty="0" err="1" smtClean="0"/>
              <a:t>Apixaban</a:t>
            </a:r>
            <a:r>
              <a:rPr lang="es-VE" sz="2400" dirty="0" smtClean="0"/>
              <a:t> (5 mg BID) Vs aspirina (81-324 mg/día) en FA + alto riesgo ictus.  Estudio ABERROES, 1,1 año</a:t>
            </a:r>
            <a:endParaRPr lang="es-VE" sz="2400" dirty="0"/>
          </a:p>
        </p:txBody>
      </p:sp>
      <p:pic>
        <p:nvPicPr>
          <p:cNvPr id="29699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2913" y="1773238"/>
            <a:ext cx="5467350" cy="3962400"/>
          </a:xfrm>
        </p:spPr>
      </p:pic>
      <p:sp>
        <p:nvSpPr>
          <p:cNvPr id="29700" name="CuadroTexto 4"/>
          <p:cNvSpPr txBox="1">
            <a:spLocks noChangeArrowheads="1"/>
          </p:cNvSpPr>
          <p:nvPr/>
        </p:nvSpPr>
        <p:spPr bwMode="auto">
          <a:xfrm>
            <a:off x="6011863" y="2565400"/>
            <a:ext cx="280828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N= 5599</a:t>
            </a:r>
          </a:p>
          <a:p>
            <a:pPr>
              <a:spcBef>
                <a:spcPct val="0"/>
              </a:spcBef>
              <a:buFontTx/>
              <a:buNone/>
            </a:pPr>
            <a:endParaRPr lang="es-VE" altLang="es-VE" sz="1800" b="1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Ictus, embolismo: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1,6 % apixaban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3,7 % aspirina     p 0,001</a:t>
            </a:r>
          </a:p>
        </p:txBody>
      </p:sp>
      <p:sp>
        <p:nvSpPr>
          <p:cNvPr id="29701" name="CuadroTexto 5"/>
          <p:cNvSpPr txBox="1">
            <a:spLocks noChangeArrowheads="1"/>
          </p:cNvSpPr>
          <p:nvPr/>
        </p:nvSpPr>
        <p:spPr bwMode="auto">
          <a:xfrm>
            <a:off x="6011863" y="4652963"/>
            <a:ext cx="23764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Sangramiento: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1,4 % apixaban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s-VE" altLang="es-VE" sz="1800" b="1">
                <a:latin typeface="Arial" panose="020B0604020202020204" pitchFamily="34" charset="0"/>
              </a:rPr>
              <a:t>1,2 % aspirina    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1143000"/>
          </a:xfr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dirty="0" smtClean="0">
                <a:solidFill>
                  <a:srgbClr val="FF0000"/>
                </a:solidFill>
              </a:rPr>
              <a:t>Recomendaciones de la SEC 2016</a:t>
            </a:r>
            <a:br>
              <a:rPr lang="es-VE" altLang="es-VE" sz="2400" dirty="0" smtClean="0">
                <a:solidFill>
                  <a:srgbClr val="FF0000"/>
                </a:solidFill>
              </a:rPr>
            </a:br>
            <a:r>
              <a:rPr lang="es-VE" altLang="es-VE" sz="2400" dirty="0" smtClean="0">
                <a:solidFill>
                  <a:srgbClr val="FF0000"/>
                </a:solidFill>
              </a:rPr>
              <a:t>TERAPIA DUAL</a:t>
            </a:r>
            <a:br>
              <a:rPr lang="es-VE" altLang="es-VE" sz="2400" dirty="0" smtClean="0">
                <a:solidFill>
                  <a:srgbClr val="FF0000"/>
                </a:solidFill>
              </a:rPr>
            </a:br>
            <a:r>
              <a:rPr lang="es-VE" altLang="es-VE" sz="2400" dirty="0" smtClean="0">
                <a:solidFill>
                  <a:srgbClr val="FF0000"/>
                </a:solidFill>
              </a:rPr>
              <a:t>EN SCA + FA</a:t>
            </a:r>
          </a:p>
        </p:txBody>
      </p:sp>
      <p:sp>
        <p:nvSpPr>
          <p:cNvPr id="3072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es-VE" sz="1400" smtClean="0"/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140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2400" smtClean="0">
                <a:solidFill>
                  <a:srgbClr val="FF0000"/>
                </a:solidFill>
              </a:rPr>
              <a:t>Pacientes con SCA y FA con riesgo bajo de sangrado: terapia triple de inicio: un anticoagulante  oral + aspirina 75-100 mg/día y clopidogrel 75 mg/día X 6 meses.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240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2400" smtClean="0"/>
              <a:t>Independientemente de haber recibido un stent metálico o medicado, continuar  hasta los 12 meses con: anticoagulante oral + aspirina o                                                                                                                                        anticoagulante oral + clopidogrel, prasugrel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2400" smtClean="0"/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Título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s-VE" altLang="es-VE" sz="2400" smtClean="0"/>
              <a:t>EN CASO DE HEMORRAGIA CON INHIBIDORES DE </a:t>
            </a:r>
            <a:br>
              <a:rPr lang="es-VE" altLang="es-VE" sz="2400" smtClean="0"/>
            </a:br>
            <a:r>
              <a:rPr lang="es-VE" altLang="es-VE" sz="2400" smtClean="0"/>
              <a:t>FACTOR  Xa      administrar andexanet</a:t>
            </a:r>
            <a:br>
              <a:rPr lang="es-VE" altLang="es-VE" sz="2400" smtClean="0"/>
            </a:br>
            <a:r>
              <a:rPr lang="es-VE" altLang="es-VE" sz="2400" smtClean="0"/>
              <a:t>(rivaroxaban, apixaban, edoxaban</a:t>
            </a:r>
            <a:r>
              <a:rPr lang="es-VE" altLang="es-VE" sz="2400" b="1" smtClean="0"/>
              <a:t>)</a:t>
            </a:r>
            <a:endParaRPr lang="es-VE" altLang="es-VE" sz="2400" smtClean="0"/>
          </a:p>
        </p:txBody>
      </p:sp>
      <p:sp>
        <p:nvSpPr>
          <p:cNvPr id="33795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es-VE" altLang="es-VE" sz="2000" dirty="0" smtClean="0"/>
          </a:p>
          <a:p>
            <a:pPr>
              <a:buFont typeface="Arial" panose="020B0604020202020204" pitchFamily="34" charset="0"/>
              <a:buNone/>
              <a:defRPr/>
            </a:pPr>
            <a:endParaRPr lang="es-VE" altLang="es-VE" sz="2000" dirty="0" smtClean="0"/>
          </a:p>
          <a:p>
            <a:pPr>
              <a:buFont typeface="Arial" panose="020B0604020202020204" pitchFamily="34" charset="0"/>
              <a:buNone/>
              <a:defRPr/>
            </a:pPr>
            <a:endParaRPr lang="es-VE" altLang="es-VE" sz="2000" b="1" dirty="0" smtClean="0"/>
          </a:p>
          <a:p>
            <a:pPr>
              <a:buFontTx/>
              <a:buChar char="-"/>
              <a:defRPr/>
            </a:pPr>
            <a:r>
              <a:rPr lang="es-VE" altLang="es-VE" sz="2800" b="1" dirty="0" smtClean="0"/>
              <a:t>Antídoto </a:t>
            </a:r>
            <a:r>
              <a:rPr lang="es-VE" altLang="es-VE" sz="2800" b="1" dirty="0" err="1" smtClean="0"/>
              <a:t>andexanet</a:t>
            </a:r>
            <a:r>
              <a:rPr lang="es-VE" altLang="es-VE" sz="2800" b="1" dirty="0" smtClean="0"/>
              <a:t> alfa: para inhibidores de factor </a:t>
            </a:r>
            <a:r>
              <a:rPr lang="es-VE" altLang="es-VE" sz="2800" b="1" dirty="0" err="1" smtClean="0"/>
              <a:t>Xa</a:t>
            </a:r>
            <a:r>
              <a:rPr lang="es-VE" altLang="es-VE" sz="2800" b="1" dirty="0" smtClean="0"/>
              <a:t> (</a:t>
            </a:r>
            <a:r>
              <a:rPr lang="es-VE" altLang="es-VE" sz="2800" b="1" dirty="0" err="1" smtClean="0"/>
              <a:t>rivaroxaban</a:t>
            </a:r>
            <a:r>
              <a:rPr lang="es-VE" altLang="es-VE" sz="2800" b="1" dirty="0" smtClean="0"/>
              <a:t>, </a:t>
            </a:r>
            <a:r>
              <a:rPr lang="es-VE" altLang="es-VE" sz="2800" b="1" dirty="0" err="1" smtClean="0"/>
              <a:t>apixaban</a:t>
            </a:r>
            <a:r>
              <a:rPr lang="es-VE" altLang="es-VE" sz="2800" b="1" dirty="0" smtClean="0"/>
              <a:t>, </a:t>
            </a:r>
            <a:r>
              <a:rPr lang="es-VE" altLang="es-VE" sz="2800" b="1" dirty="0" err="1" smtClean="0"/>
              <a:t>edoxaban</a:t>
            </a:r>
            <a:r>
              <a:rPr lang="es-VE" altLang="es-VE" sz="2800" b="1" dirty="0" smtClean="0"/>
              <a:t>), es proteína recombinante humana. Se une al inhibidor  </a:t>
            </a:r>
            <a:r>
              <a:rPr lang="es-VE" altLang="es-VE" sz="2800" b="1" dirty="0" err="1" smtClean="0"/>
              <a:t>Xa</a:t>
            </a:r>
            <a:r>
              <a:rPr lang="es-VE" altLang="es-VE" sz="2800" b="1" dirty="0" smtClean="0"/>
              <a:t> y lo elimina de la circulación *</a:t>
            </a:r>
          </a:p>
          <a:p>
            <a:pPr>
              <a:buFontTx/>
              <a:buChar char="-"/>
              <a:defRPr/>
            </a:pPr>
            <a:endParaRPr lang="es-VE" altLang="es-VE" sz="2800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800" b="1" dirty="0" smtClean="0"/>
          </a:p>
          <a:p>
            <a:pPr>
              <a:buFontTx/>
              <a:buChar char="-"/>
              <a:defRPr/>
            </a:pPr>
            <a:endParaRPr lang="es-VE" altLang="es-VE" sz="1200" b="1" dirty="0" smtClean="0"/>
          </a:p>
          <a:p>
            <a:pPr>
              <a:buFontTx/>
              <a:buChar char="-"/>
              <a:defRPr/>
            </a:pPr>
            <a:r>
              <a:rPr lang="es-VE" altLang="es-VE" sz="1400" b="1" dirty="0" smtClean="0"/>
              <a:t>* </a:t>
            </a:r>
            <a:r>
              <a:rPr lang="es-VE" altLang="es-VE" sz="1400" b="1" dirty="0" err="1" smtClean="0"/>
              <a:t>Connolly</a:t>
            </a:r>
            <a:r>
              <a:rPr lang="es-VE" altLang="es-VE" sz="1400" b="1" dirty="0" smtClean="0"/>
              <a:t> SJ. N </a:t>
            </a:r>
            <a:r>
              <a:rPr lang="es-VE" altLang="es-VE" sz="1400" b="1" dirty="0" err="1" smtClean="0"/>
              <a:t>Eng</a:t>
            </a:r>
            <a:r>
              <a:rPr lang="es-VE" altLang="es-VE" sz="1400" b="1" dirty="0" smtClean="0"/>
              <a:t> J </a:t>
            </a:r>
            <a:r>
              <a:rPr lang="es-VE" altLang="es-VE" sz="1400" b="1" dirty="0" err="1" smtClean="0"/>
              <a:t>Med</a:t>
            </a:r>
            <a:r>
              <a:rPr lang="es-VE" altLang="es-VE" sz="1400" b="1" dirty="0" smtClean="0"/>
              <a:t>. 2016; 375: 1131- 1141 </a:t>
            </a:r>
          </a:p>
        </p:txBody>
      </p:sp>
      <p:sp>
        <p:nvSpPr>
          <p:cNvPr id="2" name="Flecha derecha 1"/>
          <p:cNvSpPr/>
          <p:nvPr/>
        </p:nvSpPr>
        <p:spPr>
          <a:xfrm>
            <a:off x="3708400" y="774700"/>
            <a:ext cx="287338" cy="144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VE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Título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s-VE" altLang="es-VE" sz="2400" b="1" smtClean="0"/>
              <a:t>Idarucizumab : antidoto del dabigatran</a:t>
            </a:r>
          </a:p>
        </p:txBody>
      </p:sp>
      <p:sp>
        <p:nvSpPr>
          <p:cNvPr id="34819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s-VE" altLang="es-VE" sz="20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8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8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800" b="1" dirty="0" err="1" smtClean="0"/>
              <a:t>Idarucizumab</a:t>
            </a:r>
            <a:r>
              <a:rPr lang="es-VE" altLang="es-VE" sz="2800" b="1" dirty="0" smtClean="0"/>
              <a:t> (</a:t>
            </a:r>
            <a:r>
              <a:rPr lang="es-VE" altLang="es-VE" sz="2800" b="1" dirty="0" err="1" smtClean="0"/>
              <a:t>Boehringer</a:t>
            </a:r>
            <a:r>
              <a:rPr lang="es-VE" altLang="es-VE" sz="2800" b="1" dirty="0" smtClean="0"/>
              <a:t> </a:t>
            </a:r>
            <a:r>
              <a:rPr lang="es-VE" altLang="es-VE" sz="2800" b="1" dirty="0" err="1" smtClean="0"/>
              <a:t>Ing</a:t>
            </a:r>
            <a:r>
              <a:rPr lang="es-VE" altLang="es-VE" sz="2800" b="1" dirty="0" smtClean="0"/>
              <a:t>). Fragmento de anticuerpo monoclonal contra </a:t>
            </a:r>
            <a:r>
              <a:rPr lang="es-VE" altLang="es-VE" sz="2800" b="1" dirty="0" err="1" smtClean="0"/>
              <a:t>dabigatran</a:t>
            </a:r>
            <a:endParaRPr lang="es-VE" altLang="es-VE" sz="28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8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b="1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s-VE" altLang="es-VE" sz="1400" b="1" dirty="0" smtClean="0"/>
              <a:t>* N </a:t>
            </a:r>
            <a:r>
              <a:rPr lang="es-VE" altLang="es-VE" sz="1400" b="1" dirty="0" err="1" smtClean="0"/>
              <a:t>Eng</a:t>
            </a:r>
            <a:r>
              <a:rPr lang="es-VE" altLang="es-VE" sz="1400" b="1" dirty="0" smtClean="0"/>
              <a:t> J </a:t>
            </a:r>
            <a:r>
              <a:rPr lang="es-VE" altLang="es-VE" sz="1400" b="1" dirty="0" err="1" smtClean="0"/>
              <a:t>Med</a:t>
            </a:r>
            <a:r>
              <a:rPr lang="es-VE" altLang="es-VE" sz="1400" b="1" dirty="0" smtClean="0"/>
              <a:t>. 2017; 377: 431-441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s-VE" altLang="es-V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Título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dirty="0" smtClean="0"/>
              <a:t>TERAPIA CON ANTICOAGULANTES LUEGO DE TROMBOSIS VENOSA PROFUNDA (TVP)</a:t>
            </a:r>
          </a:p>
        </p:txBody>
      </p:sp>
      <p:sp>
        <p:nvSpPr>
          <p:cNvPr id="33795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s-VE" altLang="es-VE" sz="2400" b="1" smtClean="0"/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Protección contra recurrencia TVP: aspirina, antiagregantes palquetarios P2Y12 o anticoagulantes orales.  Riesgo de sangramiento similar para los tres fármacos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000" b="1" smtClean="0"/>
              <a:t>                                                            </a:t>
            </a:r>
          </a:p>
          <a:p>
            <a:pPr>
              <a:buFont typeface="Arial" panose="020B0604020202020204" pitchFamily="34" charset="0"/>
              <a:buNone/>
            </a:pPr>
            <a:endParaRPr lang="es-VE" altLang="es-VE" sz="2000" b="1" smtClean="0"/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Duración: 3- 6 meses después de la fase aguda </a:t>
            </a:r>
          </a:p>
          <a:p>
            <a:pPr>
              <a:buFont typeface="Arial" panose="020B0604020202020204" pitchFamily="34" charset="0"/>
              <a:buNone/>
            </a:pPr>
            <a:r>
              <a:rPr lang="es-VE" altLang="es-VE" sz="2400" b="1" smtClean="0"/>
              <a:t>(Dimero-D negativo)</a:t>
            </a:r>
          </a:p>
          <a:p>
            <a:pPr>
              <a:buFont typeface="Arial" panose="020B0604020202020204" pitchFamily="34" charset="0"/>
              <a:buNone/>
            </a:pPr>
            <a:endParaRPr lang="es-VE" altLang="es-VE" sz="2000" smtClean="0"/>
          </a:p>
          <a:p>
            <a:pPr>
              <a:buFont typeface="Arial" panose="020B0604020202020204" pitchFamily="34" charset="0"/>
              <a:buNone/>
            </a:pPr>
            <a:endParaRPr lang="es-VE" altLang="es-VE" sz="2000" smtClean="0"/>
          </a:p>
          <a:p>
            <a:pPr>
              <a:buFont typeface="Arial" panose="020B0604020202020204" pitchFamily="34" charset="0"/>
              <a:buNone/>
            </a:pPr>
            <a:r>
              <a:rPr lang="es-VE" altLang="es-VE" sz="2000" smtClean="0"/>
              <a:t> </a:t>
            </a:r>
            <a:r>
              <a:rPr lang="es-VE" altLang="es-VE" sz="1400" smtClean="0"/>
              <a:t>Kearon C. Chest. 2016: 149: 315-352</a:t>
            </a:r>
          </a:p>
        </p:txBody>
      </p:sp>
      <p:pic>
        <p:nvPicPr>
          <p:cNvPr id="33796" name="6 Ima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4429125"/>
            <a:ext cx="7143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7 Imag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0" y="4429125"/>
            <a:ext cx="1000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34087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b="1" smtClean="0"/>
              <a:t>ANTIAGREGANTES PLAQUETARIO</a:t>
            </a:r>
            <a:r>
              <a:rPr lang="es-VE" altLang="es-VE" smtClean="0"/>
              <a:t>S</a:t>
            </a:r>
            <a:endParaRPr lang="es-ES_tradnl" altLang="es-ES_tradnl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1475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3600" b="1" dirty="0" smtClean="0"/>
              <a:t>ANTIAGREGANTES PLAQUETARIO</a:t>
            </a:r>
            <a:r>
              <a:rPr lang="es-VE" altLang="es-VE" sz="3600" dirty="0" smtClean="0"/>
              <a:t>S</a:t>
            </a:r>
            <a:br>
              <a:rPr lang="es-VE" altLang="es-VE" sz="3600" dirty="0" smtClean="0"/>
            </a:br>
            <a:r>
              <a:rPr lang="es-VE" altLang="es-VE" sz="3600" dirty="0" smtClean="0"/>
              <a:t>4 grupos  </a:t>
            </a:r>
          </a:p>
        </p:txBody>
      </p:sp>
      <p:sp>
        <p:nvSpPr>
          <p:cNvPr id="3584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  <a:defRPr/>
            </a:pPr>
            <a:endParaRPr lang="es-VE" altLang="es-VE" sz="24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400" b="1" dirty="0" smtClean="0"/>
              <a:t>1. Inhibidores COX 1 y 2. Aspirina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4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400" b="1" dirty="0" smtClean="0"/>
              <a:t>2. Inhibidores </a:t>
            </a:r>
            <a:r>
              <a:rPr lang="es-VE" altLang="es-VE" sz="2400" b="1" dirty="0" err="1" smtClean="0"/>
              <a:t>Fosfodiesterasa</a:t>
            </a:r>
            <a:r>
              <a:rPr lang="es-VE" altLang="es-VE" sz="2400" b="1" dirty="0" smtClean="0"/>
              <a:t> (en desuso)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4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400" b="1" dirty="0" smtClean="0"/>
              <a:t>3. Bloqueantes Receptor P2Y12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4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400" b="1" dirty="0" smtClean="0"/>
              <a:t>4. Inhibidores glicoproteína </a:t>
            </a:r>
            <a:r>
              <a:rPr lang="es-VE" altLang="es-VE" sz="2400" b="1" dirty="0" err="1" smtClean="0"/>
              <a:t>IIb</a:t>
            </a:r>
            <a:r>
              <a:rPr lang="es-VE" altLang="es-VE" sz="2400" b="1" dirty="0" smtClean="0"/>
              <a:t> / </a:t>
            </a:r>
            <a:r>
              <a:rPr lang="es-VE" altLang="es-VE" sz="2400" b="1" dirty="0" err="1" smtClean="0"/>
              <a:t>IIIa</a:t>
            </a:r>
            <a:endParaRPr lang="es-VE" altLang="es-VE" sz="24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Título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smtClean="0"/>
              <a:t>PLAQUETAS. ACTIVACIÓN, ADHESIÓN AGREGACIÓN, SECRECIÓN (TxA2, 5HT)</a:t>
            </a:r>
          </a:p>
        </p:txBody>
      </p:sp>
      <p:pic>
        <p:nvPicPr>
          <p:cNvPr id="36867" name="3 Marcador de contenido" descr="Resultado de imagen para platelet images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0750" y="1520825"/>
            <a:ext cx="2465388" cy="2195513"/>
          </a:xfrm>
        </p:spPr>
      </p:pic>
      <p:pic>
        <p:nvPicPr>
          <p:cNvPr id="36868" name="5 Imagen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3284538"/>
            <a:ext cx="33274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Título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sz="2400" b="1" dirty="0" smtClean="0"/>
              <a:t>ANTIAGREGANTES PLAQUETARIOS</a:t>
            </a:r>
            <a:br>
              <a:rPr lang="es-MX" altLang="es-VE" sz="2400" b="1" dirty="0" smtClean="0"/>
            </a:br>
            <a:r>
              <a:rPr lang="es-MX" altLang="es-VE" sz="2400" b="1" dirty="0" smtClean="0"/>
              <a:t>Mecanismo de acción </a:t>
            </a:r>
            <a:endParaRPr lang="es-VE" altLang="es-VE" sz="2400" dirty="0" smtClean="0"/>
          </a:p>
        </p:txBody>
      </p:sp>
      <p:sp>
        <p:nvSpPr>
          <p:cNvPr id="36867" name="2 Marcador de contenido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  <a:solidFill>
            <a:srgbClr val="FFFF00"/>
          </a:solidFill>
        </p:spPr>
        <p:txBody>
          <a:bodyPr/>
          <a:lstStyle/>
          <a:p>
            <a:pPr>
              <a:buFontTx/>
              <a:buChar char="-"/>
              <a:defRPr/>
            </a:pPr>
            <a:r>
              <a:rPr lang="es-MX" altLang="es-VE" sz="2400" b="1" dirty="0" smtClean="0">
                <a:solidFill>
                  <a:srgbClr val="FF0000"/>
                </a:solidFill>
              </a:rPr>
              <a:t>Los Inhibidores de la COX 1 </a:t>
            </a:r>
            <a:r>
              <a:rPr lang="es-MX" altLang="es-VE" sz="2400" dirty="0" smtClean="0">
                <a:solidFill>
                  <a:srgbClr val="FF0000"/>
                </a:solidFill>
              </a:rPr>
              <a:t>  Reducen la síntesis de </a:t>
            </a:r>
            <a:r>
              <a:rPr lang="es-MX" altLang="es-VE" sz="2400" dirty="0" err="1" smtClean="0">
                <a:solidFill>
                  <a:srgbClr val="FF0000"/>
                </a:solidFill>
              </a:rPr>
              <a:t>tromboxano</a:t>
            </a:r>
            <a:r>
              <a:rPr lang="es-MX" altLang="es-VE" sz="2400" dirty="0" smtClean="0">
                <a:solidFill>
                  <a:srgbClr val="FF0000"/>
                </a:solidFill>
              </a:rPr>
              <a:t> A2  Ej. </a:t>
            </a:r>
            <a:r>
              <a:rPr lang="es-MX" altLang="es-VE" sz="2800" b="1" dirty="0" smtClean="0">
                <a:solidFill>
                  <a:srgbClr val="FF0000"/>
                </a:solidFill>
              </a:rPr>
              <a:t>aspirina</a:t>
            </a:r>
          </a:p>
          <a:p>
            <a:pPr>
              <a:buFontTx/>
              <a:buChar char="-"/>
              <a:defRPr/>
            </a:pPr>
            <a:endParaRPr lang="es-MX" altLang="es-VE" sz="24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1800" b="1" dirty="0" smtClean="0"/>
          </a:p>
          <a:p>
            <a:pPr>
              <a:buFontTx/>
              <a:buChar char="-"/>
              <a:defRPr/>
            </a:pPr>
            <a:r>
              <a:rPr lang="es-MX" altLang="es-VE" sz="2400" b="1" dirty="0" smtClean="0">
                <a:solidFill>
                  <a:srgbClr val="FF0000"/>
                </a:solidFill>
              </a:rPr>
              <a:t>Los Antagonistas del ADP plaquetario bloquean el receptor P2Y12  (receptor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purinérgico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dirty="0" smtClean="0">
                <a:solidFill>
                  <a:srgbClr val="FF0000"/>
                </a:solidFill>
              </a:rPr>
              <a:t>              Irreversible</a:t>
            </a:r>
            <a:r>
              <a:rPr lang="es-MX" altLang="es-VE" sz="2400" dirty="0" smtClean="0">
                <a:solidFill>
                  <a:srgbClr val="FF0000"/>
                </a:solidFill>
              </a:rPr>
              <a:t>:  </a:t>
            </a:r>
            <a:r>
              <a:rPr lang="es-MX" altLang="es-VE" sz="2800" b="1" dirty="0" err="1" smtClean="0">
                <a:solidFill>
                  <a:srgbClr val="FF0000"/>
                </a:solidFill>
              </a:rPr>
              <a:t>clopidogrel</a:t>
            </a:r>
            <a:r>
              <a:rPr lang="es-MX" altLang="es-VE" sz="2800" b="1" dirty="0" smtClean="0">
                <a:solidFill>
                  <a:srgbClr val="FF0000"/>
                </a:solidFill>
              </a:rPr>
              <a:t> </a:t>
            </a:r>
            <a:r>
              <a:rPr lang="es-MX" altLang="es-VE" sz="2000" dirty="0" smtClean="0">
                <a:solidFill>
                  <a:srgbClr val="FF0000"/>
                </a:solidFill>
              </a:rPr>
              <a:t>(deforma el receptor)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dirty="0" smtClean="0">
                <a:solidFill>
                  <a:srgbClr val="FF0000"/>
                </a:solidFill>
              </a:rPr>
              <a:t>               Reversible: </a:t>
            </a:r>
            <a:r>
              <a:rPr lang="es-MX" altLang="es-VE" sz="2800" b="1" dirty="0" err="1" smtClean="0">
                <a:solidFill>
                  <a:srgbClr val="FF0000"/>
                </a:solidFill>
              </a:rPr>
              <a:t>prasugrel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, </a:t>
            </a:r>
            <a:r>
              <a:rPr lang="es-MX" altLang="es-VE" sz="2800" b="1" dirty="0" err="1" smtClean="0">
                <a:solidFill>
                  <a:srgbClr val="FF0000"/>
                </a:solidFill>
              </a:rPr>
              <a:t>ticagrelor</a:t>
            </a:r>
            <a:r>
              <a:rPr lang="es-MX" altLang="es-VE" sz="2800" b="1" dirty="0" smtClean="0">
                <a:solidFill>
                  <a:srgbClr val="FF0000"/>
                </a:solidFill>
              </a:rPr>
              <a:t>,</a:t>
            </a:r>
            <a:r>
              <a:rPr lang="es-MX" altLang="es-VE" sz="2800" b="1" dirty="0" smtClean="0"/>
              <a:t> </a:t>
            </a:r>
            <a:r>
              <a:rPr lang="es-MX" altLang="es-VE" sz="2800" b="1" dirty="0" err="1" smtClean="0">
                <a:solidFill>
                  <a:srgbClr val="FF0000"/>
                </a:solidFill>
              </a:rPr>
              <a:t>cangrelor</a:t>
            </a:r>
            <a:r>
              <a:rPr lang="es-MX" altLang="es-VE" sz="2800" b="1" dirty="0" smtClean="0">
                <a:solidFill>
                  <a:srgbClr val="FF0000"/>
                </a:solidFill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- </a:t>
            </a:r>
            <a:r>
              <a:rPr lang="es-MX" altLang="es-VE" sz="2000" b="1" dirty="0" err="1" smtClean="0"/>
              <a:t>Selatogrel</a:t>
            </a:r>
            <a:r>
              <a:rPr lang="es-MX" altLang="es-VE" sz="2000" b="1" dirty="0" smtClean="0"/>
              <a:t> vía SC. </a:t>
            </a:r>
            <a:r>
              <a:rPr lang="es-MX" altLang="es-VE" sz="2000" b="1" dirty="0" err="1" smtClean="0"/>
              <a:t>Inhib</a:t>
            </a:r>
            <a:r>
              <a:rPr lang="es-MX" altLang="es-VE" sz="2000" b="1" dirty="0" smtClean="0"/>
              <a:t> </a:t>
            </a:r>
            <a:r>
              <a:rPr lang="es-MX" altLang="es-VE" sz="2000" b="1" dirty="0" err="1" smtClean="0"/>
              <a:t>agreg</a:t>
            </a:r>
            <a:r>
              <a:rPr lang="es-MX" altLang="es-VE" sz="2000" b="1" dirty="0" smtClean="0"/>
              <a:t> </a:t>
            </a:r>
            <a:r>
              <a:rPr lang="es-MX" altLang="es-VE" sz="2000" b="1" dirty="0" err="1" smtClean="0"/>
              <a:t>plaq</a:t>
            </a:r>
            <a:r>
              <a:rPr lang="es-MX" altLang="es-VE" sz="2000" b="1" dirty="0" smtClean="0"/>
              <a:t> en 15 min, excreción 24 h</a:t>
            </a:r>
            <a:endParaRPr lang="es-VE" altLang="es-VE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ítulo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b="1" dirty="0" smtClean="0"/>
              <a:t>Tratamiento </a:t>
            </a:r>
            <a:r>
              <a:rPr lang="es-VE" altLang="es-VE" sz="2400" b="1" dirty="0" err="1" smtClean="0"/>
              <a:t>antitrombótico</a:t>
            </a:r>
            <a:r>
              <a:rPr lang="es-VE" altLang="es-VE" sz="2400" b="1" dirty="0" smtClean="0"/>
              <a:t> doble.</a:t>
            </a:r>
            <a:br>
              <a:rPr lang="es-VE" altLang="es-VE" sz="2400" b="1" dirty="0" smtClean="0"/>
            </a:br>
            <a:r>
              <a:rPr lang="es-VE" altLang="es-VE" sz="2400" b="1" dirty="0" smtClean="0"/>
              <a:t>Luego de:  SCA (IMST, IMNST, Angina inestable), FA, ANGIOPLASTIA CORONARIA PERCUTÁNEA </a:t>
            </a:r>
          </a:p>
        </p:txBody>
      </p:sp>
      <p:sp>
        <p:nvSpPr>
          <p:cNvPr id="37891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s-VE" altLang="es-VE" sz="20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000" b="1" dirty="0" smtClean="0">
                <a:solidFill>
                  <a:srgbClr val="FF0000"/>
                </a:solidFill>
              </a:rPr>
              <a:t>DUAL= ADMINISTRACION SIMULT</a:t>
            </a:r>
            <a:r>
              <a:rPr lang="es-MX" altLang="es-VE" sz="2000" b="1" dirty="0" smtClean="0">
                <a:solidFill>
                  <a:srgbClr val="FF0000"/>
                </a:solidFill>
              </a:rPr>
              <a:t>Á</a:t>
            </a:r>
            <a:r>
              <a:rPr lang="es-VE" altLang="es-VE" sz="2000" b="1" dirty="0" smtClean="0">
                <a:solidFill>
                  <a:srgbClr val="FF0000"/>
                </a:solidFill>
              </a:rPr>
              <a:t>NEA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000" b="1" dirty="0" smtClean="0">
                <a:solidFill>
                  <a:srgbClr val="FF0000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AutoNum type="arabicPeriod"/>
              <a:defRPr/>
            </a:pPr>
            <a:r>
              <a:rPr lang="es-VE" altLang="es-VE" sz="2000" b="1" dirty="0" smtClean="0">
                <a:solidFill>
                  <a:srgbClr val="FF0000"/>
                </a:solidFill>
              </a:rPr>
              <a:t>DOS ANTIAGREGANTES PLAQUETARIOS CON MECANISMO DE ACCIÓN DIFERENTE p.ej. </a:t>
            </a:r>
            <a:r>
              <a:rPr lang="es-VE" altLang="es-VE" sz="2000" b="1" dirty="0" err="1" smtClean="0">
                <a:solidFill>
                  <a:srgbClr val="FF0000"/>
                </a:solidFill>
              </a:rPr>
              <a:t>clopidogrel</a:t>
            </a:r>
            <a:r>
              <a:rPr lang="es-VE" altLang="es-VE" sz="2000" b="1" dirty="0" smtClean="0">
                <a:solidFill>
                  <a:srgbClr val="FF0000"/>
                </a:solidFill>
              </a:rPr>
              <a:t>-aspirina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2000" b="1" dirty="0" smtClean="0">
                <a:solidFill>
                  <a:srgbClr val="FF0000"/>
                </a:solidFill>
              </a:rPr>
              <a:t>2. UN ANTICOAGULANTE Inhibidor de trombina  + aspirina o </a:t>
            </a:r>
            <a:r>
              <a:rPr lang="es-VE" altLang="es-VE" sz="2000" b="1" dirty="0" err="1" smtClean="0">
                <a:solidFill>
                  <a:srgbClr val="FF0000"/>
                </a:solidFill>
              </a:rPr>
              <a:t>clopidogrel</a:t>
            </a:r>
            <a:endParaRPr lang="es-VE" altLang="es-VE" sz="2000" b="1" dirty="0" smtClean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1600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VE" altLang="es-VE" sz="1600" dirty="0" err="1" smtClean="0"/>
              <a:t>Cannon</a:t>
            </a:r>
            <a:r>
              <a:rPr lang="es-VE" altLang="es-VE" sz="1600" dirty="0" smtClean="0"/>
              <a:t> CP. Dual </a:t>
            </a:r>
            <a:r>
              <a:rPr lang="es-VE" altLang="es-VE" sz="1600" dirty="0" err="1" smtClean="0"/>
              <a:t>Antithrombotic</a:t>
            </a:r>
            <a:r>
              <a:rPr lang="es-VE" altLang="es-VE" sz="1600" dirty="0" smtClean="0"/>
              <a:t> </a:t>
            </a:r>
            <a:r>
              <a:rPr lang="es-VE" altLang="es-VE" sz="1600" dirty="0" err="1" smtClean="0"/>
              <a:t>Therapy</a:t>
            </a:r>
            <a:r>
              <a:rPr lang="es-VE" altLang="es-VE" sz="1600" dirty="0" smtClean="0"/>
              <a:t> </a:t>
            </a:r>
            <a:r>
              <a:rPr lang="es-VE" altLang="es-VE" sz="1600" dirty="0" err="1" smtClean="0"/>
              <a:t>with</a:t>
            </a:r>
            <a:r>
              <a:rPr lang="es-VE" altLang="es-VE" sz="1600" dirty="0" smtClean="0"/>
              <a:t> </a:t>
            </a:r>
            <a:r>
              <a:rPr lang="es-VE" altLang="es-VE" sz="1600" dirty="0" err="1" smtClean="0"/>
              <a:t>Dabigatran</a:t>
            </a:r>
            <a:r>
              <a:rPr lang="es-VE" altLang="es-VE" sz="1600" dirty="0" smtClean="0"/>
              <a:t> </a:t>
            </a:r>
            <a:r>
              <a:rPr lang="es-VE" altLang="es-VE" sz="1600" dirty="0" err="1" smtClean="0"/>
              <a:t>after</a:t>
            </a:r>
            <a:r>
              <a:rPr lang="es-VE" altLang="es-VE" sz="1600" dirty="0" smtClean="0"/>
              <a:t> PCI in Atrial </a:t>
            </a:r>
            <a:r>
              <a:rPr lang="es-VE" altLang="es-VE" sz="1600" dirty="0" err="1" smtClean="0"/>
              <a:t>Fibrillation</a:t>
            </a:r>
            <a:r>
              <a:rPr lang="es-VE" altLang="es-VE" sz="1600" dirty="0" smtClean="0"/>
              <a:t>. </a:t>
            </a:r>
            <a:r>
              <a:rPr lang="es-VE" altLang="es-VE" sz="1600" u="sng" dirty="0" smtClean="0">
                <a:hlinkClick r:id="rId2"/>
              </a:rPr>
              <a:t>N </a:t>
            </a:r>
            <a:r>
              <a:rPr lang="es-VE" altLang="es-VE" sz="1600" u="sng" dirty="0" err="1" smtClean="0">
                <a:hlinkClick r:id="rId2"/>
              </a:rPr>
              <a:t>Engl</a:t>
            </a:r>
            <a:r>
              <a:rPr lang="es-VE" altLang="es-VE" sz="1600" u="sng" dirty="0" smtClean="0">
                <a:hlinkClick r:id="rId2"/>
              </a:rPr>
              <a:t> J </a:t>
            </a:r>
            <a:r>
              <a:rPr lang="es-VE" altLang="es-VE" sz="1600" u="sng" dirty="0" err="1" smtClean="0">
                <a:hlinkClick r:id="rId2"/>
              </a:rPr>
              <a:t>Med</a:t>
            </a:r>
            <a:r>
              <a:rPr lang="es-VE" altLang="es-VE" sz="1600" u="sng" dirty="0" smtClean="0">
                <a:hlinkClick r:id="rId2"/>
              </a:rPr>
              <a:t>.  2017; 377:1513-1524</a:t>
            </a:r>
            <a:r>
              <a:rPr lang="es-VE" altLang="es-VE" sz="2000" dirty="0" smtClean="0"/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20688"/>
            <a:ext cx="8229600" cy="1143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b="1" dirty="0" smtClean="0"/>
              <a:t>Tratamiento </a:t>
            </a:r>
            <a:r>
              <a:rPr lang="es-VE" altLang="es-VE" sz="2400" b="1" dirty="0" err="1" smtClean="0"/>
              <a:t>antitrombótico</a:t>
            </a:r>
            <a:r>
              <a:rPr lang="es-VE" altLang="es-VE" sz="2400" b="1" dirty="0" smtClean="0"/>
              <a:t> doble</a:t>
            </a:r>
            <a:br>
              <a:rPr lang="es-VE" altLang="es-VE" sz="2400" b="1" dirty="0" smtClean="0"/>
            </a:br>
            <a:r>
              <a:rPr lang="es-VE" altLang="es-VE" sz="2400" b="1" dirty="0" smtClean="0"/>
              <a:t>Luego de:  SCA (IMST, IMNST, Angina inestable), FA, ANGIOPLASTIA PERCUTANEA </a:t>
            </a:r>
            <a:endParaRPr lang="en-US" sz="2400" dirty="0"/>
          </a:p>
        </p:txBody>
      </p:sp>
      <p:sp>
        <p:nvSpPr>
          <p:cNvPr id="39939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5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altLang="es-VE" sz="2000" b="1" smtClean="0">
                <a:solidFill>
                  <a:srgbClr val="FF0000"/>
                </a:solidFill>
              </a:rPr>
              <a:t>Por cuanto tiempo?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2000" b="1" smtClean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2000" b="1" smtClean="0">
                <a:solidFill>
                  <a:srgbClr val="FF0000"/>
                </a:solidFill>
              </a:rPr>
              <a:t>DURANTE TRES MESES; LUEGO RETIRAR ASPIRINA Y CONTINUAR UN AÑO CON CLOPIDOGREL* o TICAGRELOR **: BUENOS RESULTADOS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2000" b="1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2000" b="1" smtClean="0">
                <a:solidFill>
                  <a:srgbClr val="FF0000"/>
                </a:solidFill>
              </a:rPr>
              <a:t>Descontinuar aspirina 1 a 3 meses después de angioplastia coronaria y continuar con inhibidor P2Y12 , durante  12 a 15 meses*.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2000" b="1" smtClean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2000" b="1" smtClean="0">
                <a:solidFill>
                  <a:srgbClr val="FF0000"/>
                </a:solidFill>
              </a:rPr>
              <a:t>Esto disminuye riesgo de sangrado grave en 40%, sin  aumentar riesgo de evento coronario severo *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es-VE" sz="2000" b="1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1600" smtClean="0"/>
              <a:t>*Circulation. 2020; 142:538 –545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s-VE" sz="1600" b="1" smtClean="0"/>
              <a:t>**</a:t>
            </a:r>
            <a:r>
              <a:rPr lang="en-US" altLang="es-VE" sz="1600" smtClean="0"/>
              <a:t>JAMA. 2020; 323: 2407-2416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 altLang="es-ES_tradnl" smtClean="0"/>
          </a:p>
        </p:txBody>
      </p:sp>
      <p:sp>
        <p:nvSpPr>
          <p:cNvPr id="4096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ES_tradnl" altLang="es-ES_tradnl" smtClean="0"/>
          </a:p>
        </p:txBody>
      </p:sp>
      <p:sp>
        <p:nvSpPr>
          <p:cNvPr id="39940" name="Título 1"/>
          <p:cNvSpPr txBox="1">
            <a:spLocks/>
          </p:cNvSpPr>
          <p:nvPr/>
        </p:nvSpPr>
        <p:spPr bwMode="auto">
          <a:xfrm>
            <a:off x="457200" y="320675"/>
            <a:ext cx="8050213" cy="10969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s-MX" altLang="es-VE" sz="2800" b="1" dirty="0" smtClean="0"/>
              <a:t>ANTIAGREGANTES PLAQUETARIOS</a:t>
            </a:r>
            <a:endParaRPr lang="es-ES_tradnl" altLang="es-ES_tradnl" sz="2800" dirty="0" smtClean="0"/>
          </a:p>
        </p:txBody>
      </p:sp>
      <p:pic>
        <p:nvPicPr>
          <p:cNvPr id="40965" name="Marcador de contenido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2273300"/>
            <a:ext cx="2705100" cy="310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066925"/>
            <a:ext cx="4906962" cy="344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Título"/>
          <p:cNvSpPr>
            <a:spLocks noGrp="1"/>
          </p:cNvSpPr>
          <p:nvPr>
            <p:ph type="title"/>
          </p:nvPr>
        </p:nvSpPr>
        <p:spPr>
          <a:xfrm>
            <a:off x="1000125" y="207963"/>
            <a:ext cx="7572375" cy="8636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/>
              <a:t>ANTIAGREGANTES PLAQUETARIOS</a:t>
            </a:r>
            <a:endParaRPr lang="es-VE" altLang="es-VE" sz="2400" b="1" dirty="0" smtClean="0"/>
          </a:p>
        </p:txBody>
      </p:sp>
      <p:sp>
        <p:nvSpPr>
          <p:cNvPr id="40963" name="2 Marcador de contenido"/>
          <p:cNvSpPr>
            <a:spLocks noGrp="1"/>
          </p:cNvSpPr>
          <p:nvPr>
            <p:ph idx="1"/>
          </p:nvPr>
        </p:nvSpPr>
        <p:spPr>
          <a:xfrm>
            <a:off x="457200" y="1071563"/>
            <a:ext cx="8229600" cy="5054600"/>
          </a:xfrm>
          <a:solidFill>
            <a:srgbClr val="FFFF00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s-MX" altLang="es-VE" sz="2800" b="1" dirty="0" smtClean="0"/>
              <a:t>ASPIRINA, ACIDO ACETILSALICILICO</a:t>
            </a:r>
          </a:p>
          <a:p>
            <a:pPr eaLnBrk="1" hangingPunct="1">
              <a:lnSpc>
                <a:spcPct val="90000"/>
              </a:lnSpc>
              <a:defRPr/>
            </a:pPr>
            <a:endParaRPr lang="es-MX" altLang="es-VE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800" dirty="0" err="1" smtClean="0"/>
              <a:t>Tromboxano</a:t>
            </a:r>
            <a:r>
              <a:rPr lang="es-MX" altLang="es-VE" sz="2800" dirty="0" smtClean="0"/>
              <a:t> A2. Formado en plaquetas producto de la COX-1. Aspirina bloquea COX-1 en bajas dosis, en forma irreversible.  Requiere formación de nuevas plaquetas (aprox. 1 semana).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800" dirty="0" smtClean="0">
                <a:solidFill>
                  <a:srgbClr val="FF0000"/>
                </a:solidFill>
              </a:rPr>
              <a:t>Dosis bajas 81 y 100 mg/día, efecto </a:t>
            </a:r>
            <a:r>
              <a:rPr lang="es-MX" altLang="es-VE" sz="2800" dirty="0" err="1" smtClean="0">
                <a:solidFill>
                  <a:srgbClr val="FF0000"/>
                </a:solidFill>
              </a:rPr>
              <a:t>antitrombótico</a:t>
            </a:r>
            <a:endParaRPr lang="es-MX" altLang="es-VE" sz="2800" dirty="0" smtClean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endParaRPr lang="es-MX" altLang="es-VE" sz="28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800" dirty="0" smtClean="0"/>
              <a:t>Otros inhibidores reversibles de COX-1 no tienen efecto </a:t>
            </a:r>
            <a:r>
              <a:rPr lang="es-MX" altLang="es-VE" sz="2800" dirty="0" err="1" smtClean="0"/>
              <a:t>antitrombótico</a:t>
            </a:r>
            <a:r>
              <a:rPr lang="es-MX" altLang="es-VE" sz="2800" dirty="0" smtClean="0"/>
              <a:t>, (</a:t>
            </a:r>
            <a:r>
              <a:rPr lang="es-MX" altLang="es-VE" sz="2800" dirty="0" err="1" smtClean="0"/>
              <a:t>EATr</a:t>
            </a:r>
            <a:r>
              <a:rPr lang="es-MX" altLang="es-VE" sz="2800" dirty="0" smtClean="0"/>
              <a:t>) por el contrario, contrarrestan </a:t>
            </a:r>
            <a:r>
              <a:rPr lang="es-MX" altLang="es-VE" sz="2800" dirty="0" err="1" smtClean="0"/>
              <a:t>EATr</a:t>
            </a:r>
            <a:r>
              <a:rPr lang="es-MX" altLang="es-VE" sz="2800" dirty="0" smtClean="0"/>
              <a:t> de aspirina, p.ej. ibuprofeno.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Título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sz="2400" b="1" dirty="0" smtClean="0"/>
              <a:t>ASPIRINA, ACIDO ACETILSALICILICO</a:t>
            </a:r>
            <a:br>
              <a:rPr lang="es-MX" altLang="es-VE" sz="2400" b="1" dirty="0" smtClean="0"/>
            </a:br>
            <a:endParaRPr lang="es-VE" altLang="es-VE" sz="2400" dirty="0" smtClean="0"/>
          </a:p>
        </p:txBody>
      </p:sp>
      <p:sp>
        <p:nvSpPr>
          <p:cNvPr id="39939" name="2 Marcador de contenido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  <a:solidFill>
            <a:srgbClr val="FFFF00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s-MX" altLang="es-VE" sz="2400" dirty="0" smtClean="0"/>
              <a:t>Mantenimiento. Dosis 81 – 100 mg/día en prevención secundaria de IM (CV) 50- 65 años.  </a:t>
            </a:r>
          </a:p>
          <a:p>
            <a:pPr eaLnBrk="1" hangingPunct="1">
              <a:lnSpc>
                <a:spcPct val="90000"/>
              </a:lnSpc>
              <a:defRPr/>
            </a:pPr>
            <a:endParaRPr lang="es-MX" altLang="es-VE" sz="24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IM. ISIS-2.  Dosis carga en SCA: 500: mg masticado y deglutido al inicio del IAM o angina inestable.  Igual efecto 300 mg oral, inclusive con 162 mg oral. Si sospecha aneurisma aórtico NO usar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400" dirty="0" smtClean="0"/>
              <a:t>Efectos adversos uso crónico: sangramiento  gástrico de baja incidencia. Gastritis, epigastralgia, baja incidencia. 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400" dirty="0" smtClean="0"/>
              <a:t>Metabolismo hepático. Excreción por orina como acido </a:t>
            </a:r>
            <a:r>
              <a:rPr lang="es-MX" altLang="es-VE" sz="2400" dirty="0" err="1" smtClean="0"/>
              <a:t>salicilúrico</a:t>
            </a:r>
            <a:r>
              <a:rPr lang="es-MX" altLang="es-VE" sz="2400" dirty="0" smtClean="0"/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MX" altLang="es-VE" sz="2400" dirty="0" smtClean="0"/>
              <a:t>RESISTENCIA A LA ASPIRINA como </a:t>
            </a:r>
            <a:r>
              <a:rPr lang="es-MX" altLang="es-VE" sz="2400" dirty="0" err="1" smtClean="0"/>
              <a:t>antitrombótico</a:t>
            </a:r>
            <a:r>
              <a:rPr lang="es-MX" altLang="es-VE" sz="2400" dirty="0" smtClean="0"/>
              <a:t>: difícil de confirmar 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  <a:defRPr/>
            </a:pPr>
            <a:r>
              <a:rPr lang="es-MX" altLang="es-VE" sz="2400" dirty="0" smtClean="0"/>
              <a:t> </a:t>
            </a:r>
            <a:r>
              <a:rPr lang="en-US" sz="1600" dirty="0" smtClean="0"/>
              <a:t>European Cardiology Review 2017;12(1):33–7. DOI: 10.15420/ecr.2016:34:2</a:t>
            </a:r>
            <a:endParaRPr lang="es-VE" altLang="es-VE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Título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/>
              <a:t>ASPIRINA EN PACIENTES DIABÉTICOS</a:t>
            </a:r>
            <a:endParaRPr lang="es-VE" altLang="es-VE" sz="2400" b="1" dirty="0" smtClean="0"/>
          </a:p>
        </p:txBody>
      </p:sp>
      <p:sp>
        <p:nvSpPr>
          <p:cNvPr id="19459" name="2 Marcador de contenido">
            <a:extLst/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911725"/>
          </a:xfr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RECOMENDACIONES PARA USO DE ASPIRINA EN BAJAS DOSIS EN DIABETICOS.  </a:t>
            </a:r>
            <a:r>
              <a:rPr lang="es-MX" sz="2400" b="1" dirty="0" smtClean="0"/>
              <a:t> </a:t>
            </a:r>
            <a:r>
              <a:rPr lang="es-MX" sz="1800" b="1" dirty="0" smtClean="0"/>
              <a:t>ADA  AHA ACC Junio </a:t>
            </a:r>
            <a:r>
              <a:rPr lang="es-MX" sz="1800" b="1" dirty="0"/>
              <a:t>2010</a:t>
            </a:r>
            <a:r>
              <a:rPr lang="es-MX" sz="2400" b="1" dirty="0"/>
              <a:t>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MX" sz="2000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>
                <a:solidFill>
                  <a:srgbClr val="FF0000"/>
                </a:solidFill>
              </a:rPr>
              <a:t>La </a:t>
            </a:r>
            <a:r>
              <a:rPr lang="es-MX" sz="2000" b="1" dirty="0" err="1">
                <a:solidFill>
                  <a:srgbClr val="FF0000"/>
                </a:solidFill>
              </a:rPr>
              <a:t>Amer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err="1">
                <a:solidFill>
                  <a:srgbClr val="FF0000"/>
                </a:solidFill>
              </a:rPr>
              <a:t>Diab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err="1">
                <a:solidFill>
                  <a:srgbClr val="FF0000"/>
                </a:solidFill>
              </a:rPr>
              <a:t>Soc</a:t>
            </a:r>
            <a:r>
              <a:rPr lang="es-MX" sz="2000" b="1" dirty="0">
                <a:solidFill>
                  <a:srgbClr val="FF0000"/>
                </a:solidFill>
              </a:rPr>
              <a:t>, </a:t>
            </a:r>
            <a:r>
              <a:rPr lang="es-MX" sz="2000" b="1" dirty="0" err="1">
                <a:solidFill>
                  <a:srgbClr val="FF0000"/>
                </a:solidFill>
              </a:rPr>
              <a:t>Amer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err="1">
                <a:solidFill>
                  <a:srgbClr val="FF0000"/>
                </a:solidFill>
              </a:rPr>
              <a:t>Heart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err="1">
                <a:solidFill>
                  <a:srgbClr val="FF0000"/>
                </a:solidFill>
              </a:rPr>
              <a:t>Assoc</a:t>
            </a:r>
            <a:r>
              <a:rPr lang="es-MX" sz="2000" b="1" dirty="0">
                <a:solidFill>
                  <a:srgbClr val="FF0000"/>
                </a:solidFill>
              </a:rPr>
              <a:t> y </a:t>
            </a:r>
            <a:r>
              <a:rPr lang="es-MX" sz="2000" b="1" dirty="0" err="1">
                <a:solidFill>
                  <a:srgbClr val="FF0000"/>
                </a:solidFill>
              </a:rPr>
              <a:t>Amer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err="1">
                <a:solidFill>
                  <a:srgbClr val="FF0000"/>
                </a:solidFill>
              </a:rPr>
              <a:t>Coll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err="1">
                <a:solidFill>
                  <a:srgbClr val="FF0000"/>
                </a:solidFill>
              </a:rPr>
              <a:t>Cardiol</a:t>
            </a:r>
            <a:r>
              <a:rPr lang="es-MX" sz="2000" b="1" dirty="0">
                <a:solidFill>
                  <a:srgbClr val="FF0000"/>
                </a:solidFill>
              </a:rPr>
              <a:t> </a:t>
            </a:r>
            <a:r>
              <a:rPr lang="es-MX" sz="2000" b="1" dirty="0" smtClean="0">
                <a:solidFill>
                  <a:srgbClr val="FF0000"/>
                </a:solidFill>
              </a:rPr>
              <a:t>han </a:t>
            </a:r>
            <a:r>
              <a:rPr lang="es-MX" sz="2000" b="1" dirty="0">
                <a:solidFill>
                  <a:srgbClr val="FF0000"/>
                </a:solidFill>
              </a:rPr>
              <a:t>recomendado </a:t>
            </a:r>
            <a:r>
              <a:rPr lang="es-MX" sz="2000" b="1" dirty="0" smtClean="0">
                <a:solidFill>
                  <a:srgbClr val="FF0000"/>
                </a:solidFill>
              </a:rPr>
              <a:t>administrar </a:t>
            </a:r>
            <a:r>
              <a:rPr lang="es-MX" sz="2000" b="1" dirty="0">
                <a:solidFill>
                  <a:srgbClr val="FF0000"/>
                </a:solidFill>
              </a:rPr>
              <a:t>aspirina 75- 162 mg/día </a:t>
            </a:r>
            <a:r>
              <a:rPr lang="es-MX" sz="2000" b="1" dirty="0" smtClean="0">
                <a:solidFill>
                  <a:srgbClr val="FF0000"/>
                </a:solidFill>
              </a:rPr>
              <a:t>solamente en: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 smtClean="0">
                <a:solidFill>
                  <a:srgbClr val="FF0000"/>
                </a:solidFill>
              </a:rPr>
              <a:t> diabéticos </a:t>
            </a:r>
            <a:r>
              <a:rPr lang="es-MX" sz="2000" b="1" dirty="0">
                <a:solidFill>
                  <a:srgbClr val="FF0000"/>
                </a:solidFill>
              </a:rPr>
              <a:t>varones &gt;50 años y mujeres diabéticas &gt;60 años que tengan más de un </a:t>
            </a:r>
            <a:r>
              <a:rPr lang="es-MX" sz="2000" b="1" dirty="0" smtClean="0">
                <a:solidFill>
                  <a:srgbClr val="FF0000"/>
                </a:solidFill>
              </a:rPr>
              <a:t>factor </a:t>
            </a:r>
            <a:r>
              <a:rPr lang="es-MX" sz="2000" b="1" dirty="0">
                <a:solidFill>
                  <a:srgbClr val="FF0000"/>
                </a:solidFill>
              </a:rPr>
              <a:t>mayor </a:t>
            </a:r>
            <a:r>
              <a:rPr lang="es-MX" sz="2000" b="1" dirty="0" smtClean="0">
                <a:solidFill>
                  <a:srgbClr val="FF0000"/>
                </a:solidFill>
              </a:rPr>
              <a:t>de </a:t>
            </a:r>
            <a:r>
              <a:rPr lang="es-MX" sz="2000" b="1" dirty="0">
                <a:solidFill>
                  <a:srgbClr val="FF0000"/>
                </a:solidFill>
              </a:rPr>
              <a:t>riesgo </a:t>
            </a:r>
            <a:r>
              <a:rPr lang="es-MX" sz="2000" b="1" dirty="0" smtClean="0">
                <a:solidFill>
                  <a:srgbClr val="FF0000"/>
                </a:solidFill>
              </a:rPr>
              <a:t>CV (cigarrillo</a:t>
            </a:r>
            <a:r>
              <a:rPr lang="es-MX" sz="2000" b="1" dirty="0">
                <a:solidFill>
                  <a:srgbClr val="FF0000"/>
                </a:solidFill>
              </a:rPr>
              <a:t>, </a:t>
            </a:r>
            <a:r>
              <a:rPr lang="es-MX" sz="2000" b="1" dirty="0" err="1">
                <a:solidFill>
                  <a:srgbClr val="FF0000"/>
                </a:solidFill>
              </a:rPr>
              <a:t>dislipidemia</a:t>
            </a:r>
            <a:r>
              <a:rPr lang="es-MX" sz="2000" b="1" dirty="0">
                <a:solidFill>
                  <a:srgbClr val="FF0000"/>
                </a:solidFill>
              </a:rPr>
              <a:t>, HTA, historia </a:t>
            </a:r>
            <a:r>
              <a:rPr lang="es-MX" sz="2000" b="1" dirty="0" err="1">
                <a:solidFill>
                  <a:srgbClr val="FF0000"/>
                </a:solidFill>
              </a:rPr>
              <a:t>familar</a:t>
            </a:r>
            <a:r>
              <a:rPr lang="es-MX" sz="2000" b="1" dirty="0">
                <a:solidFill>
                  <a:srgbClr val="FF0000"/>
                </a:solidFill>
              </a:rPr>
              <a:t> de ECV, albuminuria).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MX" sz="2000" dirty="0">
              <a:solidFill>
                <a:srgbClr val="FF0000"/>
              </a:solidFill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 smtClean="0"/>
              <a:t>- No indicar aspirina en diabéticos que tienen bajo riesgo CV porque aumenta el riesgo de sangramiento y no mejora el riesgo de padecer eventos CV severos.  </a:t>
            </a:r>
            <a:endParaRPr lang="es-VE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Título"/>
          <p:cNvSpPr>
            <a:spLocks noGrp="1"/>
          </p:cNvSpPr>
          <p:nvPr>
            <p:ph type="title"/>
          </p:nvPr>
        </p:nvSpPr>
        <p:spPr>
          <a:xfrm>
            <a:off x="285750" y="0"/>
            <a:ext cx="8607425" cy="85725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400" b="1" dirty="0" smtClean="0"/>
              <a:t>ANTIAGREGANTES PLAQUETARIOS…</a:t>
            </a:r>
            <a:endParaRPr lang="es-VE" altLang="es-VE" sz="2400" b="1" dirty="0" smtClean="0"/>
          </a:p>
        </p:txBody>
      </p:sp>
      <p:sp>
        <p:nvSpPr>
          <p:cNvPr id="16387" name="2 Marcador de contenido">
            <a:extLst/>
          </p:cNvPr>
          <p:cNvSpPr>
            <a:spLocks noGrp="1"/>
          </p:cNvSpPr>
          <p:nvPr>
            <p:ph idx="1"/>
          </p:nvPr>
        </p:nvSpPr>
        <p:spPr>
          <a:xfrm>
            <a:off x="457200" y="785813"/>
            <a:ext cx="8229600" cy="534035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endParaRPr lang="es-MX" sz="2000" b="1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 smtClean="0">
                <a:solidFill>
                  <a:srgbClr val="FF0000"/>
                </a:solidFill>
              </a:rPr>
              <a:t>CLOPIDOGREL </a:t>
            </a:r>
            <a:r>
              <a:rPr lang="es-MX" sz="2000" b="1" dirty="0" err="1" smtClean="0">
                <a:solidFill>
                  <a:srgbClr val="FF0000"/>
                </a:solidFill>
              </a:rPr>
              <a:t>prodroga</a:t>
            </a:r>
            <a:r>
              <a:rPr lang="es-MX" sz="2000" b="1" dirty="0" smtClean="0">
                <a:solidFill>
                  <a:srgbClr val="FF0000"/>
                </a:solidFill>
              </a:rPr>
              <a:t> (</a:t>
            </a:r>
            <a:r>
              <a:rPr lang="es-MX" sz="2000" b="1" dirty="0" err="1" smtClean="0">
                <a:solidFill>
                  <a:srgbClr val="FF0000"/>
                </a:solidFill>
              </a:rPr>
              <a:t>tab</a:t>
            </a:r>
            <a:r>
              <a:rPr lang="es-MX" sz="2000" b="1" dirty="0" smtClean="0">
                <a:solidFill>
                  <a:srgbClr val="FF0000"/>
                </a:solidFill>
              </a:rPr>
              <a:t> 75 mg)  Clase T: </a:t>
            </a:r>
            <a:r>
              <a:rPr lang="es-MX" sz="2000" b="1" dirty="0" err="1" smtClean="0">
                <a:solidFill>
                  <a:srgbClr val="FF0000"/>
                </a:solidFill>
              </a:rPr>
              <a:t>Tienopiridinas</a:t>
            </a:r>
            <a:endParaRPr lang="es-MX" sz="2000" b="1" dirty="0">
              <a:solidFill>
                <a:srgbClr val="FF0000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 err="1">
                <a:solidFill>
                  <a:srgbClr val="FF0000"/>
                </a:solidFill>
              </a:rPr>
              <a:t>Prodroga</a:t>
            </a:r>
            <a:r>
              <a:rPr lang="es-MX" sz="2000" b="1" dirty="0"/>
              <a:t>, </a:t>
            </a:r>
            <a:r>
              <a:rPr lang="es-MX" sz="2000" b="1" dirty="0" smtClean="0"/>
              <a:t>comienzo lento </a:t>
            </a:r>
            <a:r>
              <a:rPr lang="es-MX" sz="2000" b="1" dirty="0"/>
              <a:t>( vía CYP2C19).  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/>
              <a:t>Combinada con aspirina luego de angioplastia y prótesis </a:t>
            </a:r>
            <a:r>
              <a:rPr lang="es-MX" sz="2000" b="1" dirty="0" err="1"/>
              <a:t>endovascular</a:t>
            </a:r>
            <a:r>
              <a:rPr lang="es-MX" sz="2000" b="1" dirty="0"/>
              <a:t>: superior a la aspirina </a:t>
            </a:r>
            <a:r>
              <a:rPr lang="es-MX" sz="2000" b="1" dirty="0" smtClean="0"/>
              <a:t>sola (Sinergia </a:t>
            </a:r>
            <a:r>
              <a:rPr lang="es-MX" sz="2000" b="1" dirty="0"/>
              <a:t>por mecanismos de </a:t>
            </a:r>
            <a:r>
              <a:rPr lang="es-MX" sz="2000" b="1" dirty="0" smtClean="0"/>
              <a:t>acción distintos).  </a:t>
            </a:r>
            <a:r>
              <a:rPr lang="es-MX" sz="2000" b="1" dirty="0">
                <a:solidFill>
                  <a:srgbClr val="FF0000"/>
                </a:solidFill>
              </a:rPr>
              <a:t>Reduce incidencia de segundo </a:t>
            </a:r>
            <a:r>
              <a:rPr lang="es-MX" sz="2000" b="1" dirty="0" smtClean="0">
                <a:solidFill>
                  <a:srgbClr val="FF0000"/>
                </a:solidFill>
              </a:rPr>
              <a:t>IM</a:t>
            </a:r>
            <a:r>
              <a:rPr lang="es-MX" sz="2000" b="1" dirty="0">
                <a:solidFill>
                  <a:srgbClr val="FF0000"/>
                </a:solidFill>
              </a:rPr>
              <a:t>, ACV en pacientes con </a:t>
            </a:r>
            <a:r>
              <a:rPr lang="es-MX" sz="2000" b="1" dirty="0" smtClean="0">
                <a:solidFill>
                  <a:srgbClr val="FF0000"/>
                </a:solidFill>
              </a:rPr>
              <a:t>IM </a:t>
            </a:r>
            <a:r>
              <a:rPr lang="es-MX" sz="2000" b="1" dirty="0">
                <a:solidFill>
                  <a:srgbClr val="FF0000"/>
                </a:solidFill>
              </a:rPr>
              <a:t>reciente o EV </a:t>
            </a:r>
            <a:r>
              <a:rPr lang="es-MX" sz="2000" b="1" dirty="0"/>
              <a:t>Periférica.   Pacientes </a:t>
            </a:r>
            <a:r>
              <a:rPr lang="es-MX" sz="2000" b="1" dirty="0" err="1"/>
              <a:t>metabolizadores</a:t>
            </a:r>
            <a:r>
              <a:rPr lang="es-MX" sz="2000" b="1" dirty="0"/>
              <a:t> lentos (35 %) con poca protección.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>
                <a:solidFill>
                  <a:srgbClr val="FF0000"/>
                </a:solidFill>
              </a:rPr>
              <a:t>Efectos adversos: </a:t>
            </a:r>
            <a:r>
              <a:rPr lang="es-MX" sz="2000" b="1" dirty="0" err="1">
                <a:solidFill>
                  <a:srgbClr val="FF0000"/>
                </a:solidFill>
              </a:rPr>
              <a:t>sangramiento</a:t>
            </a:r>
            <a:r>
              <a:rPr lang="es-MX" sz="2000" b="1" dirty="0">
                <a:solidFill>
                  <a:srgbClr val="FF0000"/>
                </a:solidFill>
              </a:rPr>
              <a:t>  gástrico- 2 %, purpura, equimosis</a:t>
            </a:r>
            <a:r>
              <a:rPr lang="es-MX" sz="2000" b="1" dirty="0"/>
              <a:t>, hematoma, epistaxis, conjuntival, cerebral- 0,4% hasta casos fatales,  neutropenia, </a:t>
            </a:r>
            <a:r>
              <a:rPr lang="es-MX" sz="2000" b="1" dirty="0" err="1"/>
              <a:t>trombocitopenia</a:t>
            </a:r>
            <a:r>
              <a:rPr lang="es-MX" sz="2000" b="1" dirty="0"/>
              <a:t>, alergia.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/>
              <a:t>Inhibe algunas enzimas del </a:t>
            </a:r>
            <a:r>
              <a:rPr lang="es-MX" sz="2000" b="1" dirty="0" err="1"/>
              <a:t>citocromo</a:t>
            </a:r>
            <a:r>
              <a:rPr lang="es-MX" sz="2000" b="1" dirty="0"/>
              <a:t>  P450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000" b="1" dirty="0"/>
              <a:t>Diabéticos: menor formación del metabolito activo </a:t>
            </a:r>
            <a:endParaRPr lang="es-MX" sz="20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s-MX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DOSIS DE CARGA EN SCA: 600 mg (8 TAB DE 75 MG)</a:t>
            </a:r>
            <a:endParaRPr lang="es-MX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s-MX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s-MX" sz="2000" dirty="0"/>
          </a:p>
          <a:p>
            <a:pPr eaLnBrk="1" hangingPunct="1">
              <a:buFont typeface="Arial" charset="0"/>
              <a:buChar char="•"/>
              <a:defRPr/>
            </a:pPr>
            <a:endParaRPr lang="es-MX" sz="2000" dirty="0"/>
          </a:p>
          <a:p>
            <a:pPr eaLnBrk="1" hangingPunct="1">
              <a:buFont typeface="Arial" charset="0"/>
              <a:buChar char="•"/>
              <a:defRPr/>
            </a:pPr>
            <a:endParaRPr lang="es-VE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s-MX" altLang="es-VE" sz="2400" b="1" smtClean="0"/>
              <a:t>PRASUGREL</a:t>
            </a:r>
            <a:endParaRPr lang="es-VE" altLang="es-VE" sz="2400" b="1" smtClean="0"/>
          </a:p>
        </p:txBody>
      </p:sp>
      <p:sp>
        <p:nvSpPr>
          <p:cNvPr id="21507" name="2 Marcador de contenido">
            <a:extLst/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>
              <a:buFont typeface="Arial" charset="0"/>
              <a:buChar char="•"/>
              <a:defRPr/>
            </a:pPr>
            <a:endParaRPr lang="es-MX" sz="2400" dirty="0"/>
          </a:p>
          <a:p>
            <a:pPr>
              <a:buFont typeface="Arial" charset="0"/>
              <a:buChar char="•"/>
              <a:defRPr/>
            </a:pPr>
            <a:endParaRPr lang="es-MX" sz="2400" dirty="0"/>
          </a:p>
          <a:p>
            <a:pPr>
              <a:buFont typeface="Arial" charset="0"/>
              <a:buChar char="•"/>
              <a:defRPr/>
            </a:pPr>
            <a:r>
              <a:rPr lang="es-MX" sz="2800" b="1" dirty="0">
                <a:solidFill>
                  <a:srgbClr val="FF0000"/>
                </a:solidFill>
              </a:rPr>
              <a:t>PRASUGREL  no es </a:t>
            </a:r>
            <a:r>
              <a:rPr lang="es-MX" sz="2800" b="1" dirty="0" err="1">
                <a:solidFill>
                  <a:srgbClr val="FF0000"/>
                </a:solidFill>
              </a:rPr>
              <a:t>prodroga</a:t>
            </a:r>
            <a:r>
              <a:rPr lang="es-MX" sz="2800" b="1" dirty="0">
                <a:solidFill>
                  <a:srgbClr val="FF0000"/>
                </a:solidFill>
              </a:rPr>
              <a:t>, por lo tanto su comienzo de acción </a:t>
            </a:r>
            <a:r>
              <a:rPr lang="es-MX" sz="2800" b="1" dirty="0" smtClean="0">
                <a:solidFill>
                  <a:srgbClr val="FF0000"/>
                </a:solidFill>
              </a:rPr>
              <a:t>es más </a:t>
            </a:r>
            <a:r>
              <a:rPr lang="es-MX" sz="2800" b="1" dirty="0">
                <a:solidFill>
                  <a:srgbClr val="FF0000"/>
                </a:solidFill>
              </a:rPr>
              <a:t>rápido. Ventaja en casos de </a:t>
            </a:r>
            <a:r>
              <a:rPr lang="es-MX" sz="2800" b="1" dirty="0" smtClean="0">
                <a:solidFill>
                  <a:srgbClr val="FF0000"/>
                </a:solidFill>
              </a:rPr>
              <a:t>Síndrome </a:t>
            </a:r>
            <a:r>
              <a:rPr lang="es-MX" sz="2800" b="1" dirty="0">
                <a:solidFill>
                  <a:srgbClr val="FF0000"/>
                </a:solidFill>
              </a:rPr>
              <a:t>Coronario Agudo</a:t>
            </a:r>
          </a:p>
          <a:p>
            <a:pPr>
              <a:buFont typeface="Arial" charset="0"/>
              <a:buChar char="•"/>
              <a:defRPr/>
            </a:pPr>
            <a:endParaRPr lang="es-MX" sz="2800" b="1" dirty="0"/>
          </a:p>
          <a:p>
            <a:pPr>
              <a:buFont typeface="Arial" charset="0"/>
              <a:buChar char="•"/>
              <a:defRPr/>
            </a:pPr>
            <a:r>
              <a:rPr lang="es-MX" sz="2800" b="1" dirty="0" smtClean="0"/>
              <a:t>Dosis Mantenimiento 5-10 mg/día</a:t>
            </a:r>
            <a:endParaRPr lang="es-MX" sz="2800" b="1" dirty="0"/>
          </a:p>
          <a:p>
            <a:pPr>
              <a:buFont typeface="Arial" charset="0"/>
              <a:buChar char="•"/>
              <a:defRPr/>
            </a:pPr>
            <a:endParaRPr lang="es-V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1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r>
              <a:rPr lang="es-MX" altLang="es-VE" sz="2400" smtClean="0"/>
              <a:t/>
            </a:r>
            <a:br>
              <a:rPr lang="es-MX" altLang="es-VE" sz="2400" smtClean="0"/>
            </a:br>
            <a:r>
              <a:rPr lang="es-MX" altLang="es-VE" sz="2400" b="1" smtClean="0"/>
              <a:t>TICAGRELOR BLOQUEANTE RECEPTOR P2 Y12 PLAQUETARIO</a:t>
            </a:r>
            <a:br>
              <a:rPr lang="es-MX" altLang="es-VE" sz="2400" b="1" smtClean="0"/>
            </a:br>
            <a:r>
              <a:rPr lang="es-MX" altLang="es-VE" sz="2400" smtClean="0"/>
              <a:t/>
            </a:r>
            <a:br>
              <a:rPr lang="es-MX" altLang="es-VE" sz="2400" smtClean="0"/>
            </a:br>
            <a:endParaRPr lang="es-VE" altLang="es-VE" sz="2400" smtClean="0"/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s-MX" sz="2400" b="1" dirty="0" err="1">
                <a:solidFill>
                  <a:srgbClr val="FF0000"/>
                </a:solidFill>
              </a:rPr>
              <a:t>Ticagrelor</a:t>
            </a:r>
            <a:r>
              <a:rPr lang="es-MX" sz="2400" b="1" dirty="0">
                <a:solidFill>
                  <a:srgbClr val="FF0000"/>
                </a:solidFill>
              </a:rPr>
              <a:t> es antagonista del receptor P2Y12 </a:t>
            </a:r>
            <a:r>
              <a:rPr lang="es-MX" sz="2400" b="1" dirty="0" err="1">
                <a:solidFill>
                  <a:srgbClr val="FF0000"/>
                </a:solidFill>
              </a:rPr>
              <a:t>plaquetario</a:t>
            </a:r>
            <a:endParaRPr lang="es-MX" sz="2400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s-MX" sz="2400" b="1" dirty="0"/>
              <a:t>Acción </a:t>
            </a:r>
            <a:r>
              <a:rPr lang="es-MX" sz="2400" b="1" dirty="0" smtClean="0"/>
              <a:t>reversible, Administración oral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sz="2400" b="1" dirty="0"/>
          </a:p>
          <a:p>
            <a:pPr>
              <a:buFont typeface="Arial" charset="0"/>
              <a:buChar char="•"/>
              <a:defRPr/>
            </a:pPr>
            <a:r>
              <a:rPr lang="es-MX" sz="2400" b="1" dirty="0"/>
              <a:t>Inhibición de agregación </a:t>
            </a:r>
            <a:r>
              <a:rPr lang="es-MX" sz="2400" b="1" dirty="0" err="1"/>
              <a:t>plaquetaria</a:t>
            </a:r>
            <a:r>
              <a:rPr lang="es-MX" sz="2400" b="1" dirty="0"/>
              <a:t> de 90 %, en comparación a 60- 70 %  de </a:t>
            </a:r>
            <a:r>
              <a:rPr lang="es-MX" sz="2400" b="1" dirty="0" err="1"/>
              <a:t>clopidogrel</a:t>
            </a:r>
            <a:r>
              <a:rPr lang="es-MX" sz="2400" b="1" dirty="0"/>
              <a:t>.</a:t>
            </a:r>
          </a:p>
          <a:p>
            <a:pPr>
              <a:buFont typeface="Arial" charset="0"/>
              <a:buChar char="•"/>
              <a:defRPr/>
            </a:pPr>
            <a:r>
              <a:rPr lang="es-MX" sz="2400" b="1" dirty="0">
                <a:solidFill>
                  <a:srgbClr val="FF0000"/>
                </a:solidFill>
              </a:rPr>
              <a:t>Eficaz en el tratamiento del SCA.  Disminuye la mortalidad CV en el SCA y en ACV de tipo isquémico y en el accidente isquémico transitorio (AIT</a:t>
            </a:r>
            <a:r>
              <a:rPr lang="es-MX" sz="2400" b="1" dirty="0" smtClean="0">
                <a:solidFill>
                  <a:srgbClr val="FF0000"/>
                </a:solidFill>
              </a:rPr>
              <a:t>) o ICT</a:t>
            </a:r>
            <a:endParaRPr lang="es-MX" sz="2400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s-MX" sz="2400" b="1" dirty="0" smtClean="0"/>
              <a:t>Al </a:t>
            </a:r>
            <a:r>
              <a:rPr lang="es-MX" sz="2400" b="1" dirty="0"/>
              <a:t>iniciar </a:t>
            </a:r>
            <a:r>
              <a:rPr lang="es-MX" sz="2400" b="1" dirty="0" err="1" smtClean="0"/>
              <a:t>ticagrelor</a:t>
            </a:r>
            <a:r>
              <a:rPr lang="es-MX" sz="2400" b="1" dirty="0" smtClean="0"/>
              <a:t> (carga : 180 mg), suspender </a:t>
            </a:r>
            <a:r>
              <a:rPr lang="es-MX" sz="2400" b="1" dirty="0" err="1"/>
              <a:t>clopidogrel</a:t>
            </a:r>
            <a:r>
              <a:rPr lang="es-MX" sz="2400" b="1" dirty="0"/>
              <a:t>, </a:t>
            </a:r>
            <a:r>
              <a:rPr lang="es-MX" sz="2400" b="1" dirty="0" err="1" smtClean="0"/>
              <a:t>prasugrel</a:t>
            </a:r>
            <a:endParaRPr lang="es-VE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107112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b="1" dirty="0" smtClean="0"/>
              <a:t>Inhibidores de la </a:t>
            </a:r>
            <a:br>
              <a:rPr lang="es-VE" altLang="es-VE" b="1" dirty="0" smtClean="0"/>
            </a:br>
            <a:r>
              <a:rPr lang="es-VE" altLang="es-VE" b="1" dirty="0" smtClean="0"/>
              <a:t> GLICOPROTEINA </a:t>
            </a:r>
            <a:r>
              <a:rPr lang="es-VE" altLang="es-VE" b="1" dirty="0" err="1" smtClean="0"/>
              <a:t>IIb</a:t>
            </a:r>
            <a:r>
              <a:rPr lang="es-VE" altLang="es-VE" b="1" dirty="0" smtClean="0"/>
              <a:t>/</a:t>
            </a:r>
            <a:r>
              <a:rPr lang="es-VE" altLang="es-VE" b="1" dirty="0" err="1" smtClean="0"/>
              <a:t>IIIa</a:t>
            </a:r>
            <a:r>
              <a:rPr lang="es-VE" altLang="es-VE" b="1" dirty="0" smtClean="0"/>
              <a:t> PLAQUETARIA. </a:t>
            </a:r>
            <a:br>
              <a:rPr lang="es-VE" altLang="es-VE" b="1" dirty="0" smtClean="0"/>
            </a:br>
            <a:r>
              <a:rPr lang="es-VE" altLang="es-VE" sz="4000" b="1" i="1" dirty="0" smtClean="0"/>
              <a:t>El </a:t>
            </a:r>
            <a:br>
              <a:rPr lang="es-VE" altLang="es-VE" sz="4000" b="1" i="1" dirty="0" smtClean="0"/>
            </a:br>
            <a:r>
              <a:rPr lang="es-VE" altLang="es-VE" sz="4000" b="1" i="1" dirty="0" smtClean="0"/>
              <a:t>PUENTE DE UNIÓN </a:t>
            </a:r>
            <a:br>
              <a:rPr lang="es-VE" altLang="es-VE" sz="4000" b="1" i="1" dirty="0" smtClean="0"/>
            </a:br>
            <a:r>
              <a:rPr lang="es-VE" altLang="es-VE" sz="4000" b="1" i="1" dirty="0" smtClean="0"/>
              <a:t>plaqueta-</a:t>
            </a:r>
            <a:r>
              <a:rPr lang="es-VE" altLang="es-VE" sz="4000" b="1" i="1" dirty="0" err="1" smtClean="0"/>
              <a:t>fibrinogeno</a:t>
            </a:r>
            <a:r>
              <a:rPr lang="es-VE" altLang="es-VE" sz="4000" b="1" i="1" dirty="0" smtClean="0"/>
              <a:t>-plaqueta.</a:t>
            </a:r>
            <a:br>
              <a:rPr lang="es-VE" altLang="es-VE" sz="4000" b="1" i="1" dirty="0" smtClean="0"/>
            </a:br>
            <a:r>
              <a:rPr lang="es-VE" altLang="es-VE" sz="4000" b="1" i="1" dirty="0" smtClean="0"/>
              <a:t/>
            </a:r>
            <a:br>
              <a:rPr lang="es-VE" altLang="es-VE" sz="4000" b="1" i="1" dirty="0" smtClean="0"/>
            </a:br>
            <a:r>
              <a:rPr lang="es-VE" altLang="es-VE" sz="2000" b="1" i="1" dirty="0" smtClean="0"/>
              <a:t>USO I.V.</a:t>
            </a:r>
            <a:br>
              <a:rPr lang="es-VE" altLang="es-VE" sz="2000" b="1" i="1" dirty="0" smtClean="0"/>
            </a:br>
            <a:endParaRPr lang="es-ES_tradnl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3 Título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/>
          <a:lstStyle/>
          <a:p>
            <a:r>
              <a:rPr lang="es-VE" altLang="es-VE" sz="2000" b="1" smtClean="0"/>
              <a:t>LA GLICOPROTEINA IIb/IIIa PLAQUETARIA. PUENTE DE UNIÓN </a:t>
            </a:r>
            <a:br>
              <a:rPr lang="es-VE" altLang="es-VE" sz="2000" b="1" smtClean="0"/>
            </a:br>
            <a:r>
              <a:rPr lang="es-VE" altLang="es-VE" sz="2000" b="1" smtClean="0"/>
              <a:t>PLAQUETA-FIBRINOGENO-PLAQUETA.</a:t>
            </a:r>
            <a:br>
              <a:rPr lang="es-VE" altLang="es-VE" sz="2000" b="1" smtClean="0"/>
            </a:br>
            <a:r>
              <a:rPr lang="es-VE" altLang="es-VE" sz="2000" b="1" smtClean="0"/>
              <a:t>Bloqueantes: </a:t>
            </a:r>
            <a:r>
              <a:rPr lang="es-VE" altLang="es-VE" sz="2800" b="1" smtClean="0">
                <a:solidFill>
                  <a:srgbClr val="FF0000"/>
                </a:solidFill>
              </a:rPr>
              <a:t>tirofiban</a:t>
            </a:r>
            <a:r>
              <a:rPr lang="es-VE" altLang="es-VE" sz="2000" b="1" smtClean="0">
                <a:solidFill>
                  <a:srgbClr val="FF0000"/>
                </a:solidFill>
              </a:rPr>
              <a:t>, </a:t>
            </a:r>
            <a:r>
              <a:rPr lang="es-VE" altLang="es-VE" sz="2800" b="1" smtClean="0">
                <a:solidFill>
                  <a:srgbClr val="FF0000"/>
                </a:solidFill>
              </a:rPr>
              <a:t>abciximab</a:t>
            </a:r>
            <a:r>
              <a:rPr lang="es-VE" altLang="es-VE" sz="2800" b="1" smtClean="0"/>
              <a:t>, ebtifabitida </a:t>
            </a:r>
          </a:p>
        </p:txBody>
      </p:sp>
      <p:pic>
        <p:nvPicPr>
          <p:cNvPr id="49155" name="Marcador de conteni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1709738"/>
            <a:ext cx="4419600" cy="43053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1 Título"/>
          <p:cNvSpPr>
            <a:spLocks noGrp="1"/>
          </p:cNvSpPr>
          <p:nvPr>
            <p:ph type="title"/>
          </p:nvPr>
        </p:nvSpPr>
        <p:spPr>
          <a:xfrm>
            <a:off x="539750" y="333375"/>
            <a:ext cx="8229600" cy="790575"/>
          </a:xfrm>
          <a:solidFill>
            <a:srgbClr val="92D050"/>
          </a:solidFill>
        </p:spPr>
        <p:txBody>
          <a:bodyPr/>
          <a:lstStyle/>
          <a:p>
            <a:pPr eaLnBrk="1" hangingPunct="1"/>
            <a:r>
              <a:rPr lang="es-MX" altLang="es-VE" sz="2400" b="1" smtClean="0"/>
              <a:t>INHIBIDORES DE LA GLICOPROTEINA IIb/IIIa</a:t>
            </a:r>
            <a:br>
              <a:rPr lang="es-MX" altLang="es-VE" sz="2400" b="1" smtClean="0"/>
            </a:br>
            <a:r>
              <a:rPr lang="es-VE" altLang="es-VE" sz="2400" b="1" smtClean="0"/>
              <a:t>tirofiban, abciximab, ebtifabitida</a:t>
            </a:r>
          </a:p>
        </p:txBody>
      </p:sp>
      <p:sp>
        <p:nvSpPr>
          <p:cNvPr id="17411" name="2 Marcador de contenido">
            <a:extLst/>
          </p:cNvPr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478472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sz="2000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sz="2000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/>
              <a:t>La glicoproteína </a:t>
            </a:r>
            <a:r>
              <a:rPr lang="es-MX" sz="2800" b="1" dirty="0" err="1"/>
              <a:t>IIb</a:t>
            </a:r>
            <a:r>
              <a:rPr lang="es-MX" sz="2800" b="1" dirty="0"/>
              <a:t>/</a:t>
            </a:r>
            <a:r>
              <a:rPr lang="es-MX" sz="2800" b="1" dirty="0" err="1"/>
              <a:t>IIIa</a:t>
            </a:r>
            <a:r>
              <a:rPr lang="es-MX" sz="2800" b="1" dirty="0"/>
              <a:t> es </a:t>
            </a:r>
            <a:r>
              <a:rPr lang="es-MX" sz="2800" b="1" dirty="0" smtClean="0"/>
              <a:t>una integrina </a:t>
            </a:r>
            <a:r>
              <a:rPr lang="es-MX" sz="2800" b="1" dirty="0"/>
              <a:t>de membrana plaquetaria, </a:t>
            </a:r>
            <a:r>
              <a:rPr lang="es-MX" sz="2800" b="1" dirty="0" smtClean="0"/>
              <a:t>receptor </a:t>
            </a:r>
            <a:r>
              <a:rPr lang="es-MX" sz="2800" b="1" dirty="0"/>
              <a:t>del fibrinógeno y del factor de von </a:t>
            </a:r>
            <a:r>
              <a:rPr lang="es-MX" sz="2800" b="1" dirty="0" err="1" smtClean="0"/>
              <a:t>Willebrand</a:t>
            </a:r>
            <a:r>
              <a:rPr lang="es-MX" sz="2800" b="1" dirty="0" smtClean="0"/>
              <a:t>.  </a:t>
            </a:r>
            <a:r>
              <a:rPr lang="es-MX" sz="2800" b="1" dirty="0"/>
              <a:t>Une plaquetas entre si y a otras superficies.  Es activado por trombina, colágeno y TXA2. </a:t>
            </a:r>
            <a:endParaRPr lang="es-MX" sz="2800" b="1" dirty="0" smtClean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sz="2800" b="1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/>
              <a:t>Está </a:t>
            </a:r>
            <a:r>
              <a:rPr lang="es-MX" sz="2800" b="1" dirty="0" smtClean="0"/>
              <a:t>desactivada </a:t>
            </a:r>
            <a:r>
              <a:rPr lang="es-MX" sz="2800" b="1" dirty="0"/>
              <a:t>en plaquetas en </a:t>
            </a:r>
            <a:r>
              <a:rPr lang="es-MX" sz="2800" b="1" dirty="0" smtClean="0"/>
              <a:t>reposo</a:t>
            </a:r>
            <a:endParaRPr lang="es-MX" sz="2800" b="1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800" b="1" dirty="0" smtClean="0"/>
              <a:t>                                               </a:t>
            </a:r>
            <a:endParaRPr lang="es-VE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sz="2800" b="1" dirty="0"/>
              <a:t>INHIBIDORES DE LA GLICOPROTEINA </a:t>
            </a:r>
            <a:r>
              <a:rPr lang="es-MX" altLang="es-VE" sz="2800" b="1" dirty="0" err="1"/>
              <a:t>IIb</a:t>
            </a:r>
            <a:r>
              <a:rPr lang="es-MX" altLang="es-VE" sz="2800" b="1" dirty="0"/>
              <a:t>/</a:t>
            </a:r>
            <a:r>
              <a:rPr lang="es-MX" altLang="es-VE" sz="2800" b="1" dirty="0" err="1"/>
              <a:t>IIIa</a:t>
            </a:r>
            <a:r>
              <a:rPr lang="es-MX" sz="2800" b="1" dirty="0" smtClean="0"/>
              <a:t/>
            </a:r>
            <a:br>
              <a:rPr lang="es-MX" sz="2800" b="1" dirty="0" smtClean="0"/>
            </a:br>
            <a:r>
              <a:rPr lang="es-MX" sz="2800" b="1" dirty="0" smtClean="0"/>
              <a:t>ABCIXIMAB</a:t>
            </a:r>
            <a:br>
              <a:rPr lang="es-MX" sz="2800" b="1" dirty="0" smtClean="0"/>
            </a:br>
            <a:endParaRPr lang="es-ES_tradnl" sz="28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 smtClean="0">
                <a:solidFill>
                  <a:srgbClr val="FF0000"/>
                </a:solidFill>
              </a:rPr>
              <a:t>Fragmento </a:t>
            </a:r>
            <a:r>
              <a:rPr lang="es-MX" sz="2800" b="1" dirty="0">
                <a:solidFill>
                  <a:srgbClr val="FF0000"/>
                </a:solidFill>
              </a:rPr>
              <a:t>de anticuerpo monoclonal que se une al receptor </a:t>
            </a:r>
            <a:r>
              <a:rPr lang="es-MX" sz="2800" b="1" dirty="0" err="1">
                <a:solidFill>
                  <a:srgbClr val="FF0000"/>
                </a:solidFill>
              </a:rPr>
              <a:t>IIb</a:t>
            </a:r>
            <a:r>
              <a:rPr lang="es-MX" sz="2800" b="1" dirty="0">
                <a:solidFill>
                  <a:srgbClr val="FF0000"/>
                </a:solidFill>
              </a:rPr>
              <a:t>/</a:t>
            </a:r>
            <a:r>
              <a:rPr lang="es-MX" sz="2800" b="1" dirty="0" err="1">
                <a:solidFill>
                  <a:srgbClr val="FF0000"/>
                </a:solidFill>
              </a:rPr>
              <a:t>IIIa</a:t>
            </a:r>
            <a:r>
              <a:rPr lang="es-MX" sz="2800" b="1" dirty="0">
                <a:solidFill>
                  <a:srgbClr val="FF0000"/>
                </a:solidFill>
              </a:rPr>
              <a:t> y a la </a:t>
            </a:r>
            <a:r>
              <a:rPr lang="es-MX" sz="2800" b="1" dirty="0" err="1">
                <a:solidFill>
                  <a:srgbClr val="FF0000"/>
                </a:solidFill>
              </a:rPr>
              <a:t>vitronectina</a:t>
            </a:r>
            <a:r>
              <a:rPr lang="es-MX" sz="2800" b="1" dirty="0">
                <a:solidFill>
                  <a:srgbClr val="FF0000"/>
                </a:solidFill>
              </a:rPr>
              <a:t> de  plaquetas, endotelio y músculo liso.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/>
              <a:t>Uso: angioplastia + </a:t>
            </a:r>
            <a:r>
              <a:rPr lang="es-MX" sz="2800" b="1" dirty="0" err="1"/>
              <a:t>stent</a:t>
            </a:r>
            <a:r>
              <a:rPr lang="es-MX" sz="2800" b="1" dirty="0"/>
              <a:t>.  Combinado con heparina y aspirina reduce en 50 % la </a:t>
            </a:r>
            <a:r>
              <a:rPr lang="es-MX" sz="2800" b="1" dirty="0" err="1"/>
              <a:t>reestenosis</a:t>
            </a:r>
            <a:r>
              <a:rPr lang="es-MX" sz="2800" b="1" dirty="0"/>
              <a:t>.  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/>
              <a:t>Administración. </a:t>
            </a:r>
            <a:r>
              <a:rPr lang="es-MX" sz="2800" b="1" dirty="0" err="1"/>
              <a:t>i.v</a:t>
            </a:r>
            <a:r>
              <a:rPr lang="es-MX" sz="2800" b="1" dirty="0"/>
              <a:t>. 0,25 mg/Kg. Efecto de 24 horas. 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/>
              <a:t>Efectos adversos. Sangramiento (1- 10 %), trombocitopenia.  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800" b="1" dirty="0">
                <a:solidFill>
                  <a:srgbClr val="FF0000"/>
                </a:solidFill>
              </a:rPr>
              <a:t>Costoso</a:t>
            </a:r>
            <a:endParaRPr lang="es-VE" sz="28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ES_trad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54050"/>
          </a:xfrm>
          <a:solidFill>
            <a:srgbClr val="00B050"/>
          </a:solidFill>
        </p:spPr>
        <p:txBody>
          <a:bodyPr/>
          <a:lstStyle/>
          <a:p>
            <a:pPr eaLnBrk="1" hangingPunct="1"/>
            <a:r>
              <a:rPr lang="es-MX" altLang="es-VE" sz="2400" b="1" smtClean="0"/>
              <a:t>INHIBIDORES DE LA GLICOPROTEINA (Receptor) IIb/IIIa</a:t>
            </a:r>
            <a:endParaRPr lang="es-VE" altLang="es-VE" sz="2400" b="1" smtClean="0"/>
          </a:p>
        </p:txBody>
      </p:sp>
      <p:sp>
        <p:nvSpPr>
          <p:cNvPr id="18435" name="2 Marcador de contenido">
            <a:extLst/>
          </p:cNvPr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197475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endParaRPr lang="es-MX" sz="2000" b="1" dirty="0"/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s-MX" sz="2000" b="1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EPTIFABITIDE  </a:t>
            </a:r>
            <a:r>
              <a:rPr lang="es-MX" sz="2400" dirty="0"/>
              <a:t>(</a:t>
            </a:r>
            <a:r>
              <a:rPr lang="es-MX" sz="2400" dirty="0" err="1"/>
              <a:t>Integrilina</a:t>
            </a:r>
            <a:r>
              <a:rPr lang="es-MX" sz="2400" dirty="0"/>
              <a:t>)</a:t>
            </a:r>
            <a:endParaRPr lang="es-MX" sz="2400" b="1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Péptido. Inhibe unión del fibrinógeno al receptor  </a:t>
            </a:r>
            <a:r>
              <a:rPr lang="es-MX" sz="2400" b="1" dirty="0" err="1"/>
              <a:t>IIb</a:t>
            </a:r>
            <a:r>
              <a:rPr lang="es-MX" sz="2400" b="1" dirty="0"/>
              <a:t>/</a:t>
            </a:r>
            <a:r>
              <a:rPr lang="es-MX" sz="2400" b="1" dirty="0" err="1"/>
              <a:t>IIIa</a:t>
            </a:r>
            <a:r>
              <a:rPr lang="es-MX" sz="2400" b="1" dirty="0"/>
              <a:t>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Administración. </a:t>
            </a:r>
            <a:r>
              <a:rPr lang="es-MX" sz="2400" b="1" dirty="0" err="1"/>
              <a:t>i.v.</a:t>
            </a:r>
            <a:r>
              <a:rPr lang="es-MX" sz="2400" b="1" dirty="0"/>
              <a:t>   180 microgramos/Kg, luego </a:t>
            </a:r>
            <a:r>
              <a:rPr lang="es-MX" sz="2400" b="1" dirty="0" smtClean="0"/>
              <a:t>2ug /min</a:t>
            </a:r>
            <a:r>
              <a:rPr lang="es-MX" sz="2400" b="1" dirty="0"/>
              <a:t>, por 4 días.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Indicación. Angioplastia coronaria con prótesis EV  y </a:t>
            </a:r>
            <a:r>
              <a:rPr lang="es-MX" sz="2400" b="1" dirty="0" smtClean="0"/>
              <a:t>síndrome </a:t>
            </a:r>
            <a:r>
              <a:rPr lang="es-MX" sz="2400" b="1" dirty="0"/>
              <a:t>coronario agudo (angina inestable, IAM).  </a:t>
            </a:r>
            <a:r>
              <a:rPr lang="es-MX" sz="2400" b="1" dirty="0" err="1"/>
              <a:t>Coadministrado</a:t>
            </a:r>
            <a:r>
              <a:rPr lang="es-MX" sz="2400" b="1" dirty="0"/>
              <a:t> con heparina y aspirina.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Efectos adversos.  Sangramiento 10 % </a:t>
            </a:r>
            <a:r>
              <a:rPr lang="es-MX" sz="2400" b="1" dirty="0" smtClean="0"/>
              <a:t>versus </a:t>
            </a:r>
            <a:r>
              <a:rPr lang="es-MX" sz="2400" b="1" dirty="0"/>
              <a:t>placebo 9 %. </a:t>
            </a:r>
            <a:r>
              <a:rPr lang="es-MX" sz="2400" b="1" dirty="0" err="1"/>
              <a:t>Trombocitopenia</a:t>
            </a:r>
            <a:r>
              <a:rPr lang="es-MX" sz="2400" b="1" dirty="0"/>
              <a:t> 0,5- 1,0 %.</a:t>
            </a:r>
          </a:p>
          <a:p>
            <a:pPr eaLnBrk="1" hangingPunct="1">
              <a:buFont typeface="Arial" charset="0"/>
              <a:buChar char="•"/>
              <a:defRPr/>
            </a:pPr>
            <a:endParaRPr lang="es-MX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1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eaLnBrk="1" hangingPunct="1"/>
            <a:r>
              <a:rPr lang="es-MX" altLang="es-VE" sz="2400" b="1" smtClean="0"/>
              <a:t/>
            </a:r>
            <a:br>
              <a:rPr lang="es-MX" altLang="es-VE" sz="2400" b="1" smtClean="0"/>
            </a:br>
            <a:r>
              <a:rPr lang="es-MX" altLang="es-VE" sz="2400" b="1" smtClean="0"/>
              <a:t/>
            </a:r>
            <a:br>
              <a:rPr lang="es-MX" altLang="es-VE" sz="2400" b="1" smtClean="0"/>
            </a:br>
            <a:r>
              <a:rPr lang="es-MX" altLang="es-VE" sz="2400" b="1" smtClean="0"/>
              <a:t>INHIBIDORES DE LA GLICOPROTEINA (Receptor) IIb/IIIa</a:t>
            </a:r>
            <a:br>
              <a:rPr lang="es-MX" altLang="es-VE" sz="2400" b="1" smtClean="0"/>
            </a:br>
            <a:r>
              <a:rPr lang="es-MX" altLang="es-VE" sz="2400" b="1" smtClean="0"/>
              <a:t>TIROFIBAN </a:t>
            </a:r>
            <a:r>
              <a:rPr lang="es-MX" altLang="es-VE" sz="2400" smtClean="0"/>
              <a:t>(Agrastat)</a:t>
            </a:r>
            <a:br>
              <a:rPr lang="es-MX" altLang="es-VE" sz="2400" smtClean="0"/>
            </a:br>
            <a:r>
              <a:rPr lang="es-VE" altLang="es-VE" sz="2400" smtClean="0"/>
              <a:t/>
            </a:r>
            <a:br>
              <a:rPr lang="es-VE" altLang="es-VE" sz="2400" smtClean="0"/>
            </a:br>
            <a:endParaRPr lang="es-VE" altLang="es-VE" sz="2400" smtClean="0"/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endParaRPr lang="es-MX" sz="2400" b="1" dirty="0"/>
          </a:p>
          <a:p>
            <a:pPr eaLnBrk="1" hangingPunct="1">
              <a:buFont typeface="Arial" charset="0"/>
              <a:buChar char="•"/>
              <a:defRPr/>
            </a:pPr>
            <a:endParaRPr lang="es-MX" sz="2400" b="1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TIROFIBAN </a:t>
            </a:r>
            <a:r>
              <a:rPr lang="es-MX" sz="2400" dirty="0"/>
              <a:t>(</a:t>
            </a:r>
            <a:r>
              <a:rPr lang="es-MX" sz="2400" dirty="0" err="1"/>
              <a:t>Agrastat</a:t>
            </a:r>
            <a:r>
              <a:rPr lang="es-MX" sz="2400" dirty="0"/>
              <a:t>)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Molécula no </a:t>
            </a:r>
            <a:r>
              <a:rPr lang="es-MX" sz="2400" b="1" dirty="0" err="1"/>
              <a:t>peptídica</a:t>
            </a:r>
            <a:r>
              <a:rPr lang="es-MX" sz="2400" b="1" dirty="0"/>
              <a:t> 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Indicación. </a:t>
            </a:r>
            <a:r>
              <a:rPr lang="es-MX" sz="2400" b="1" dirty="0" smtClean="0"/>
              <a:t>IM</a:t>
            </a:r>
            <a:r>
              <a:rPr lang="es-MX" sz="2400" b="1" dirty="0"/>
              <a:t>, angina inestable, angioplastia.</a:t>
            </a:r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Administración.  </a:t>
            </a:r>
            <a:r>
              <a:rPr lang="es-MX" sz="2400" b="1" dirty="0" err="1"/>
              <a:t>i.v.</a:t>
            </a:r>
            <a:r>
              <a:rPr lang="es-MX" sz="2400" b="1" dirty="0"/>
              <a:t> 0,4 microgramos/kg/min/30 </a:t>
            </a:r>
            <a:r>
              <a:rPr lang="es-MX" sz="2400" b="1" dirty="0" smtClean="0"/>
              <a:t>min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s-MX" sz="2400" b="1" dirty="0" smtClean="0"/>
              <a:t> </a:t>
            </a:r>
            <a:endParaRPr lang="es-MX" sz="2400" b="1" dirty="0"/>
          </a:p>
          <a:p>
            <a:pPr eaLnBrk="1" hangingPunct="1">
              <a:buFont typeface="Arial" charset="0"/>
              <a:buChar char="•"/>
              <a:defRPr/>
            </a:pPr>
            <a:r>
              <a:rPr lang="es-MX" sz="2400" b="1" dirty="0"/>
              <a:t>Uso conjunto con heparina</a:t>
            </a:r>
            <a:endParaRPr lang="es-VE" sz="2400" b="1" dirty="0"/>
          </a:p>
          <a:p>
            <a:pPr>
              <a:buFont typeface="Arial" charset="0"/>
              <a:buChar char="•"/>
              <a:defRPr/>
            </a:pPr>
            <a:endParaRPr lang="es-VE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18187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sz="2800" b="1" dirty="0" smtClean="0"/>
              <a:t>ANTAGONISTAS DE LA VITAMINA K</a:t>
            </a:r>
            <a:br>
              <a:rPr lang="es-MX" altLang="es-VE" sz="2800" b="1" dirty="0" smtClean="0"/>
            </a:br>
            <a:r>
              <a:rPr lang="es-MX" altLang="es-VE" sz="2800" b="1" dirty="0"/>
              <a:t/>
            </a:r>
            <a:br>
              <a:rPr lang="es-MX" altLang="es-VE" sz="2800" b="1" dirty="0"/>
            </a:br>
            <a:r>
              <a:rPr lang="es-MX" altLang="es-VE" sz="2800" b="1" dirty="0" smtClean="0"/>
              <a:t>Uso clínico en descenso</a:t>
            </a:r>
            <a:br>
              <a:rPr lang="es-MX" altLang="es-VE" sz="2800" b="1" dirty="0" smtClean="0"/>
            </a:br>
            <a:endParaRPr lang="es-VE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MX" sz="2400" dirty="0" err="1" smtClean="0"/>
              <a:t>Warfarina</a:t>
            </a:r>
            <a:r>
              <a:rPr lang="es-MX" sz="2400" dirty="0" smtClean="0"/>
              <a:t/>
            </a:r>
            <a:br>
              <a:rPr lang="es-MX" sz="2400" dirty="0" smtClean="0"/>
            </a:br>
            <a:r>
              <a:rPr lang="es-MX" sz="2400" dirty="0" smtClean="0"/>
              <a:t>MECANÍSMO </a:t>
            </a:r>
            <a:r>
              <a:rPr lang="es-MX" sz="2400" dirty="0"/>
              <a:t>DE </a:t>
            </a:r>
            <a:r>
              <a:rPr lang="es-MX" sz="2400" dirty="0" smtClean="0"/>
              <a:t>ACCIÓN</a:t>
            </a:r>
            <a:br>
              <a:rPr lang="es-MX" sz="2400" dirty="0" smtClean="0"/>
            </a:br>
            <a:endParaRPr lang="es-VE" sz="2400" dirty="0"/>
          </a:p>
        </p:txBody>
      </p:sp>
      <p:sp>
        <p:nvSpPr>
          <p:cNvPr id="55299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s-MX" altLang="es-VE" sz="2000" b="1" smtClean="0"/>
          </a:p>
          <a:p>
            <a:pPr>
              <a:buFont typeface="Arial" panose="020B0604020202020204" pitchFamily="34" charset="0"/>
              <a:buNone/>
            </a:pPr>
            <a:r>
              <a:rPr lang="es-MX" altLang="es-VE" sz="2000" b="1" smtClean="0"/>
              <a:t>La warfarina es antagonista de la vitamina K en hígado</a:t>
            </a:r>
          </a:p>
          <a:p>
            <a:pPr>
              <a:buFont typeface="Arial" panose="020B0604020202020204" pitchFamily="34" charset="0"/>
              <a:buNone/>
            </a:pPr>
            <a:endParaRPr lang="es-MX" altLang="es-VE" sz="2000" b="1" smtClean="0"/>
          </a:p>
          <a:p>
            <a:pPr>
              <a:buFont typeface="Arial" panose="020B0604020202020204" pitchFamily="34" charset="0"/>
              <a:buNone/>
            </a:pPr>
            <a:r>
              <a:rPr lang="es-MX" altLang="es-VE" sz="2000" b="1" smtClean="0"/>
              <a:t>El hígado sintetiza factores de coagulación II, VII,  IX y  X utilizando como cofactor la vitamina K</a:t>
            </a:r>
            <a:r>
              <a:rPr lang="es-MX" altLang="es-VE" sz="2000" smtClean="0"/>
              <a:t>.</a:t>
            </a:r>
          </a:p>
          <a:p>
            <a:pPr>
              <a:buFont typeface="Arial" panose="020B0604020202020204" pitchFamily="34" charset="0"/>
              <a:buNone/>
            </a:pPr>
            <a:r>
              <a:rPr lang="es-MX" altLang="es-VE" sz="2000" b="1" smtClean="0">
                <a:solidFill>
                  <a:srgbClr val="C00000"/>
                </a:solidFill>
              </a:rPr>
              <a:t>Desventaja. Tiempo de acción: 5 días </a:t>
            </a:r>
          </a:p>
          <a:p>
            <a:pPr>
              <a:buFont typeface="Arial" panose="020B0604020202020204" pitchFamily="34" charset="0"/>
              <a:buNone/>
            </a:pPr>
            <a:r>
              <a:rPr lang="es-MX" altLang="es-VE" sz="2000" b="1" smtClean="0"/>
              <a:t>Warfarina: el efecto anticoagulante  ocurre al  suprimir 30- 40 % de la síntesis de factores.  Si es bloqueada totalmente,  aparece el efecto tóxico hemorrágico.</a:t>
            </a:r>
          </a:p>
          <a:p>
            <a:pPr>
              <a:buFont typeface="Arial" panose="020B0604020202020204" pitchFamily="34" charset="0"/>
              <a:buNone/>
            </a:pPr>
            <a:endParaRPr lang="es-MX" altLang="es-VE" sz="2000" b="1" smtClean="0"/>
          </a:p>
          <a:p>
            <a:pPr>
              <a:buFont typeface="Arial" panose="020B0604020202020204" pitchFamily="34" charset="0"/>
              <a:buNone/>
            </a:pPr>
            <a:r>
              <a:rPr lang="es-MX" altLang="es-VE" sz="2000" b="1" smtClean="0"/>
              <a:t>El antídoto ante la intoxicación por warfarina es la administración de la vitamina K que revierte el efecto</a:t>
            </a:r>
            <a:r>
              <a:rPr lang="es-MX" altLang="es-VE" sz="2000" smtClean="0"/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es-MX" altLang="es-VE" sz="2000" smtClean="0"/>
          </a:p>
          <a:p>
            <a:pPr>
              <a:buFont typeface="Arial" panose="020B0604020202020204" pitchFamily="34" charset="0"/>
              <a:buNone/>
            </a:pPr>
            <a:r>
              <a:rPr lang="es-MX" altLang="es-VE" sz="2000" smtClean="0"/>
              <a:t> </a:t>
            </a:r>
            <a:endParaRPr lang="es-VE" altLang="es-VE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MX" sz="2400" dirty="0"/>
              <a:t>VIDA MEDIA DE LOS FACTORES DE COAGULACIÓN</a:t>
            </a:r>
            <a:br>
              <a:rPr lang="es-MX" sz="2400" dirty="0"/>
            </a:br>
            <a:r>
              <a:rPr lang="es-MX" sz="2400" dirty="0"/>
              <a:t>LA </a:t>
            </a:r>
            <a:r>
              <a:rPr lang="es-MX" sz="2400" dirty="0" smtClean="0"/>
              <a:t>WARFARINA</a:t>
            </a:r>
            <a:br>
              <a:rPr lang="es-MX" sz="2400" dirty="0" smtClean="0"/>
            </a:br>
            <a:endParaRPr lang="es-VE" sz="2400" dirty="0"/>
          </a:p>
        </p:txBody>
      </p:sp>
      <p:sp>
        <p:nvSpPr>
          <p:cNvPr id="5632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2000" b="1" dirty="0" smtClean="0"/>
          </a:p>
          <a:p>
            <a:pPr>
              <a:defRPr/>
            </a:pPr>
            <a:r>
              <a:rPr lang="es-MX" altLang="es-VE" sz="2400" b="1" dirty="0" smtClean="0"/>
              <a:t>El efecto se puede controlar mediante la medición del tiempo de</a:t>
            </a:r>
            <a:r>
              <a:rPr lang="es-MX" altLang="es-VE" sz="2400" dirty="0" smtClean="0"/>
              <a:t> </a:t>
            </a:r>
            <a:r>
              <a:rPr lang="es-MX" altLang="es-VE" sz="2400" b="1" dirty="0" smtClean="0"/>
              <a:t>protrombina</a:t>
            </a:r>
          </a:p>
          <a:p>
            <a:pPr>
              <a:defRPr/>
            </a:pPr>
            <a:endParaRPr lang="es-MX" altLang="es-VE" sz="2400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2400" b="1" dirty="0" smtClean="0"/>
          </a:p>
          <a:p>
            <a:pPr>
              <a:defRPr/>
            </a:pPr>
            <a:r>
              <a:rPr lang="es-MX" altLang="es-VE" sz="2400" b="1" dirty="0" smtClean="0"/>
              <a:t>Rango de dosis: 2- 5 mg/día.  </a:t>
            </a:r>
            <a:r>
              <a:rPr lang="es-MX" altLang="es-VE" sz="2400" b="1" dirty="0" smtClean="0">
                <a:solidFill>
                  <a:srgbClr val="C00000"/>
                </a:solidFill>
              </a:rPr>
              <a:t>Dosis de mantenimiento varía ampliamente de paciente a paciente (1- 10 mg/día), de acuerdo con el</a:t>
            </a:r>
            <a:r>
              <a:rPr lang="es-MX" altLang="es-VE" sz="2400" dirty="0" smtClean="0">
                <a:solidFill>
                  <a:srgbClr val="C00000"/>
                </a:solidFill>
              </a:rPr>
              <a:t> </a:t>
            </a:r>
            <a:r>
              <a:rPr lang="es-MX" altLang="es-VE" sz="2400" b="1" dirty="0" smtClean="0">
                <a:solidFill>
                  <a:srgbClr val="C00000"/>
                </a:solidFill>
              </a:rPr>
              <a:t>INR (</a:t>
            </a:r>
            <a:r>
              <a:rPr lang="es-MX" altLang="es-VE" sz="2400" b="1" i="1" dirty="0" smtClean="0">
                <a:solidFill>
                  <a:srgbClr val="C00000"/>
                </a:solidFill>
              </a:rPr>
              <a:t>International </a:t>
            </a:r>
            <a:r>
              <a:rPr lang="es-MX" altLang="es-VE" sz="2400" b="1" i="1" dirty="0" err="1" smtClean="0">
                <a:solidFill>
                  <a:srgbClr val="C00000"/>
                </a:solidFill>
              </a:rPr>
              <a:t>normalized</a:t>
            </a:r>
            <a:r>
              <a:rPr lang="es-MX" altLang="es-VE" sz="2400" b="1" i="1" dirty="0" smtClean="0">
                <a:solidFill>
                  <a:srgbClr val="C00000"/>
                </a:solidFill>
              </a:rPr>
              <a:t> ratio</a:t>
            </a:r>
            <a:r>
              <a:rPr lang="es-MX" altLang="es-VE" sz="2400" b="1" dirty="0" smtClean="0">
                <a:solidFill>
                  <a:srgbClr val="C00000"/>
                </a:solidFill>
              </a:rPr>
              <a:t>)  2,5 </a:t>
            </a:r>
            <a:endParaRPr lang="es-VE" altLang="es-VE" sz="2400" b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MX" sz="2400" dirty="0"/>
              <a:t>WARFARINA.  </a:t>
            </a:r>
            <a:r>
              <a:rPr lang="es-MX" sz="2400" dirty="0" smtClean="0"/>
              <a:t>FARMACOCINÉTICA</a:t>
            </a:r>
            <a:br>
              <a:rPr lang="es-MX" sz="2400" dirty="0" smtClean="0"/>
            </a:br>
            <a:endParaRPr lang="es-VE" sz="2400" dirty="0"/>
          </a:p>
        </p:txBody>
      </p:sp>
      <p:sp>
        <p:nvSpPr>
          <p:cNvPr id="62467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Excelente absorción oral</a:t>
            </a:r>
          </a:p>
          <a:p>
            <a:pPr>
              <a:defRPr/>
            </a:pPr>
            <a:endParaRPr lang="es-MX" altLang="es-VE" sz="2000" b="1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t ½  = 40 horas  (rango 2-5 días)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Metabolismo hepático CYP2C9. Gran variación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2000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Implica individualización de la dosis de mantenimiento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altLang="es-VE" sz="20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INR: mantener en rango 2,5 veces tiempo protrombina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INR &gt; de 4 riesgo inminente de hemorragia, reducir la dosis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/>
              <a:t>INR &lt; de 1,5: ausencia de eficacia anticoagulante y riesgo de </a:t>
            </a:r>
            <a:r>
              <a:rPr lang="es-MX" altLang="es-VE" sz="2000" b="1" dirty="0" err="1" smtClean="0"/>
              <a:t>trombogénesis</a:t>
            </a:r>
            <a:r>
              <a:rPr lang="es-MX" altLang="es-VE" sz="2000" dirty="0" smtClean="0"/>
              <a:t>  </a:t>
            </a:r>
            <a:endParaRPr lang="es-VE" altLang="es-VE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/>
          </p:cNvPr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MX" sz="2400" dirty="0"/>
              <a:t>INTERACCIONES DE LA </a:t>
            </a:r>
            <a:r>
              <a:rPr lang="es-MX" sz="2400" dirty="0" smtClean="0"/>
              <a:t>WARFARINA</a:t>
            </a:r>
            <a:br>
              <a:rPr lang="es-MX" sz="2400" dirty="0" smtClean="0"/>
            </a:br>
            <a:endParaRPr lang="es-VE" sz="2400" dirty="0"/>
          </a:p>
        </p:txBody>
      </p:sp>
      <p:sp>
        <p:nvSpPr>
          <p:cNvPr id="58371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s-MX" altLang="es-VE" sz="2000" b="1" smtClean="0"/>
          </a:p>
          <a:p>
            <a:pPr>
              <a:buFont typeface="Arial" panose="020B0604020202020204" pitchFamily="34" charset="0"/>
              <a:buNone/>
            </a:pPr>
            <a:r>
              <a:rPr lang="es-MX" altLang="es-VE" sz="2400" b="1" smtClean="0">
                <a:solidFill>
                  <a:srgbClr val="C00000"/>
                </a:solidFill>
              </a:rPr>
              <a:t>Hemorragia potencial</a:t>
            </a:r>
          </a:p>
          <a:p>
            <a:pPr>
              <a:buFont typeface="Arial" panose="020B0604020202020204" pitchFamily="34" charset="0"/>
              <a:buNone/>
            </a:pPr>
            <a:r>
              <a:rPr lang="es-MX" altLang="es-VE" sz="2400" b="1" smtClean="0"/>
              <a:t>Amiodarona, antimicóticos azoles, cimetidina, clopidogrel, cotrimoxazol, dislfiram, fluoxetina, isoniazida, metronidazol, sulfinpirazona, zafirlukast </a:t>
            </a:r>
          </a:p>
          <a:p>
            <a:pPr>
              <a:buFont typeface="Arial" panose="020B0604020202020204" pitchFamily="34" charset="0"/>
              <a:buNone/>
            </a:pPr>
            <a:r>
              <a:rPr lang="es-MX" altLang="es-VE" sz="2400" b="1" smtClean="0">
                <a:solidFill>
                  <a:srgbClr val="C00000"/>
                </a:solidFill>
              </a:rPr>
              <a:t>Reducción de efecto</a:t>
            </a:r>
            <a:r>
              <a:rPr lang="es-MX" altLang="es-VE" sz="2400" smtClean="0"/>
              <a:t>:</a:t>
            </a:r>
          </a:p>
          <a:p>
            <a:pPr>
              <a:buFont typeface="Arial" panose="020B0604020202020204" pitchFamily="34" charset="0"/>
              <a:buNone/>
            </a:pPr>
            <a:r>
              <a:rPr lang="es-MX" altLang="es-VE" sz="2400" b="1" smtClean="0"/>
              <a:t>Suplementos dietéticos que contengan vitamina K</a:t>
            </a:r>
          </a:p>
          <a:p>
            <a:pPr>
              <a:buFont typeface="Arial" panose="020B0604020202020204" pitchFamily="34" charset="0"/>
              <a:buNone/>
            </a:pPr>
            <a:endParaRPr lang="es-MX" altLang="es-VE" sz="2400" smtClean="0"/>
          </a:p>
          <a:p>
            <a:pPr>
              <a:buFont typeface="Arial" panose="020B0604020202020204" pitchFamily="34" charset="0"/>
              <a:buNone/>
            </a:pPr>
            <a:r>
              <a:rPr lang="es-MX" altLang="es-VE" sz="2400" b="1" smtClean="0"/>
              <a:t>Vegetales con alto contenido de vitamina K (brócoli, espinaca, perejil)</a:t>
            </a:r>
          </a:p>
          <a:p>
            <a:pPr>
              <a:buFont typeface="Arial" panose="020B0604020202020204" pitchFamily="34" charset="0"/>
              <a:buNone/>
            </a:pPr>
            <a:endParaRPr lang="es-MX" altLang="es-VE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121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 smtClean="0"/>
              <a:t>FIBRINOLITICOS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1 Título"/>
          <p:cNvSpPr>
            <a:spLocks noGrp="1"/>
          </p:cNvSpPr>
          <p:nvPr>
            <p:ph type="title"/>
          </p:nvPr>
        </p:nvSpPr>
        <p:spPr>
          <a:xfrm>
            <a:off x="457200" y="333375"/>
            <a:ext cx="8229600" cy="3167063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altLang="es-VE" sz="2400" b="1" dirty="0" smtClean="0"/>
              <a:t>Descubrimiento de la estreptoquinasa</a:t>
            </a:r>
            <a:br>
              <a:rPr lang="es-VE" altLang="es-VE" sz="2400" b="1" dirty="0" smtClean="0"/>
            </a:br>
            <a:r>
              <a:rPr lang="es-VE" altLang="es-VE" sz="2400" b="1" dirty="0" smtClean="0"/>
              <a:t>William Smith </a:t>
            </a:r>
            <a:r>
              <a:rPr lang="es-VE" altLang="es-VE" sz="2400" b="1" dirty="0" err="1" smtClean="0"/>
              <a:t>Tillet</a:t>
            </a:r>
            <a:r>
              <a:rPr lang="es-VE" altLang="es-VE" sz="2400" b="1" dirty="0" smtClean="0"/>
              <a:t>. Univ. </a:t>
            </a:r>
            <a:r>
              <a:rPr lang="es-VE" altLang="es-VE" sz="2400" b="1" dirty="0" err="1" smtClean="0"/>
              <a:t>Jhons</a:t>
            </a:r>
            <a:r>
              <a:rPr lang="es-VE" altLang="es-VE" sz="2400" b="1" dirty="0" smtClean="0"/>
              <a:t> Hopkins USA</a:t>
            </a:r>
            <a:r>
              <a:rPr lang="es-VE" altLang="es-VE" sz="2400" dirty="0" smtClean="0"/>
              <a:t/>
            </a:r>
            <a:br>
              <a:rPr lang="es-VE" altLang="es-VE" sz="2400" dirty="0" smtClean="0"/>
            </a:br>
            <a:r>
              <a:rPr lang="es-VE" altLang="es-VE" sz="2400" dirty="0" smtClean="0"/>
              <a:t>En 1933 observó que un cultivo de </a:t>
            </a:r>
            <a:r>
              <a:rPr lang="es-VE" altLang="es-VE" sz="2400" i="1" dirty="0" err="1" smtClean="0"/>
              <a:t>Streptococo</a:t>
            </a:r>
            <a:r>
              <a:rPr lang="es-VE" altLang="es-VE" sz="2400" dirty="0" smtClean="0"/>
              <a:t> aglutinaba el plasma. Un día abandonó los tubos y al día siguiente el coagulo estaba disuelto: algo en el </a:t>
            </a:r>
            <a:r>
              <a:rPr lang="es-VE" altLang="es-VE" sz="2400" i="1" dirty="0" err="1"/>
              <a:t>Streptococo</a:t>
            </a:r>
            <a:r>
              <a:rPr lang="es-VE" altLang="es-VE" sz="2400" i="1" dirty="0"/>
              <a:t> </a:t>
            </a:r>
            <a:r>
              <a:rPr lang="es-VE" altLang="es-VE" sz="2400" dirty="0" smtClean="0"/>
              <a:t>lo disolvió…la futura estreptoquinasa. </a:t>
            </a:r>
            <a:r>
              <a:rPr lang="es-VE" altLang="es-VE" sz="2400" dirty="0" err="1" smtClean="0"/>
              <a:t>Serendipia</a:t>
            </a:r>
            <a:r>
              <a:rPr lang="es-VE" altLang="es-VE" sz="2400" dirty="0" smtClean="0"/>
              <a:t> </a:t>
            </a:r>
            <a:br>
              <a:rPr lang="es-VE" altLang="es-VE" sz="2400" dirty="0" smtClean="0"/>
            </a:br>
            <a:r>
              <a:rPr lang="es-VE" altLang="es-VE" sz="2400" dirty="0" smtClean="0"/>
              <a:t>En 1959, 26 años después, se logró disolver un coagulo </a:t>
            </a:r>
            <a:r>
              <a:rPr lang="es-VE" altLang="es-VE" sz="2400" dirty="0" err="1" smtClean="0"/>
              <a:t>intraarterial</a:t>
            </a:r>
            <a:r>
              <a:rPr lang="es-VE" altLang="es-VE" sz="2400" dirty="0" smtClean="0"/>
              <a:t> en conejos con esta enzima    </a:t>
            </a:r>
            <a:br>
              <a:rPr lang="es-VE" altLang="es-VE" sz="2400" dirty="0" smtClean="0"/>
            </a:br>
            <a:endParaRPr lang="es-VE" altLang="es-VE" sz="2400" dirty="0" smtClean="0"/>
          </a:p>
        </p:txBody>
      </p:sp>
      <p:pic>
        <p:nvPicPr>
          <p:cNvPr id="61443" name="3 Marcador de contenido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60813" y="3702050"/>
            <a:ext cx="1222375" cy="1685925"/>
          </a:xfrm>
        </p:spPr>
      </p:pic>
      <p:sp>
        <p:nvSpPr>
          <p:cNvPr id="61444" name="4 CuadroTexto"/>
          <p:cNvSpPr txBox="1">
            <a:spLocks noChangeArrowheads="1"/>
          </p:cNvSpPr>
          <p:nvPr/>
        </p:nvSpPr>
        <p:spPr bwMode="auto">
          <a:xfrm>
            <a:off x="611188" y="5411788"/>
            <a:ext cx="7416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VE" sz="1400">
                <a:latin typeface="Arial" panose="020B0604020202020204" pitchFamily="34" charset="0"/>
              </a:rPr>
              <a:t>Texas Heart Inst J. 2007; 34: 318- 327</a:t>
            </a:r>
          </a:p>
        </p:txBody>
      </p:sp>
      <p:pic>
        <p:nvPicPr>
          <p:cNvPr id="61445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5925" y="2689225"/>
            <a:ext cx="650875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1 Título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sz="2400" dirty="0" smtClean="0"/>
              <a:t>FIBRINOLÍTICOS</a:t>
            </a:r>
            <a:endParaRPr lang="es-VE" altLang="es-VE" sz="2400" dirty="0" smtClean="0"/>
          </a:p>
        </p:txBody>
      </p:sp>
      <p:sp>
        <p:nvSpPr>
          <p:cNvPr id="64515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  <a:defRPr/>
            </a:pPr>
            <a:r>
              <a:rPr lang="es-VE" altLang="es-VE" sz="2400" b="1" dirty="0" smtClean="0"/>
              <a:t>Clasificación de acuerdo al origen tisular o bacteriano</a:t>
            </a:r>
          </a:p>
          <a:p>
            <a:pPr algn="ctr">
              <a:buFont typeface="Arial" panose="020B0604020202020204" pitchFamily="34" charset="0"/>
              <a:buNone/>
              <a:defRPr/>
            </a:pPr>
            <a:endParaRPr lang="es-VE" altLang="es-VE" sz="2400" b="1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s-VE" altLang="es-VE" sz="2400" b="1" dirty="0" smtClean="0"/>
              <a:t>1.</a:t>
            </a:r>
            <a:r>
              <a:rPr lang="es-VE" altLang="es-VE" sz="2400" dirty="0" smtClean="0"/>
              <a:t> 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Activadores  del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plasminógeno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 :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s-MX" altLang="es-VE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-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tPA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  </a:t>
            </a:r>
            <a:r>
              <a:rPr lang="es-MX" altLang="es-VE" sz="2400" dirty="0" smtClean="0">
                <a:solidFill>
                  <a:srgbClr val="FF0000"/>
                </a:solidFill>
              </a:rPr>
              <a:t>(derivado </a:t>
            </a:r>
            <a:r>
              <a:rPr lang="es-MX" altLang="es-VE" sz="2400" dirty="0">
                <a:solidFill>
                  <a:srgbClr val="FF0000"/>
                </a:solidFill>
              </a:rPr>
              <a:t>del </a:t>
            </a:r>
            <a:r>
              <a:rPr lang="es-MX" altLang="es-VE" sz="2400" dirty="0" smtClean="0">
                <a:solidFill>
                  <a:srgbClr val="FF0000"/>
                </a:solidFill>
              </a:rPr>
              <a:t>endotelio v.)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Alteplasa</a:t>
            </a:r>
            <a:endParaRPr lang="es-MX" altLang="es-VE" sz="24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s-MX" altLang="es-VE" sz="2400" b="1" dirty="0">
                <a:solidFill>
                  <a:srgbClr val="FF0000"/>
                </a:solidFill>
              </a:rPr>
              <a:t> 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     -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Tenecteplasa</a:t>
            </a:r>
            <a:endParaRPr lang="es-MX" altLang="es-VE" sz="2400" b="1" dirty="0" smtClean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s-MX" altLang="es-VE" sz="2400" b="1" dirty="0" smtClean="0">
                <a:solidFill>
                  <a:srgbClr val="FF0000"/>
                </a:solidFill>
              </a:rPr>
              <a:t>      -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uPA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 o </a:t>
            </a:r>
            <a:r>
              <a:rPr lang="es-MX" altLang="es-VE" sz="2400" b="1" dirty="0" err="1" smtClean="0">
                <a:solidFill>
                  <a:srgbClr val="FF0000"/>
                </a:solidFill>
              </a:rPr>
              <a:t>urokinasa</a:t>
            </a:r>
            <a:r>
              <a:rPr lang="es-MX" altLang="es-VE" sz="2400" dirty="0" smtClean="0">
                <a:solidFill>
                  <a:srgbClr val="FF0000"/>
                </a:solidFill>
              </a:rPr>
              <a:t> </a:t>
            </a:r>
            <a:r>
              <a:rPr lang="es-MX" altLang="es-VE" sz="2400" dirty="0" smtClean="0"/>
              <a:t>(derivado de parénquima renal)</a:t>
            </a:r>
            <a:endParaRPr lang="es-VE" altLang="es-VE" sz="2400" dirty="0" smtClean="0"/>
          </a:p>
          <a:p>
            <a:pPr>
              <a:buFont typeface="Arial" panose="020B0604020202020204" pitchFamily="34" charset="0"/>
              <a:buNone/>
              <a:defRPr/>
            </a:pPr>
            <a:endParaRPr lang="es-MX" altLang="es-VE" sz="2400" b="1" dirty="0" smtClean="0"/>
          </a:p>
          <a:p>
            <a:pPr>
              <a:buFont typeface="Arial" panose="020B0604020202020204" pitchFamily="34" charset="0"/>
              <a:buNone/>
              <a:defRPr/>
            </a:pPr>
            <a:r>
              <a:rPr lang="es-MX" altLang="es-VE" sz="2400" b="1" dirty="0" smtClean="0"/>
              <a:t>2. </a:t>
            </a:r>
            <a:r>
              <a:rPr lang="es-MX" altLang="es-VE" sz="2400" b="1" dirty="0" smtClean="0">
                <a:solidFill>
                  <a:srgbClr val="FF0000"/>
                </a:solidFill>
              </a:rPr>
              <a:t>Derivados de bacterias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s-MX" altLang="es-VE" sz="2400" b="1" dirty="0" smtClean="0">
                <a:solidFill>
                  <a:srgbClr val="FF0000"/>
                </a:solidFill>
              </a:rPr>
              <a:t>     Estreptoquinasa</a:t>
            </a:r>
            <a:endParaRPr lang="es-VE" altLang="es-VE" sz="2000" dirty="0" smtClean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altLang="es-VE" sz="2000" b="1" dirty="0" smtClean="0">
                <a:solidFill>
                  <a:srgbClr val="FF0000"/>
                </a:solidFill>
              </a:rPr>
              <a:t>      origen recombinante</a:t>
            </a:r>
            <a:endParaRPr lang="es-MX" altLang="es-VE" sz="2000" b="1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VE" altLang="es-VE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1 Título"/>
          <p:cNvSpPr>
            <a:spLocks noGrp="1"/>
          </p:cNvSpPr>
          <p:nvPr>
            <p:ph type="title"/>
          </p:nvPr>
        </p:nvSpPr>
        <p:spPr>
          <a:xfrm>
            <a:off x="428625" y="285750"/>
            <a:ext cx="8229600" cy="1143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s-MX" altLang="es-VE" sz="2800" dirty="0" smtClean="0"/>
              <a:t>FIBRINOLÍTICOS</a:t>
            </a:r>
            <a:br>
              <a:rPr lang="es-MX" altLang="es-VE" sz="2800" dirty="0" smtClean="0"/>
            </a:br>
            <a:r>
              <a:rPr lang="es-MX" altLang="es-VE" sz="2000" b="1" dirty="0" smtClean="0">
                <a:latin typeface="Arial" panose="020B0604020202020204" pitchFamily="34" charset="0"/>
              </a:rPr>
              <a:t>Activadores  del </a:t>
            </a:r>
            <a:r>
              <a:rPr lang="es-MX" altLang="es-VE" sz="2000" b="1" dirty="0" err="1" smtClean="0">
                <a:latin typeface="Arial" panose="020B0604020202020204" pitchFamily="34" charset="0"/>
              </a:rPr>
              <a:t>plasminógeno</a:t>
            </a:r>
            <a:r>
              <a:rPr lang="es-MX" altLang="es-VE" sz="2000" b="1" dirty="0" smtClean="0">
                <a:latin typeface="Arial" panose="020B0604020202020204" pitchFamily="34" charset="0"/>
              </a:rPr>
              <a:t/>
            </a:r>
            <a:br>
              <a:rPr lang="es-MX" altLang="es-VE" sz="2000" b="1" dirty="0" smtClean="0">
                <a:latin typeface="Arial" panose="020B0604020202020204" pitchFamily="34" charset="0"/>
              </a:rPr>
            </a:br>
            <a:endParaRPr lang="es-VE" altLang="es-VE" sz="2000" dirty="0" smtClean="0"/>
          </a:p>
        </p:txBody>
      </p:sp>
      <p:pic>
        <p:nvPicPr>
          <p:cNvPr id="63491" name="Picture 4" descr="trombo con fibrina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89463" y="3068638"/>
            <a:ext cx="2268537" cy="1668462"/>
          </a:xfrm>
          <a:noFill/>
        </p:spPr>
      </p:pic>
      <p:sp>
        <p:nvSpPr>
          <p:cNvPr id="63492" name="6 CuadroTexto"/>
          <p:cNvSpPr txBox="1">
            <a:spLocks noChangeArrowheads="1"/>
          </p:cNvSpPr>
          <p:nvPr/>
        </p:nvSpPr>
        <p:spPr bwMode="auto">
          <a:xfrm>
            <a:off x="1211263" y="1597025"/>
            <a:ext cx="19161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latin typeface="Arial" panose="020B0604020202020204" pitchFamily="34" charset="0"/>
              </a:rPr>
              <a:t>    Fibrinógeno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200">
                <a:latin typeface="Arial" panose="020B0604020202020204" pitchFamily="34" charset="0"/>
              </a:rPr>
              <a:t>Trombina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latin typeface="Arial" panose="020B0604020202020204" pitchFamily="34" charset="0"/>
              </a:rPr>
              <a:t>       Fibrina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latin typeface="Arial" panose="020B0604020202020204" pitchFamily="34" charset="0"/>
              </a:rPr>
              <a:t>__________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solidFill>
                  <a:srgbClr val="FF0000"/>
                </a:solidFill>
                <a:latin typeface="Arial" panose="020B0604020202020204" pitchFamily="34" charset="0"/>
              </a:rPr>
              <a:t>PAI-1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solidFill>
                  <a:srgbClr val="FF0000"/>
                </a:solidFill>
                <a:latin typeface="Arial" panose="020B0604020202020204" pitchFamily="34" charset="0"/>
              </a:rPr>
              <a:t>PAI-2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VE" altLang="es-VE" sz="1800">
              <a:latin typeface="Arial" panose="020B0604020202020204" pitchFamily="34" charset="0"/>
            </a:endParaRPr>
          </a:p>
        </p:txBody>
      </p:sp>
      <p:sp>
        <p:nvSpPr>
          <p:cNvPr id="63493" name="11 CuadroTexto"/>
          <p:cNvSpPr txBox="1">
            <a:spLocks noChangeArrowheads="1"/>
          </p:cNvSpPr>
          <p:nvPr/>
        </p:nvSpPr>
        <p:spPr bwMode="auto">
          <a:xfrm rot="10800000" flipH="1" flipV="1">
            <a:off x="3571875" y="1528763"/>
            <a:ext cx="4786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s-MX" altLang="es-VE" sz="1800" b="1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s-MX" altLang="es-VE" sz="1800" b="1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s-MX" altLang="es-VE" sz="1800" b="1"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VE" sz="1800" b="1">
                <a:latin typeface="Arial" panose="020B0604020202020204" pitchFamily="34" charset="0"/>
              </a:rPr>
              <a:t>tPA y uPA </a:t>
            </a:r>
            <a:r>
              <a:rPr lang="es-MX" altLang="es-VE" sz="1800">
                <a:latin typeface="Arial" panose="020B0604020202020204" pitchFamily="34" charset="0"/>
              </a:rPr>
              <a:t> (activadores)</a:t>
            </a:r>
            <a:endParaRPr lang="es-VE" altLang="es-VE" sz="1800">
              <a:latin typeface="Arial" panose="020B0604020202020204" pitchFamily="34" charset="0"/>
            </a:endParaRPr>
          </a:p>
        </p:txBody>
      </p:sp>
      <p:sp>
        <p:nvSpPr>
          <p:cNvPr id="13" name="12 Flecha abajo">
            <a:extLst/>
          </p:cNvPr>
          <p:cNvSpPr/>
          <p:nvPr/>
        </p:nvSpPr>
        <p:spPr>
          <a:xfrm>
            <a:off x="1954213" y="2298700"/>
            <a:ext cx="430212" cy="6429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VE"/>
          </a:p>
        </p:txBody>
      </p:sp>
      <p:sp>
        <p:nvSpPr>
          <p:cNvPr id="63495" name="16 CuadroTexto"/>
          <p:cNvSpPr txBox="1">
            <a:spLocks noChangeArrowheads="1"/>
          </p:cNvSpPr>
          <p:nvPr/>
        </p:nvSpPr>
        <p:spPr bwMode="auto">
          <a:xfrm>
            <a:off x="571500" y="4286250"/>
            <a:ext cx="1984375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 b="1">
                <a:latin typeface="Arial" panose="020B0604020202020204" pitchFamily="34" charset="0"/>
              </a:rPr>
              <a:t>Plasminógeno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 b="1">
                <a:latin typeface="Arial" panose="020B0604020202020204" pitchFamily="34" charset="0"/>
              </a:rPr>
              <a:t>Plasmina</a:t>
            </a:r>
            <a:r>
              <a:rPr lang="es-MX" altLang="es-VE" sz="1800">
                <a:latin typeface="Arial" panose="020B0604020202020204" pitchFamily="34" charset="0"/>
              </a:rPr>
              <a:t>  degrada fibrina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s-VE" altLang="es-VE" sz="1800">
              <a:latin typeface="Arial" panose="020B0604020202020204" pitchFamily="34" charset="0"/>
            </a:endParaRPr>
          </a:p>
        </p:txBody>
      </p:sp>
      <p:sp>
        <p:nvSpPr>
          <p:cNvPr id="18" name="17 Flecha abajo">
            <a:extLst/>
          </p:cNvPr>
          <p:cNvSpPr/>
          <p:nvPr/>
        </p:nvSpPr>
        <p:spPr>
          <a:xfrm>
            <a:off x="857250" y="4714875"/>
            <a:ext cx="785813" cy="285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VE"/>
          </a:p>
        </p:txBody>
      </p:sp>
      <p:sp>
        <p:nvSpPr>
          <p:cNvPr id="63497" name="27 Rectángulo"/>
          <p:cNvSpPr>
            <a:spLocks noChangeArrowheads="1"/>
          </p:cNvSpPr>
          <p:nvPr/>
        </p:nvSpPr>
        <p:spPr bwMode="auto">
          <a:xfrm>
            <a:off x="4214813" y="5286375"/>
            <a:ext cx="32146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MX" altLang="es-VE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latin typeface="Arial" panose="020B0604020202020204" pitchFamily="34" charset="0"/>
              </a:rPr>
              <a:t>Fragmentos de fibrina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es-VE" sz="1800">
                <a:latin typeface="Arial" panose="020B0604020202020204" pitchFamily="34" charset="0"/>
              </a:rPr>
              <a:t>Dímero-D </a:t>
            </a:r>
            <a:endParaRPr lang="es-VE" altLang="es-VE" sz="1800">
              <a:latin typeface="Arial" panose="020B0604020202020204" pitchFamily="34" charset="0"/>
            </a:endParaRPr>
          </a:p>
        </p:txBody>
      </p:sp>
      <p:sp>
        <p:nvSpPr>
          <p:cNvPr id="30" name="29 Flecha abajo">
            <a:extLst/>
          </p:cNvPr>
          <p:cNvSpPr/>
          <p:nvPr/>
        </p:nvSpPr>
        <p:spPr>
          <a:xfrm rot="16733655">
            <a:off x="3064669" y="5212556"/>
            <a:ext cx="484188" cy="5619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VE"/>
          </a:p>
        </p:txBody>
      </p:sp>
      <p:sp>
        <p:nvSpPr>
          <p:cNvPr id="31" name="30 Arco">
            <a:extLst/>
          </p:cNvPr>
          <p:cNvSpPr/>
          <p:nvPr/>
        </p:nvSpPr>
        <p:spPr>
          <a:xfrm flipV="1">
            <a:off x="-133350" y="1263650"/>
            <a:ext cx="4500563" cy="3214688"/>
          </a:xfrm>
          <a:prstGeom prst="arc">
            <a:avLst>
              <a:gd name="adj1" fmla="val 16559687"/>
              <a:gd name="adj2" fmla="val 2399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V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1 Título"/>
          <p:cNvSpPr>
            <a:spLocks noGrp="1"/>
          </p:cNvSpPr>
          <p:nvPr>
            <p:ph type="title"/>
          </p:nvPr>
        </p:nvSpPr>
        <p:spPr>
          <a:xfrm>
            <a:off x="457200" y="352425"/>
            <a:ext cx="8229600" cy="982663"/>
          </a:xfrm>
          <a:solidFill>
            <a:srgbClr val="92D050"/>
          </a:solidFill>
        </p:spPr>
        <p:txBody>
          <a:bodyPr/>
          <a:lstStyle/>
          <a:p>
            <a:r>
              <a:rPr lang="es-MX" altLang="es-VE" sz="2800" smtClean="0"/>
              <a:t>Fibrinolíticos</a:t>
            </a:r>
            <a:endParaRPr lang="es-VE" altLang="es-VE" sz="2800" smtClean="0"/>
          </a:p>
        </p:txBody>
      </p:sp>
      <p:sp>
        <p:nvSpPr>
          <p:cNvPr id="31747" name="2 Marcador de contenido">
            <a:extLst/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9587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pPr>
              <a:buFont typeface="Arial" charset="0"/>
              <a:buNone/>
              <a:defRPr/>
            </a:pPr>
            <a:r>
              <a:rPr lang="es-MX" sz="2400" dirty="0"/>
              <a:t>Indicaciones</a:t>
            </a:r>
          </a:p>
          <a:p>
            <a:pPr>
              <a:buFont typeface="Arial" charset="0"/>
              <a:buNone/>
              <a:defRPr/>
            </a:pPr>
            <a:r>
              <a:rPr lang="es-MX" sz="2400" b="1" dirty="0">
                <a:solidFill>
                  <a:srgbClr val="FF0000"/>
                </a:solidFill>
              </a:rPr>
              <a:t>INFARTO AGUDO DE MIOCARDIO CON ELEVACIÓN DEL SEGMENTO ST</a:t>
            </a:r>
          </a:p>
          <a:p>
            <a:pPr>
              <a:buFontTx/>
              <a:buChar char="-"/>
              <a:defRPr/>
            </a:pPr>
            <a:r>
              <a:rPr lang="es-MX" sz="2400" dirty="0">
                <a:solidFill>
                  <a:srgbClr val="FF0000"/>
                </a:solidFill>
              </a:rPr>
              <a:t>Hay oclusión </a:t>
            </a:r>
            <a:r>
              <a:rPr lang="es-MX" sz="2400" dirty="0" err="1">
                <a:solidFill>
                  <a:srgbClr val="FF0000"/>
                </a:solidFill>
              </a:rPr>
              <a:t>trombótica</a:t>
            </a:r>
            <a:r>
              <a:rPr lang="es-MX" sz="2400" dirty="0">
                <a:solidFill>
                  <a:srgbClr val="FF0000"/>
                </a:solidFill>
              </a:rPr>
              <a:t> de una arteria coronaria.  Se debe </a:t>
            </a:r>
            <a:r>
              <a:rPr lang="es-MX" sz="2400" dirty="0" err="1" smtClean="0">
                <a:solidFill>
                  <a:srgbClr val="FF0000"/>
                </a:solidFill>
              </a:rPr>
              <a:t>reperfundir</a:t>
            </a:r>
            <a:r>
              <a:rPr lang="es-MX" sz="2400" dirty="0" smtClean="0">
                <a:solidFill>
                  <a:srgbClr val="FF0000"/>
                </a:solidFill>
              </a:rPr>
              <a:t> </a:t>
            </a:r>
            <a:r>
              <a:rPr lang="es-MX" sz="2400" dirty="0">
                <a:solidFill>
                  <a:srgbClr val="FF0000"/>
                </a:solidFill>
              </a:rPr>
              <a:t>la arteria lo más rápido posible: </a:t>
            </a:r>
            <a:r>
              <a:rPr lang="es-MX" sz="2400" b="1" dirty="0">
                <a:solidFill>
                  <a:srgbClr val="FF0000"/>
                </a:solidFill>
              </a:rPr>
              <a:t>Ventana terapéutica ideal</a:t>
            </a:r>
            <a:r>
              <a:rPr lang="es-MX" sz="2400" dirty="0">
                <a:solidFill>
                  <a:srgbClr val="FF0000"/>
                </a:solidFill>
              </a:rPr>
              <a:t>: 2 horas (90 min en IAM grande). Actuar rápido. </a:t>
            </a:r>
          </a:p>
          <a:p>
            <a:pPr>
              <a:buFontTx/>
              <a:buChar char="-"/>
              <a:defRPr/>
            </a:pPr>
            <a:r>
              <a:rPr lang="es-MX" sz="2400" b="1" dirty="0"/>
              <a:t>DOS OPCIONES</a:t>
            </a:r>
          </a:p>
          <a:p>
            <a:pPr>
              <a:buFont typeface="Arial" charset="0"/>
              <a:buNone/>
              <a:defRPr/>
            </a:pPr>
            <a:r>
              <a:rPr lang="es-MX" sz="2400" dirty="0"/>
              <a:t>-Abrir la arteria mediante angioplastia + prótesis </a:t>
            </a:r>
            <a:r>
              <a:rPr lang="es-MX" sz="2400" dirty="0" err="1"/>
              <a:t>endovascular</a:t>
            </a:r>
            <a:r>
              <a:rPr lang="es-MX" sz="2400" dirty="0"/>
              <a:t> vía </a:t>
            </a:r>
            <a:r>
              <a:rPr lang="es-MX" sz="2400" dirty="0" smtClean="0"/>
              <a:t>percutánea  </a:t>
            </a:r>
            <a:r>
              <a:rPr lang="es-MX" sz="2400" dirty="0"/>
              <a:t>(</a:t>
            </a:r>
            <a:r>
              <a:rPr lang="es-MX" sz="2400" i="1" dirty="0" err="1" smtClean="0"/>
              <a:t>Stent</a:t>
            </a:r>
            <a:r>
              <a:rPr lang="es-MX" sz="2400" dirty="0" smtClean="0"/>
              <a:t>)</a:t>
            </a:r>
            <a:endParaRPr lang="es-MX" sz="2400" dirty="0"/>
          </a:p>
          <a:p>
            <a:pPr>
              <a:buFontTx/>
              <a:buChar char="-"/>
              <a:defRPr/>
            </a:pPr>
            <a:r>
              <a:rPr lang="es-MX" sz="2400" dirty="0" smtClean="0"/>
              <a:t>Administrar </a:t>
            </a:r>
            <a:r>
              <a:rPr lang="es-MX" sz="2400" dirty="0"/>
              <a:t>un agente </a:t>
            </a:r>
            <a:r>
              <a:rPr lang="es-MX" sz="2400" dirty="0" err="1"/>
              <a:t>fibrinolítico</a:t>
            </a:r>
            <a:r>
              <a:rPr lang="es-MX" sz="2400" dirty="0"/>
              <a:t> por vía intravenosa </a:t>
            </a:r>
            <a:endParaRPr lang="es-MX" sz="24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sz="2400" dirty="0"/>
              <a:t> </a:t>
            </a:r>
            <a:r>
              <a:rPr lang="es-MX" sz="2400" dirty="0" smtClean="0"/>
              <a:t>        </a:t>
            </a:r>
            <a:r>
              <a:rPr lang="es-MX" sz="2400" dirty="0" err="1" smtClean="0"/>
              <a:t>Intracoronario</a:t>
            </a:r>
            <a:r>
              <a:rPr lang="es-MX" sz="2400" dirty="0" smtClean="0"/>
              <a:t>  (</a:t>
            </a:r>
            <a:r>
              <a:rPr lang="es-MX" sz="2400" dirty="0" err="1" smtClean="0"/>
              <a:t>tromboaspiración</a:t>
            </a:r>
            <a:r>
              <a:rPr lang="es-MX" sz="2400" dirty="0" smtClean="0"/>
              <a:t> no recomendada) </a:t>
            </a:r>
            <a:endParaRPr lang="es-VE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altLang="es-VE" sz="2400" b="1" smtClean="0"/>
              <a:t>Fibrinolíticos</a:t>
            </a:r>
            <a:endParaRPr lang="es-VE" altLang="es-VE" sz="2400" b="1" smtClean="0"/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sz="2400" dirty="0" smtClean="0"/>
              <a:t>Origen </a:t>
            </a:r>
            <a:r>
              <a:rPr lang="es-MX" sz="2400" dirty="0"/>
              <a:t>bacteriano, </a:t>
            </a:r>
            <a:r>
              <a:rPr lang="es-MX" sz="2400" dirty="0" smtClean="0"/>
              <a:t>recombinante: </a:t>
            </a:r>
            <a:r>
              <a:rPr lang="es-MX" sz="2400" dirty="0" err="1" smtClean="0"/>
              <a:t>Estreptokinasa</a:t>
            </a:r>
            <a:r>
              <a:rPr lang="es-MX" sz="2400" dirty="0" smtClean="0"/>
              <a:t>  </a:t>
            </a:r>
            <a:r>
              <a:rPr lang="es-MX" sz="2400" dirty="0"/>
              <a:t>(SK</a:t>
            </a:r>
            <a:r>
              <a:rPr lang="es-MX" sz="2400" dirty="0" smtClean="0"/>
              <a:t>)</a:t>
            </a:r>
            <a:endParaRPr lang="es-MX" sz="2400" dirty="0"/>
          </a:p>
          <a:p>
            <a:pPr>
              <a:buFont typeface="Arial" charset="0"/>
              <a:buNone/>
              <a:defRPr/>
            </a:pPr>
            <a:endParaRPr lang="es-MX" sz="2400" dirty="0" smtClean="0"/>
          </a:p>
          <a:p>
            <a:pPr>
              <a:buFont typeface="Arial" charset="0"/>
              <a:buNone/>
              <a:defRPr/>
            </a:pPr>
            <a:r>
              <a:rPr lang="es-MX" sz="2400" dirty="0" smtClean="0"/>
              <a:t>De </a:t>
            </a:r>
            <a:r>
              <a:rPr lang="es-MX" sz="2400" dirty="0"/>
              <a:t>origen </a:t>
            </a:r>
            <a:r>
              <a:rPr lang="es-MX" sz="2400" dirty="0" smtClean="0"/>
              <a:t>tisular:</a:t>
            </a:r>
            <a:endParaRPr lang="es-MX" sz="2400" dirty="0"/>
          </a:p>
          <a:p>
            <a:pPr>
              <a:buFont typeface="Arial" charset="0"/>
              <a:buChar char="•"/>
              <a:defRPr/>
            </a:pPr>
            <a:r>
              <a:rPr lang="es-MX" sz="2400" dirty="0" err="1"/>
              <a:t>Alteplasa</a:t>
            </a:r>
            <a:endParaRPr lang="es-MX" sz="2400" dirty="0"/>
          </a:p>
          <a:p>
            <a:pPr>
              <a:buFont typeface="Arial" charset="0"/>
              <a:buChar char="•"/>
              <a:defRPr/>
            </a:pPr>
            <a:endParaRPr lang="es-MX" sz="2400" dirty="0"/>
          </a:p>
          <a:p>
            <a:pPr>
              <a:buFont typeface="Arial" charset="0"/>
              <a:buChar char="•"/>
              <a:defRPr/>
            </a:pPr>
            <a:r>
              <a:rPr lang="es-MX" sz="2400" dirty="0" err="1"/>
              <a:t>Reteplasa</a:t>
            </a:r>
            <a:r>
              <a:rPr lang="es-MX" sz="2400" dirty="0"/>
              <a:t> </a:t>
            </a:r>
          </a:p>
          <a:p>
            <a:pPr>
              <a:buFont typeface="Arial" charset="0"/>
              <a:buChar char="•"/>
              <a:defRPr/>
            </a:pPr>
            <a:endParaRPr lang="es-MX" sz="2400" dirty="0"/>
          </a:p>
          <a:p>
            <a:pPr>
              <a:buFont typeface="Arial" charset="0"/>
              <a:buChar char="•"/>
              <a:defRPr/>
            </a:pPr>
            <a:r>
              <a:rPr lang="es-MX" sz="2400" dirty="0" err="1" smtClean="0"/>
              <a:t>Tenecteplasa</a:t>
            </a:r>
            <a:endParaRPr lang="es-MX" sz="24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s-MX" sz="24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sz="2400" dirty="0" smtClean="0"/>
              <a:t>Cada una tiene </a:t>
            </a:r>
            <a:r>
              <a:rPr lang="es-MX" sz="2400" dirty="0"/>
              <a:t>dosis y protocolo de </a:t>
            </a:r>
            <a:r>
              <a:rPr lang="es-MX" sz="2400" dirty="0" smtClean="0"/>
              <a:t>administración diferente</a:t>
            </a:r>
            <a:endParaRPr lang="es-MX" sz="2400" dirty="0"/>
          </a:p>
          <a:p>
            <a:pPr>
              <a:buFont typeface="Arial" charset="0"/>
              <a:buChar char="•"/>
              <a:defRPr/>
            </a:pPr>
            <a:endParaRPr lang="es-VE" sz="2400" dirty="0"/>
          </a:p>
        </p:txBody>
      </p:sp>
      <p:sp>
        <p:nvSpPr>
          <p:cNvPr id="4" name="3 Cerrar corchete">
            <a:extLst/>
          </p:cNvPr>
          <p:cNvSpPr/>
          <p:nvPr/>
        </p:nvSpPr>
        <p:spPr>
          <a:xfrm>
            <a:off x="2643188" y="3071813"/>
            <a:ext cx="142875" cy="1928812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s-V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5763" y="303213"/>
            <a:ext cx="8229600" cy="114300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800" dirty="0" err="1" smtClean="0"/>
              <a:t>Fibrinolisis</a:t>
            </a:r>
            <a:r>
              <a:rPr lang="es-VE" sz="2800" dirty="0" smtClean="0"/>
              <a:t>. Guías Europeas STEMI. 2017</a:t>
            </a:r>
            <a:br>
              <a:rPr lang="es-VE" sz="2800" dirty="0" smtClean="0"/>
            </a:br>
            <a:r>
              <a:rPr lang="en-US" sz="1400" dirty="0" smtClean="0"/>
              <a:t>European Heart Journal. 2018; 39: 119–177</a:t>
            </a:r>
            <a:endParaRPr lang="es-VE" sz="1400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</p:nvPr>
        </p:nvGraphicFramePr>
        <p:xfrm>
          <a:off x="2124075" y="1628775"/>
          <a:ext cx="4752975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1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1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9922"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Agente </a:t>
                      </a:r>
                      <a:r>
                        <a:rPr lang="es-VE" sz="1800" dirty="0" err="1" smtClean="0"/>
                        <a:t>Fibrinolitico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VE" sz="1800" dirty="0" smtClean="0"/>
                        <a:t>  Dosis intravenosa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22"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STK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 1,5 millones  U en 30 a 60 min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512">
                <a:tc>
                  <a:txBody>
                    <a:bodyPr/>
                    <a:lstStyle/>
                    <a:p>
                      <a:r>
                        <a:rPr lang="es-VE" sz="1800" dirty="0" err="1" smtClean="0"/>
                        <a:t>tPA</a:t>
                      </a:r>
                      <a:r>
                        <a:rPr lang="es-VE" sz="1800" dirty="0" smtClean="0"/>
                        <a:t> (</a:t>
                      </a:r>
                      <a:r>
                        <a:rPr lang="es-VE" sz="1800" dirty="0" err="1" smtClean="0"/>
                        <a:t>Alteplasa</a:t>
                      </a:r>
                      <a:r>
                        <a:rPr lang="es-VE" sz="1800" dirty="0" smtClean="0"/>
                        <a:t>)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15 mg en bolo</a:t>
                      </a:r>
                    </a:p>
                    <a:p>
                      <a:r>
                        <a:rPr lang="es-VE" sz="1800" dirty="0" smtClean="0"/>
                        <a:t>0,75</a:t>
                      </a:r>
                      <a:r>
                        <a:rPr lang="es-VE" sz="1800" baseline="0" dirty="0" smtClean="0"/>
                        <a:t> mg/kg en 30 min</a:t>
                      </a:r>
                    </a:p>
                    <a:p>
                      <a:r>
                        <a:rPr lang="es-VE" sz="1800" baseline="0" dirty="0" smtClean="0"/>
                        <a:t>0,50 mg/kg en 60 min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922">
                <a:tc>
                  <a:txBody>
                    <a:bodyPr/>
                    <a:lstStyle/>
                    <a:p>
                      <a:r>
                        <a:rPr lang="es-VE" sz="1800" dirty="0" err="1" smtClean="0"/>
                        <a:t>rPA</a:t>
                      </a:r>
                      <a:r>
                        <a:rPr lang="es-VE" sz="1800" dirty="0" smtClean="0"/>
                        <a:t> (</a:t>
                      </a:r>
                      <a:r>
                        <a:rPr lang="es-VE" sz="1800" dirty="0" err="1" smtClean="0"/>
                        <a:t>Reteplasa</a:t>
                      </a:r>
                      <a:r>
                        <a:rPr lang="es-VE" sz="1800" dirty="0" smtClean="0"/>
                        <a:t>)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10 + 10 U en bolos </a:t>
                      </a:r>
                    </a:p>
                    <a:p>
                      <a:r>
                        <a:rPr lang="es-VE" sz="1800" dirty="0" smtClean="0"/>
                        <a:t>En 30 min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922"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TKK-</a:t>
                      </a:r>
                      <a:r>
                        <a:rPr lang="es-VE" sz="1800" dirty="0" err="1" smtClean="0"/>
                        <a:t>tPA</a:t>
                      </a:r>
                      <a:r>
                        <a:rPr lang="es-VE" sz="1800" dirty="0" smtClean="0"/>
                        <a:t> (</a:t>
                      </a:r>
                      <a:r>
                        <a:rPr lang="es-VE" sz="1800" dirty="0" err="1" smtClean="0"/>
                        <a:t>Tenecteplasa</a:t>
                      </a:r>
                      <a:r>
                        <a:rPr lang="es-VE" sz="1800" dirty="0" smtClean="0"/>
                        <a:t>)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tc>
                  <a:txBody>
                    <a:bodyPr/>
                    <a:lstStyle/>
                    <a:p>
                      <a:r>
                        <a:rPr lang="es-VE" sz="1800" dirty="0" smtClean="0"/>
                        <a:t>30 mg en bolo en &lt; 60 kg</a:t>
                      </a:r>
                    </a:p>
                    <a:p>
                      <a:r>
                        <a:rPr lang="es-VE" sz="1800" dirty="0" smtClean="0"/>
                        <a:t>hasta 50 mg bolo en &gt; 90 kg</a:t>
                      </a:r>
                      <a:endParaRPr lang="es-VE" sz="1800" dirty="0"/>
                    </a:p>
                  </a:txBody>
                  <a:tcPr marL="91449" marR="91449" marT="45726" marB="4572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25575"/>
          </a:xfrm>
          <a:solidFill>
            <a:schemeClr val="bg2"/>
          </a:solidFill>
        </p:spPr>
        <p:txBody>
          <a:bodyPr/>
          <a:lstStyle/>
          <a:p>
            <a:r>
              <a:rPr lang="es-VE" altLang="es-VE" sz="2400" smtClean="0"/>
              <a:t>A: ECG ingreso IAMST</a:t>
            </a:r>
            <a:br>
              <a:rPr lang="es-VE" altLang="es-VE" sz="2400" smtClean="0"/>
            </a:br>
            <a:r>
              <a:rPr lang="es-VE" altLang="es-VE" sz="2400" smtClean="0"/>
              <a:t>B: ECG LUEGO DE reperfusión exitosa por trombolisis (STK, tPA)</a:t>
            </a:r>
            <a:br>
              <a:rPr lang="es-VE" altLang="es-VE" sz="2400" smtClean="0"/>
            </a:br>
            <a:r>
              <a:rPr lang="es-VE" altLang="es-VE" sz="2400" smtClean="0"/>
              <a:t>rápida reducción dolor, mejora ST, ritmo idioventricular </a:t>
            </a:r>
            <a:br>
              <a:rPr lang="es-VE" altLang="es-VE" sz="2400" smtClean="0"/>
            </a:br>
            <a:r>
              <a:rPr lang="es-VE" altLang="es-VE" sz="1600" smtClean="0"/>
              <a:t>Heart . 2000; 84: 164-170</a:t>
            </a:r>
          </a:p>
        </p:txBody>
      </p:sp>
      <p:pic>
        <p:nvPicPr>
          <p:cNvPr id="68611" name="3 Marcador de contenido" descr="Figure 1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1563" y="1785938"/>
            <a:ext cx="6858000" cy="4357687"/>
          </a:xfrm>
        </p:spPr>
      </p:pic>
      <p:sp>
        <p:nvSpPr>
          <p:cNvPr id="2" name="Flecha abajo 1"/>
          <p:cNvSpPr/>
          <p:nvPr/>
        </p:nvSpPr>
        <p:spPr>
          <a:xfrm>
            <a:off x="4859338" y="1785938"/>
            <a:ext cx="73025" cy="4905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  <p:sp>
        <p:nvSpPr>
          <p:cNvPr id="68613" name="CuadroTexto 2"/>
          <p:cNvSpPr txBox="1">
            <a:spLocks noChangeArrowheads="1"/>
          </p:cNvSpPr>
          <p:nvPr/>
        </p:nvSpPr>
        <p:spPr bwMode="auto">
          <a:xfrm>
            <a:off x="7092950" y="1628775"/>
            <a:ext cx="1150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s-VE" altLang="es-ES_tradnl" sz="1800">
                <a:latin typeface="Arial" panose="020B0604020202020204" pitchFamily="34" charset="0"/>
              </a:rPr>
              <a:t>50 min</a:t>
            </a:r>
            <a:endParaRPr lang="es-ES_tradnl" altLang="es-ES_tradnl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/>
          <p:cNvGraphicFramePr>
            <a:graphicFrameLocks noGrp="1"/>
          </p:cNvGraphicFramePr>
          <p:nvPr/>
        </p:nvGraphicFramePr>
        <p:xfrm>
          <a:off x="1763713" y="1384300"/>
          <a:ext cx="5616575" cy="47545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83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956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 dirty="0">
                          <a:effectLst/>
                        </a:rPr>
                        <a:t>Procedimiento médico</a:t>
                      </a:r>
                      <a:endParaRPr lang="es-VE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ideal</a:t>
                      </a:r>
                      <a:endParaRPr lang="es-VE" sz="900">
                        <a:effectLst/>
                      </a:endParaRPr>
                    </a:p>
                    <a:p>
                      <a:pPr algn="ctr"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recomendado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516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entre el primer contacto médico, el ECG y su interpretación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10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516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Del diagnóstico a la activación laboratorio de cateterismo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10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516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de entrada y salida del servio de emergencia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30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85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de transporte del paciente en vehiculo, con IAMEST ya diagnosticado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60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85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entre la llegada al laboratorio de cateterismo y activación del primer aparato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30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964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entre 1er contacto médico e inicio de angioplastia coronaria en paciente de otro centro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120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964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 dirty="0">
                          <a:effectLst/>
                        </a:rPr>
                        <a:t>Tiempo entre 1er contacto médico y angioplastia en centro que posee esta </a:t>
                      </a:r>
                      <a:r>
                        <a:rPr lang="es-VE" sz="1100" dirty="0" smtClean="0">
                          <a:effectLst/>
                        </a:rPr>
                        <a:t>metodología </a:t>
                      </a:r>
                      <a:endParaRPr lang="es-VE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90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976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entre 1er contacto médico y la fibrinolisis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&lt; 30 min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976"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>
                          <a:effectLst/>
                        </a:rPr>
                        <a:t>Tiempo entre fibrinolisis y angiografia coronaria</a:t>
                      </a:r>
                      <a:endParaRPr lang="es-VE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1800"/>
                        </a:lnSpc>
                        <a:spcAft>
                          <a:spcPts val="800"/>
                        </a:spcAft>
                      </a:pPr>
                      <a:r>
                        <a:rPr lang="es-VE" sz="1100" dirty="0">
                          <a:effectLst/>
                        </a:rPr>
                        <a:t>&lt; 24 horas</a:t>
                      </a:r>
                      <a:endParaRPr lang="es-VE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46" marR="55546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246063"/>
            <a:ext cx="8435975" cy="1200150"/>
          </a:xfrm>
          <a:solidFill>
            <a:schemeClr val="bg2">
              <a:lumMod val="9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s-VE" altLang="es-VE" sz="1800" b="1" dirty="0" smtClean="0">
                <a:ea typeface="Calibri" panose="020F0502020204030204" pitchFamily="34" charset="0"/>
                <a:cs typeface="Arial" panose="020B0604020202020204" pitchFamily="34" charset="0"/>
              </a:rPr>
              <a:t>Tiempo ideal entre diagnóstico, angioplastia coronaria o </a:t>
            </a:r>
            <a:r>
              <a:rPr lang="es-VE" altLang="es-VE" sz="1800" b="1" dirty="0" err="1" smtClean="0">
                <a:ea typeface="Calibri" panose="020F0502020204030204" pitchFamily="34" charset="0"/>
                <a:cs typeface="Arial" panose="020B0604020202020204" pitchFamily="34" charset="0"/>
              </a:rPr>
              <a:t>fibrinolísis</a:t>
            </a:r>
            <a:r>
              <a:rPr lang="es-VE" altLang="es-VE" sz="1800" b="1" dirty="0" smtClean="0">
                <a:ea typeface="Calibri" panose="020F0502020204030204" pitchFamily="34" charset="0"/>
                <a:cs typeface="Arial" panose="020B0604020202020204" pitchFamily="34" charset="0"/>
              </a:rPr>
              <a:t>, en paciente con IMEST </a:t>
            </a:r>
            <a:r>
              <a:rPr lang="es-VE" altLang="es-VE" sz="1800" dirty="0" smtClean="0">
                <a:cs typeface="Arial" panose="020B0604020202020204" pitchFamily="34" charset="0"/>
              </a:rPr>
              <a:t/>
            </a:r>
            <a:br>
              <a:rPr lang="es-VE" altLang="es-VE" sz="1800" dirty="0" smtClean="0">
                <a:cs typeface="Arial" panose="020B0604020202020204" pitchFamily="34" charset="0"/>
              </a:rPr>
            </a:br>
            <a:r>
              <a:rPr lang="es-VE" altLang="es-VE" sz="1800" b="1" dirty="0" smtClean="0"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es-VE" altLang="es-VE" sz="1600" b="1" dirty="0" smtClean="0">
                <a:ea typeface="Calibri" panose="020F0502020204030204" pitchFamily="34" charset="0"/>
                <a:cs typeface="Arial" panose="020B0604020202020204" pitchFamily="34" charset="0"/>
              </a:rPr>
              <a:t>Guías Canadienses de diagnóstico y tratamiento del IMEST</a:t>
            </a:r>
            <a:r>
              <a:rPr lang="es-VE" altLang="es-VE" sz="1800" b="1" dirty="0" smtClean="0"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lang="es-VE" altLang="es-VE" sz="1800" b="1" baseline="30000" dirty="0" smtClean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/>
              <a:t>Can J </a:t>
            </a:r>
            <a:r>
              <a:rPr lang="en-US" sz="1400" dirty="0" err="1" smtClean="0"/>
              <a:t>Cardiol</a:t>
            </a:r>
            <a:r>
              <a:rPr lang="en-US" sz="1400" dirty="0" smtClean="0"/>
              <a:t>. 2019; 35: 107e132</a:t>
            </a:r>
            <a:r>
              <a:rPr lang="es-VE" altLang="es-VE" sz="1800" dirty="0" smtClean="0">
                <a:cs typeface="Arial" panose="020B0604020202020204" pitchFamily="34" charset="0"/>
              </a:rPr>
              <a:t/>
            </a:r>
            <a:br>
              <a:rPr lang="es-VE" altLang="es-VE" sz="1800" dirty="0" smtClean="0">
                <a:cs typeface="Arial" panose="020B0604020202020204" pitchFamily="34" charset="0"/>
              </a:rPr>
            </a:br>
            <a:endParaRPr lang="es-VE" altLang="es-VE" sz="1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errar llave 13"/>
          <p:cNvSpPr/>
          <p:nvPr/>
        </p:nvSpPr>
        <p:spPr>
          <a:xfrm>
            <a:off x="7380288" y="5445125"/>
            <a:ext cx="215900" cy="6937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  <p:sp>
        <p:nvSpPr>
          <p:cNvPr id="2" name="Flecha derecha 1"/>
          <p:cNvSpPr/>
          <p:nvPr/>
        </p:nvSpPr>
        <p:spPr>
          <a:xfrm>
            <a:off x="785813" y="4437063"/>
            <a:ext cx="906462" cy="4841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  <p:sp>
        <p:nvSpPr>
          <p:cNvPr id="3" name="Flecha derecha 2"/>
          <p:cNvSpPr/>
          <p:nvPr/>
        </p:nvSpPr>
        <p:spPr>
          <a:xfrm>
            <a:off x="719138" y="5549900"/>
            <a:ext cx="977900" cy="484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V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1 Título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s-MX" altLang="es-VE" sz="2400" b="1" smtClean="0"/>
              <a:t>Fibrinolíticos.  Efectos adversos</a:t>
            </a:r>
            <a:endParaRPr lang="es-VE" altLang="es-VE" sz="2400" b="1" smtClean="0"/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marL="457200" indent="-457200">
              <a:buFont typeface="Arial" charset="0"/>
              <a:buAutoNum type="arabicPeriod"/>
              <a:defRPr/>
            </a:pPr>
            <a:r>
              <a:rPr lang="es-MX" sz="2400" b="1" dirty="0" err="1">
                <a:solidFill>
                  <a:srgbClr val="FF0000"/>
                </a:solidFill>
              </a:rPr>
              <a:t>Itcus</a:t>
            </a:r>
            <a:r>
              <a:rPr lang="es-MX" sz="2400" b="1" dirty="0">
                <a:solidFill>
                  <a:srgbClr val="FF0000"/>
                </a:solidFill>
              </a:rPr>
              <a:t> hemorrágico (ACV)  0,5 a 1 %.  Más frecuente a mayor edad, bajo peso, sexo femenino, ACV anterior, hipertensión arterial.</a:t>
            </a: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es-MX" sz="2400" b="1" dirty="0">
                <a:solidFill>
                  <a:srgbClr val="FF0000"/>
                </a:solidFill>
              </a:rPr>
              <a:t>Hemorragia </a:t>
            </a:r>
            <a:r>
              <a:rPr lang="es-MX" sz="2400" b="1" dirty="0" err="1">
                <a:solidFill>
                  <a:srgbClr val="FF0000"/>
                </a:solidFill>
              </a:rPr>
              <a:t>extracerebral</a:t>
            </a:r>
            <a:r>
              <a:rPr lang="es-MX" sz="2400" b="1" dirty="0">
                <a:solidFill>
                  <a:srgbClr val="FF0000"/>
                </a:solidFill>
              </a:rPr>
              <a:t> 4 a 13 %.</a:t>
            </a:r>
          </a:p>
          <a:p>
            <a:pPr marL="457200" indent="-457200">
              <a:buFont typeface="Arial" charset="0"/>
              <a:buAutoNum type="arabicPeriod"/>
              <a:defRPr/>
            </a:pPr>
            <a:endParaRPr lang="es-MX" sz="2400" b="1" dirty="0">
              <a:solidFill>
                <a:srgbClr val="FF0000"/>
              </a:solidFill>
            </a:endParaRP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es-MX" sz="2400" b="1" dirty="0">
                <a:solidFill>
                  <a:srgbClr val="FF0000"/>
                </a:solidFill>
              </a:rPr>
              <a:t>Arritmias de </a:t>
            </a:r>
            <a:r>
              <a:rPr lang="es-MX" sz="2400" b="1" dirty="0" err="1" smtClean="0">
                <a:solidFill>
                  <a:srgbClr val="FF0000"/>
                </a:solidFill>
              </a:rPr>
              <a:t>reperfusión</a:t>
            </a:r>
            <a:r>
              <a:rPr lang="es-MX" sz="2400" b="1" dirty="0" smtClean="0">
                <a:solidFill>
                  <a:srgbClr val="FF0000"/>
                </a:solidFill>
              </a:rPr>
              <a:t>. Ritmo </a:t>
            </a:r>
            <a:r>
              <a:rPr lang="es-MX" sz="2400" b="1" dirty="0" err="1" smtClean="0">
                <a:solidFill>
                  <a:srgbClr val="FF0000"/>
                </a:solidFill>
              </a:rPr>
              <a:t>idioventricular</a:t>
            </a:r>
            <a:r>
              <a:rPr lang="es-MX" sz="2400" b="1" dirty="0" smtClean="0">
                <a:solidFill>
                  <a:srgbClr val="FF0000"/>
                </a:solidFill>
              </a:rPr>
              <a:t> </a:t>
            </a:r>
            <a:r>
              <a:rPr lang="es-MX" sz="2400" dirty="0" smtClean="0">
                <a:solidFill>
                  <a:srgbClr val="FF0000"/>
                </a:solidFill>
              </a:rPr>
              <a:t>(origen ventricular, ECG sin P, FC &lt;40/min, QRS prolongado)</a:t>
            </a:r>
            <a:endParaRPr lang="es-MX" sz="2400" dirty="0">
              <a:solidFill>
                <a:srgbClr val="FF0000"/>
              </a:solidFill>
            </a:endParaRPr>
          </a:p>
          <a:p>
            <a:pPr marL="457200" indent="-457200">
              <a:buFont typeface="Arial" charset="0"/>
              <a:buAutoNum type="arabicPeriod"/>
              <a:defRPr/>
            </a:pPr>
            <a:endParaRPr lang="es-MX" sz="2400" b="1" dirty="0">
              <a:solidFill>
                <a:srgbClr val="FF0000"/>
              </a:solidFill>
            </a:endParaRPr>
          </a:p>
          <a:p>
            <a:pPr marL="457200" indent="-457200">
              <a:buFont typeface="Arial" charset="0"/>
              <a:buAutoNum type="arabicPeriod"/>
              <a:defRPr/>
            </a:pPr>
            <a:r>
              <a:rPr lang="es-MX" sz="2400" b="1" dirty="0" err="1">
                <a:solidFill>
                  <a:srgbClr val="FF0000"/>
                </a:solidFill>
              </a:rPr>
              <a:t>Streptokinasa</a:t>
            </a:r>
            <a:r>
              <a:rPr lang="es-MX" sz="2400" b="1" dirty="0">
                <a:solidFill>
                  <a:srgbClr val="FF0000"/>
                </a:solidFill>
              </a:rPr>
              <a:t>: hipotensión, reacciones alérgicas  (si hay segunda exposición) 20 % </a:t>
            </a:r>
            <a:endParaRPr lang="es-VE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1 Título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MX" altLang="es-VE" sz="2800" dirty="0" smtClean="0">
                <a:solidFill>
                  <a:srgbClr val="FF0000"/>
                </a:solidFill>
              </a:rPr>
              <a:t>Contraindicaciones absolutas de </a:t>
            </a:r>
            <a:r>
              <a:rPr lang="es-MX" altLang="es-VE" sz="2800" dirty="0" err="1" smtClean="0">
                <a:solidFill>
                  <a:srgbClr val="FF0000"/>
                </a:solidFill>
              </a:rPr>
              <a:t>fibrinolíticos</a:t>
            </a:r>
            <a:endParaRPr lang="es-VE" altLang="es-VE" sz="2800" dirty="0" smtClean="0">
              <a:solidFill>
                <a:srgbClr val="FF0000"/>
              </a:solidFill>
            </a:endParaRPr>
          </a:p>
        </p:txBody>
      </p:sp>
      <p:sp>
        <p:nvSpPr>
          <p:cNvPr id="3" name="2 Marcador de contenido">
            <a:extLst/>
          </p:cNvPr>
          <p:cNvSpPr>
            <a:spLocks noGrp="1"/>
          </p:cNvSpPr>
          <p:nvPr>
            <p:ph idx="1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s-MX" sz="2800" b="1" dirty="0"/>
              <a:t>I</a:t>
            </a:r>
            <a:r>
              <a:rPr lang="es-MX" sz="2800" b="1" dirty="0">
                <a:solidFill>
                  <a:srgbClr val="FF0000"/>
                </a:solidFill>
              </a:rPr>
              <a:t>ctus</a:t>
            </a:r>
            <a:r>
              <a:rPr lang="es-MX" sz="2400" dirty="0">
                <a:solidFill>
                  <a:srgbClr val="FF0000"/>
                </a:solidFill>
              </a:rPr>
              <a:t>  hemorrágico anterior</a:t>
            </a:r>
          </a:p>
          <a:p>
            <a:pPr>
              <a:buFont typeface="Arial" charset="0"/>
              <a:buChar char="•"/>
              <a:defRPr/>
            </a:pPr>
            <a:r>
              <a:rPr lang="es-MX" sz="2400" dirty="0">
                <a:solidFill>
                  <a:srgbClr val="FF0000"/>
                </a:solidFill>
              </a:rPr>
              <a:t>Ictus isquémico menos de 6 meses</a:t>
            </a:r>
          </a:p>
          <a:p>
            <a:pPr>
              <a:buFont typeface="Arial" charset="0"/>
              <a:buChar char="•"/>
              <a:defRPr/>
            </a:pPr>
            <a:r>
              <a:rPr lang="es-MX" sz="2800" b="1" dirty="0">
                <a:solidFill>
                  <a:srgbClr val="FF0000"/>
                </a:solidFill>
              </a:rPr>
              <a:t>Trauma</a:t>
            </a:r>
            <a:r>
              <a:rPr lang="es-MX" sz="2400" dirty="0">
                <a:solidFill>
                  <a:srgbClr val="FF0000"/>
                </a:solidFill>
              </a:rPr>
              <a:t> craneal o tumor SNC</a:t>
            </a:r>
          </a:p>
          <a:p>
            <a:pPr>
              <a:buFont typeface="Arial" charset="0"/>
              <a:buChar char="•"/>
              <a:defRPr/>
            </a:pPr>
            <a:r>
              <a:rPr lang="es-MX" sz="2400" dirty="0">
                <a:solidFill>
                  <a:srgbClr val="FF0000"/>
                </a:solidFill>
              </a:rPr>
              <a:t>Trauma corporal o cirugía menos 3 semanas</a:t>
            </a:r>
          </a:p>
          <a:p>
            <a:pPr>
              <a:buFont typeface="Arial" charset="0"/>
              <a:buChar char="•"/>
              <a:defRPr/>
            </a:pPr>
            <a:r>
              <a:rPr lang="es-MX" sz="2800" b="1" dirty="0">
                <a:solidFill>
                  <a:srgbClr val="FF0000"/>
                </a:solidFill>
              </a:rPr>
              <a:t>Hemorragia GI </a:t>
            </a:r>
            <a:r>
              <a:rPr lang="es-MX" sz="2400" dirty="0">
                <a:solidFill>
                  <a:srgbClr val="FF0000"/>
                </a:solidFill>
              </a:rPr>
              <a:t>menos de un mes</a:t>
            </a:r>
          </a:p>
          <a:p>
            <a:pPr>
              <a:buFont typeface="Arial" charset="0"/>
              <a:buChar char="•"/>
              <a:defRPr/>
            </a:pPr>
            <a:r>
              <a:rPr lang="es-MX" sz="2800" b="1" dirty="0" err="1" smtClean="0">
                <a:solidFill>
                  <a:srgbClr val="FF0000"/>
                </a:solidFill>
              </a:rPr>
              <a:t>Coagulopatía</a:t>
            </a:r>
            <a:r>
              <a:rPr lang="es-MX" sz="2400" dirty="0" smtClean="0">
                <a:solidFill>
                  <a:srgbClr val="FF0000"/>
                </a:solidFill>
              </a:rPr>
              <a:t> </a:t>
            </a:r>
            <a:r>
              <a:rPr lang="es-MX" sz="2400" dirty="0">
                <a:solidFill>
                  <a:srgbClr val="FF0000"/>
                </a:solidFill>
              </a:rPr>
              <a:t>conocida</a:t>
            </a:r>
          </a:p>
          <a:p>
            <a:pPr>
              <a:buFont typeface="Arial" charset="0"/>
              <a:buChar char="•"/>
              <a:defRPr/>
            </a:pPr>
            <a:r>
              <a:rPr lang="es-MX" sz="2800" b="1" dirty="0">
                <a:solidFill>
                  <a:srgbClr val="FF0000"/>
                </a:solidFill>
              </a:rPr>
              <a:t>Aneurisma </a:t>
            </a:r>
            <a:r>
              <a:rPr lang="es-MX" sz="2800" b="1" dirty="0" err="1">
                <a:solidFill>
                  <a:srgbClr val="FF0000"/>
                </a:solidFill>
              </a:rPr>
              <a:t>disecante</a:t>
            </a:r>
            <a:r>
              <a:rPr lang="es-MX" sz="2800" b="1" dirty="0">
                <a:solidFill>
                  <a:srgbClr val="FF0000"/>
                </a:solidFill>
              </a:rPr>
              <a:t> </a:t>
            </a:r>
            <a:r>
              <a:rPr lang="es-MX" sz="2800" b="1" dirty="0" smtClean="0">
                <a:solidFill>
                  <a:srgbClr val="FF0000"/>
                </a:solidFill>
              </a:rPr>
              <a:t>de aorta</a:t>
            </a:r>
            <a:endParaRPr lang="es-MX" sz="2800" b="1" dirty="0">
              <a:solidFill>
                <a:srgbClr val="FF0000"/>
              </a:solidFill>
            </a:endParaRPr>
          </a:p>
          <a:p>
            <a:pPr>
              <a:buFont typeface="Arial" charset="0"/>
              <a:buChar char="•"/>
              <a:defRPr/>
            </a:pPr>
            <a:r>
              <a:rPr lang="es-MX" sz="2400" dirty="0">
                <a:solidFill>
                  <a:srgbClr val="FF0000"/>
                </a:solidFill>
              </a:rPr>
              <a:t>Punción lumbar o hepática reciente </a:t>
            </a:r>
          </a:p>
          <a:p>
            <a:pPr>
              <a:buFont typeface="Arial" charset="0"/>
              <a:buChar char="•"/>
              <a:defRPr/>
            </a:pPr>
            <a:endParaRPr lang="es-MX" sz="24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s-MX" sz="1400" dirty="0" smtClean="0"/>
              <a:t> </a:t>
            </a:r>
            <a:r>
              <a:rPr lang="es-MX" sz="1400" dirty="0" err="1"/>
              <a:t>Rev</a:t>
            </a:r>
            <a:r>
              <a:rPr lang="es-MX" sz="1400" dirty="0"/>
              <a:t> </a:t>
            </a:r>
            <a:r>
              <a:rPr lang="es-MX" sz="1400" dirty="0" err="1"/>
              <a:t>Esp</a:t>
            </a:r>
            <a:r>
              <a:rPr lang="es-MX" sz="1400" dirty="0"/>
              <a:t> </a:t>
            </a:r>
            <a:r>
              <a:rPr lang="es-MX" sz="1400" dirty="0" err="1"/>
              <a:t>Cardiol</a:t>
            </a:r>
            <a:r>
              <a:rPr lang="es-MX" sz="1400" dirty="0"/>
              <a:t> Supl.2010; 10: 23D-28-D</a:t>
            </a:r>
            <a:endParaRPr lang="es-VE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/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04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s-VE" sz="2400" dirty="0" smtClean="0"/>
              <a:t/>
            </a:r>
            <a:br>
              <a:rPr lang="es-VE" sz="2400" dirty="0" smtClean="0"/>
            </a:br>
            <a:r>
              <a:rPr lang="es-VE" sz="2400" dirty="0" smtClean="0"/>
              <a:t>FIBRINOLITICOS EN ICTUS ISQUÉMICO</a:t>
            </a:r>
            <a:br>
              <a:rPr lang="es-VE" sz="2400" dirty="0" smtClean="0"/>
            </a:br>
            <a:r>
              <a:rPr lang="es-VE" sz="2400" dirty="0" smtClean="0"/>
              <a:t>No </a:t>
            </a:r>
            <a:r>
              <a:rPr lang="es-VE" sz="2400" dirty="0"/>
              <a:t>administrar anticoagulantes ni </a:t>
            </a:r>
            <a:r>
              <a:rPr lang="es-VE" sz="2400" dirty="0" err="1"/>
              <a:t>fibrinolíticos</a:t>
            </a:r>
            <a:r>
              <a:rPr lang="es-VE" sz="2400" dirty="0"/>
              <a:t> en ictus sin antes tener imagen cerebral TC </a:t>
            </a:r>
            <a:r>
              <a:rPr lang="es-VE" sz="2400" dirty="0" smtClean="0"/>
              <a:t>que </a:t>
            </a:r>
            <a:r>
              <a:rPr lang="es-VE" sz="2400" dirty="0"/>
              <a:t>descarte presencia de hemorragia </a:t>
            </a:r>
          </a:p>
        </p:txBody>
      </p:sp>
      <p:pic>
        <p:nvPicPr>
          <p:cNvPr id="727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19450" y="2462213"/>
            <a:ext cx="2705100" cy="280035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2 Marcador de contenido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endParaRPr lang="es-VE" altLang="es-VE" smtClean="0"/>
          </a:p>
          <a:p>
            <a:pPr>
              <a:buFont typeface="Arial" panose="020B0604020202020204" pitchFamily="34" charset="0"/>
              <a:buNone/>
            </a:pPr>
            <a:endParaRPr lang="es-VE" altLang="es-VE" smtClean="0">
              <a:latin typeface="Kunstler Script" panose="030304020206070D0D06" pitchFamily="66" charset="0"/>
            </a:endParaRPr>
          </a:p>
          <a:p>
            <a:pPr>
              <a:buFont typeface="Arial" panose="020B0604020202020204" pitchFamily="34" charset="0"/>
              <a:buNone/>
            </a:pPr>
            <a:endParaRPr lang="es-VE" altLang="es-VE" smtClean="0">
              <a:latin typeface="Kunstler Script" panose="030304020206070D0D06" pitchFamily="66" charset="0"/>
            </a:endParaRPr>
          </a:p>
          <a:p>
            <a:pPr>
              <a:buFont typeface="Arial" panose="020B0604020202020204" pitchFamily="34" charset="0"/>
              <a:buNone/>
            </a:pPr>
            <a:endParaRPr lang="es-VE" altLang="es-VE" smtClean="0">
              <a:latin typeface="Kunstler Script" panose="030304020206070D0D06" pitchFamily="66" charset="0"/>
            </a:endParaRPr>
          </a:p>
          <a:p>
            <a:pPr>
              <a:buFont typeface="Arial" panose="020B0604020202020204" pitchFamily="34" charset="0"/>
              <a:buNone/>
            </a:pPr>
            <a:endParaRPr lang="es-VE" altLang="es-VE" smtClean="0">
              <a:latin typeface="Kunstler Script" panose="030304020206070D0D06" pitchFamily="66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s-VE" altLang="es-VE" smtClean="0">
                <a:latin typeface="Kunstler Script" panose="030304020206070D0D06" pitchFamily="66" charset="0"/>
              </a:rPr>
              <a:t>                                    </a:t>
            </a:r>
            <a:r>
              <a:rPr lang="es-VE" altLang="es-VE" sz="4000" b="1" smtClean="0">
                <a:latin typeface="Kunstler Script" panose="030304020206070D0D06" pitchFamily="66" charset="0"/>
              </a:rPr>
              <a:t>Muchas Gracias por vuestra atención</a:t>
            </a:r>
            <a:endParaRPr lang="es-VE" altLang="es-VE" sz="40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6279</TotalTime>
  <Words>3606</Words>
  <Application>Microsoft Office PowerPoint</Application>
  <PresentationFormat>On-screen Show (4:3)</PresentationFormat>
  <Paragraphs>527</Paragraphs>
  <Slides>67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Times New Roman</vt:lpstr>
      <vt:lpstr>Kunstler Script</vt:lpstr>
      <vt:lpstr>Tema de Office</vt:lpstr>
      <vt:lpstr>    LA MEDICACIÓN ANTITROMBÓTICA   Antiagregantes plaquetarios, Heparinas, Anticoagulantes orales.    Fibrinolíticos   Eduardo Romero Vecchione Lab. Estudios Cardiovasculares. Cátedra de Farmacología.  Esc. Medicina JM Vargas. UCV </vt:lpstr>
      <vt:lpstr>ANTITROMBÓTICOS </vt:lpstr>
      <vt:lpstr>PowerPoint Presentation</vt:lpstr>
      <vt:lpstr> Indicaciones en SCA </vt:lpstr>
      <vt:lpstr>Embolismo pulmonar </vt:lpstr>
      <vt:lpstr>3. ICTUS. En fibrilación auricular, prevenir embolismo cerebral  desde aurícula izquierda (90% orejuela)</vt:lpstr>
      <vt:lpstr>4. Prevención EMBOLISMO PULMONAR posoperatorio en cirugía traumatológica (rodilla, cadera)  En cirugía abdominal o pelviana </vt:lpstr>
      <vt:lpstr>5. TROMBOSIS VENOSA PROFUNDA (Etiología: trauma de MIs, infección, reposo prolongado, cáncer viajes largos, varices) </vt:lpstr>
      <vt:lpstr>HEPARINAS</vt:lpstr>
      <vt:lpstr>HEPARINA NO FRACCIONADA (HEPARINA)</vt:lpstr>
      <vt:lpstr>HEPARINA NO FRACCIONADA. Mecanismo de acción </vt:lpstr>
      <vt:lpstr>HEPARINA NO FRACCIONADA </vt:lpstr>
      <vt:lpstr>HEPARINAS DE BAJO PM   </vt:lpstr>
      <vt:lpstr>Mecanismo acción heparinas bajo peso molecular enoxaparina (Clexane), deltaparina (Fragmin) Walker CPR. Br J Anaesthe. 2002; 88: 848- 863</vt:lpstr>
      <vt:lpstr>HEPARINAS USO CLINICO</vt:lpstr>
      <vt:lpstr>HEPARINAS DE BAJO PM </vt:lpstr>
      <vt:lpstr>HEPARINAS DE BAJO PESO MOLECULAR </vt:lpstr>
      <vt:lpstr>PowerPoint Presentation</vt:lpstr>
      <vt:lpstr>Dosis de Heparinas en preangioplastia STEMI Guías Europeas 2017</vt:lpstr>
      <vt:lpstr>INDICACIONES DE HEPARINAS SINTETICAS (BAJO PM)</vt:lpstr>
      <vt:lpstr>Heparina. Reversión del efecto </vt:lpstr>
      <vt:lpstr> Inhibidores directos o indirectos de la trombina  Fueron llamados NAO, Nuevos anticoagulantes orales    (pero ya no son nuevos)  (NOAC en Ingles)</vt:lpstr>
      <vt:lpstr>INHIBIDORES DEL ACTIVADOR DE LA TROMBINA Factor Xa y de LA TROMBINA</vt:lpstr>
      <vt:lpstr>INHIBIDORES DE LA TROMBINA  (Factor II)</vt:lpstr>
      <vt:lpstr>Dabigatran Vs. Warfarina en FA + riesgo alto Ictus o embolismo sistémico. RELY (n= 18.113)</vt:lpstr>
      <vt:lpstr>Apixaban (5 mg BID) Vs aspirina (81-324 mg/día) en FA + alto riesgo ictus.  Estudio ABERROES, 1,1 año</vt:lpstr>
      <vt:lpstr>Recomendaciones de la SEC 2016 TERAPIA DUAL EN SCA + FA</vt:lpstr>
      <vt:lpstr>EN CASO DE HEMORRAGIA CON INHIBIDORES DE  FACTOR  Xa      administrar andexanet (rivaroxaban, apixaban, edoxaban)</vt:lpstr>
      <vt:lpstr>Idarucizumab : antidoto del dabigatran</vt:lpstr>
      <vt:lpstr>TERAPIA CON ANTICOAGULANTES LUEGO DE TROMBOSIS VENOSA PROFUNDA (TVP)</vt:lpstr>
      <vt:lpstr>ANTIAGREGANTES PLAQUETARIOS</vt:lpstr>
      <vt:lpstr>ANTIAGREGANTES PLAQUETARIOS 4 grupos  </vt:lpstr>
      <vt:lpstr>PLAQUETAS. ACTIVACIÓN, ADHESIÓN AGREGACIÓN, SECRECIÓN (TxA2, 5HT)</vt:lpstr>
      <vt:lpstr>ANTIAGREGANTES PLAQUETARIOS Mecanismo de acción </vt:lpstr>
      <vt:lpstr>Tratamiento antitrombótico doble. Luego de:  SCA (IMST, IMNST, Angina inestable), FA, ANGIOPLASTIA CORONARIA PERCUTÁNEA </vt:lpstr>
      <vt:lpstr>Tratamiento antitrombótico doble Luego de:  SCA (IMST, IMNST, Angina inestable), FA, ANGIOPLASTIA PERCUTANEA </vt:lpstr>
      <vt:lpstr>PowerPoint Presentation</vt:lpstr>
      <vt:lpstr>ANTIAGREGANTES PLAQUETARIOS</vt:lpstr>
      <vt:lpstr>ASPIRINA, ACIDO ACETILSALICILICO </vt:lpstr>
      <vt:lpstr>ASPIRINA EN PACIENTES DIABÉTICOS</vt:lpstr>
      <vt:lpstr>ANTIAGREGANTES PLAQUETARIOS…</vt:lpstr>
      <vt:lpstr>PRASUGREL</vt:lpstr>
      <vt:lpstr> TICAGRELOR BLOQUEANTE RECEPTOR P2 Y12 PLAQUETARIO  </vt:lpstr>
      <vt:lpstr>Inhibidores de la   GLICOPROTEINA IIb/IIIa PLAQUETARIA.  El  PUENTE DE UNIÓN  plaqueta-fibrinogeno-plaqueta.  USO I.V. </vt:lpstr>
      <vt:lpstr>LA GLICOPROTEINA IIb/IIIa PLAQUETARIA. PUENTE DE UNIÓN  PLAQUETA-FIBRINOGENO-PLAQUETA. Bloqueantes: tirofiban, abciximab, ebtifabitida </vt:lpstr>
      <vt:lpstr>INHIBIDORES DE LA GLICOPROTEINA IIb/IIIa tirofiban, abciximab, ebtifabitida</vt:lpstr>
      <vt:lpstr>INHIBIDORES DE LA GLICOPROTEINA IIb/IIIa ABCIXIMAB </vt:lpstr>
      <vt:lpstr>INHIBIDORES DE LA GLICOPROTEINA (Receptor) IIb/IIIa</vt:lpstr>
      <vt:lpstr>  INHIBIDORES DE LA GLICOPROTEINA (Receptor) IIb/IIIa TIROFIBAN (Agrastat)  </vt:lpstr>
      <vt:lpstr>ANTAGONISTAS DE LA VITAMINA K  Uso clínico en descenso </vt:lpstr>
      <vt:lpstr>Warfarina MECANÍSMO DE ACCIÓN </vt:lpstr>
      <vt:lpstr>VIDA MEDIA DE LOS FACTORES DE COAGULACIÓN LA WARFARINA </vt:lpstr>
      <vt:lpstr>WARFARINA.  FARMACOCINÉTICA </vt:lpstr>
      <vt:lpstr>INTERACCIONES DE LA WARFARINA </vt:lpstr>
      <vt:lpstr>FIBRINOLITICOS</vt:lpstr>
      <vt:lpstr>Descubrimiento de la estreptoquinasa William Smith Tillet. Univ. Jhons Hopkins USA En 1933 observó que un cultivo de Streptococo aglutinaba el plasma. Un día abandonó los tubos y al día siguiente el coagulo estaba disuelto: algo en el Streptococo lo disolvió…la futura estreptoquinasa. Serendipia  En 1959, 26 años después, se logró disolver un coagulo intraarterial en conejos con esta enzima     </vt:lpstr>
      <vt:lpstr>FIBRINOLÍTICOS</vt:lpstr>
      <vt:lpstr>FIBRINOLÍTICOS Activadores  del plasminógeno </vt:lpstr>
      <vt:lpstr>Fibrinolíticos</vt:lpstr>
      <vt:lpstr>Fibrinolíticos</vt:lpstr>
      <vt:lpstr>Fibrinolisis. Guías Europeas STEMI. 2017 European Heart Journal. 2018; 39: 119–177</vt:lpstr>
      <vt:lpstr>A: ECG ingreso IAMST B: ECG LUEGO DE reperfusión exitosa por trombolisis (STK, tPA) rápida reducción dolor, mejora ST, ritmo idioventricular  Heart . 2000; 84: 164-170</vt:lpstr>
      <vt:lpstr>Tiempo ideal entre diagnóstico, angioplastia coronaria o fibrinolísis, en paciente con IMEST  (Guías Canadienses de diagnóstico y tratamiento del IMEST)  Can J Cardiol. 2019; 35: 107e132 </vt:lpstr>
      <vt:lpstr>Fibrinolíticos.  Efectos adversos</vt:lpstr>
      <vt:lpstr>Contraindicaciones absolutas de fibrinolíticos</vt:lpstr>
      <vt:lpstr> FIBRINOLITICOS EN ICTUS ISQUÉMICO No administrar anticoagulantes ni fibrinolíticos en ictus sin antes tener imagen cerebral TC que descarte presencia de hemorragia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HEPARINA O HEPARINA NO FRACCIONADA</dc:title>
  <dc:creator>eduardo</dc:creator>
  <cp:lastModifiedBy>Convertio</cp:lastModifiedBy>
  <cp:revision>548</cp:revision>
  <dcterms:created xsi:type="dcterms:W3CDTF">2010-06-06T16:41:16Z</dcterms:created>
  <dcterms:modified xsi:type="dcterms:W3CDTF">2026-08-12T14:31:39Z</dcterms:modified>
</cp:coreProperties>
</file>